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81514"/>
                </a:solidFill>
                <a:latin typeface="Fraunces"/>
              </a:rPr>
              <a:t>Enterprise pipeline, Q1</a:t>
            </a:r>
          </a:p>
        </p:txBody>
      </p:sp>
      <p:sp>
        <p:nvSpPr>
          <p:cNvPr id="3" name="Freeform 2"/>
          <p:cNvSpPr/>
          <p:nvPr/>
        </p:nvSpPr>
        <p:spPr>
          <a:xfrm>
            <a:off x="3219066" y="1255776"/>
            <a:ext cx="6197340" cy="571330"/>
          </a:xfrm>
          <a:custGeom>
            <a:avLst/>
            <a:gdLst/>
            <a:ahLst/>
            <a:cxnLst/>
            <a:rect l="l" t="t" r="r" b="b"/>
            <a:pathLst>
              <a:path w="6197340" h="571330">
                <a:moveTo>
                  <a:pt x="0" y="0"/>
                </a:moveTo>
                <a:lnTo>
                  <a:pt x="6197340" y="0"/>
                </a:lnTo>
                <a:lnTo>
                  <a:pt x="4723612" y="571330"/>
                </a:lnTo>
                <a:lnTo>
                  <a:pt x="1473728" y="571330"/>
                </a:lnTo>
                <a:close/>
              </a:path>
            </a:pathLst>
          </a:cu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557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Leads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46061" y="12557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10,000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5827" y="18271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42% ↓</a:t>
            </a:r>
          </a:p>
        </p:txBody>
      </p:sp>
      <p:sp>
        <p:nvSpPr>
          <p:cNvPr id="7" name="Freeform 6"/>
          <p:cNvSpPr/>
          <p:nvPr/>
        </p:nvSpPr>
        <p:spPr>
          <a:xfrm>
            <a:off x="4692794" y="2152226"/>
            <a:ext cx="3249884" cy="571330"/>
          </a:xfrm>
          <a:custGeom>
            <a:avLst/>
            <a:gdLst/>
            <a:ahLst/>
            <a:cxnLst/>
            <a:rect l="l" t="t" r="r" b="b"/>
            <a:pathLst>
              <a:path w="3249884" h="571330">
                <a:moveTo>
                  <a:pt x="0" y="0"/>
                </a:moveTo>
                <a:lnTo>
                  <a:pt x="3249884" y="0"/>
                </a:lnTo>
                <a:lnTo>
                  <a:pt x="2640066" y="571330"/>
                </a:lnTo>
                <a:lnTo>
                  <a:pt x="609818" y="571330"/>
                </a:lnTo>
                <a:close/>
              </a:path>
            </a:pathLst>
          </a:custGeom>
          <a:solidFill>
            <a:srgbClr val="863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522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Qualified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061" y="21522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4,200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5827" y="272355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43% ↓</a:t>
            </a:r>
          </a:p>
        </p:txBody>
      </p:sp>
      <p:sp>
        <p:nvSpPr>
          <p:cNvPr id="11" name="Freeform 10"/>
          <p:cNvSpPr/>
          <p:nvPr/>
        </p:nvSpPr>
        <p:spPr>
          <a:xfrm>
            <a:off x="5302612" y="3048676"/>
            <a:ext cx="2030248" cy="571330"/>
          </a:xfrm>
          <a:custGeom>
            <a:avLst/>
            <a:gdLst/>
            <a:ahLst/>
            <a:cxnLst/>
            <a:rect l="l" t="t" r="r" b="b"/>
            <a:pathLst>
              <a:path w="2030248" h="571330">
                <a:moveTo>
                  <a:pt x="0" y="0"/>
                </a:moveTo>
                <a:lnTo>
                  <a:pt x="2030248" y="0"/>
                </a:lnTo>
                <a:lnTo>
                  <a:pt x="1730420" y="571330"/>
                </a:lnTo>
                <a:lnTo>
                  <a:pt x="299828" y="571330"/>
                </a:lnTo>
                <a:close/>
              </a:path>
            </a:pathLst>
          </a:custGeom>
          <a:solidFill>
            <a:srgbClr val="804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486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Demo'd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061" y="30486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5827" y="36200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34% ↓</a:t>
            </a:r>
          </a:p>
        </p:txBody>
      </p:sp>
      <p:sp>
        <p:nvSpPr>
          <p:cNvPr id="15" name="Freeform 14"/>
          <p:cNvSpPr/>
          <p:nvPr/>
        </p:nvSpPr>
        <p:spPr>
          <a:xfrm>
            <a:off x="5602440" y="3945126"/>
            <a:ext cx="1430592" cy="571330"/>
          </a:xfrm>
          <a:custGeom>
            <a:avLst/>
            <a:gdLst/>
            <a:ahLst/>
            <a:cxnLst/>
            <a:rect l="l" t="t" r="r" b="b"/>
            <a:pathLst>
              <a:path w="1430592" h="571330">
                <a:moveTo>
                  <a:pt x="0" y="0"/>
                </a:moveTo>
                <a:lnTo>
                  <a:pt x="1430592" y="0"/>
                </a:lnTo>
                <a:lnTo>
                  <a:pt x="1351824" y="571330"/>
                </a:lnTo>
                <a:lnTo>
                  <a:pt x="78768" y="571330"/>
                </a:lnTo>
                <a:close/>
              </a:path>
            </a:pathLst>
          </a:custGeom>
          <a:solidFill>
            <a:srgbClr val="7B5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451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061" y="39451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620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5827" y="451645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50% ↓</a:t>
            </a:r>
          </a:p>
        </p:txBody>
      </p:sp>
      <p:sp>
        <p:nvSpPr>
          <p:cNvPr id="19" name="Freeform 18"/>
          <p:cNvSpPr/>
          <p:nvPr/>
        </p:nvSpPr>
        <p:spPr>
          <a:xfrm>
            <a:off x="5681208" y="4841576"/>
            <a:ext cx="1273056" cy="571330"/>
          </a:xfrm>
          <a:custGeom>
            <a:avLst/>
            <a:gdLst/>
            <a:ahLst/>
            <a:cxnLst/>
            <a:rect l="l" t="t" r="r" b="b"/>
            <a:pathLst>
              <a:path w="1273056" h="571330">
                <a:moveTo>
                  <a:pt x="0" y="0"/>
                </a:moveTo>
                <a:lnTo>
                  <a:pt x="1273056" y="0"/>
                </a:lnTo>
                <a:lnTo>
                  <a:pt x="1240024" y="571330"/>
                </a:lnTo>
                <a:lnTo>
                  <a:pt x="33032" y="571330"/>
                </a:lnTo>
                <a:close/>
              </a:path>
            </a:pathLst>
          </a:custGeom>
          <a:solidFill>
            <a:srgbClr val="755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157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Negotiation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6061" y="484157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310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5827" y="5412906"/>
            <a:ext cx="6323818" cy="325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F675F"/>
                </a:solidFill>
                <a:latin typeface="IBM Plex Mono"/>
              </a:rPr>
              <a:t>58% ↓</a:t>
            </a:r>
          </a:p>
        </p:txBody>
      </p:sp>
      <p:sp>
        <p:nvSpPr>
          <p:cNvPr id="23" name="Freeform 22"/>
          <p:cNvSpPr/>
          <p:nvPr/>
        </p:nvSpPr>
        <p:spPr>
          <a:xfrm>
            <a:off x="5714240" y="5738026"/>
            <a:ext cx="1206992" cy="571330"/>
          </a:xfrm>
          <a:custGeom>
            <a:avLst/>
            <a:gdLst/>
            <a:ahLst/>
            <a:cxnLst/>
            <a:rect l="l" t="t" r="r" b="b"/>
            <a:pathLst>
              <a:path w="1206992" h="571330">
                <a:moveTo>
                  <a:pt x="0" y="0"/>
                </a:moveTo>
                <a:lnTo>
                  <a:pt x="1206992" y="0"/>
                </a:lnTo>
                <a:lnTo>
                  <a:pt x="882376" y="571330"/>
                </a:lnTo>
                <a:lnTo>
                  <a:pt x="324616" y="571330"/>
                </a:lnTo>
                <a:close/>
              </a:path>
            </a:pathLst>
          </a:custGeom>
          <a:solidFill>
            <a:srgbClr val="6F6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738026"/>
            <a:ext cx="2440771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600" b="0">
                <a:solidFill>
                  <a:srgbClr val="181514"/>
                </a:solidFill>
                <a:latin typeface="Newsreader"/>
              </a:rPr>
              <a:t>Closed-won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061" y="5738026"/>
            <a:ext cx="1996994" cy="5713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81514"/>
                </a:solidFill>
                <a:latin typeface="IBM Plex Mono"/>
              </a:rPr>
              <a:t>180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