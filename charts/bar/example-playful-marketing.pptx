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Q1 actual vs. plan, by segment</a:t>
            </a:r>
          </a:p>
        </p:txBody>
      </p:sp>
      <p:sp>
        <p:nvSpPr>
          <p:cNvPr id="4" name="Oval 3"/>
          <p:cNvSpPr/>
          <p:nvPr/>
        </p:nvSpPr>
        <p:spPr>
          <a:xfrm>
            <a:off x="9725101" y="1599819"/>
            <a:ext cx="171450" cy="17145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72751" y="1495044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Actual</a:t>
            </a:r>
          </a:p>
        </p:txBody>
      </p:sp>
      <p:sp>
        <p:nvSpPr>
          <p:cNvPr id="6" name="Oval 5"/>
          <p:cNvSpPr/>
          <p:nvPr/>
        </p:nvSpPr>
        <p:spPr>
          <a:xfrm>
            <a:off x="10830001" y="1599819"/>
            <a:ext cx="171450" cy="17145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77651" y="1495044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59155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083630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1654" y="5208089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4575703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1654" y="4700162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406777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1654" y="4192234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3559848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1654" y="3684307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3051920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1654" y="3176379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2543993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1654" y="2668452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203606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6E6A73"/>
                </a:solidFill>
                <a:latin typeface="Recursive Mono"/>
              </a:rPr>
              <a:t>14M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41654" y="2160524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41654" y="5716016"/>
            <a:ext cx="10241737" cy="0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1654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Enterprise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2532" y="2566866"/>
            <a:ext cx="753791" cy="3149150"/>
          </a:xfrm>
          <a:prstGeom prst="roundRect">
            <a:avLst>
              <a:gd name="adj" fmla="val 7581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2532" y="2317946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12.4M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87418" y="2922416"/>
            <a:ext cx="753791" cy="2793600"/>
          </a:xfrm>
          <a:prstGeom prst="roundRect">
            <a:avLst>
              <a:gd name="adj" fmla="val 7581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7418" y="2673496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2088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Mid-market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2966" y="3658910"/>
            <a:ext cx="753791" cy="2057106"/>
          </a:xfrm>
          <a:prstGeom prst="roundRect">
            <a:avLst>
              <a:gd name="adj" fmla="val 7581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2966" y="3409990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8.1M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47852" y="3557325"/>
            <a:ext cx="753791" cy="2158691"/>
          </a:xfrm>
          <a:prstGeom prst="roundRect">
            <a:avLst>
              <a:gd name="adj" fmla="val 7581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7852" y="3308405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8.5M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2522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SMB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3400" y="4623973"/>
            <a:ext cx="753791" cy="1092043"/>
          </a:xfrm>
          <a:prstGeom prst="roundRect">
            <a:avLst>
              <a:gd name="adj" fmla="val 7581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3400" y="4375053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4.3M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08286" y="4446198"/>
            <a:ext cx="753791" cy="1269818"/>
          </a:xfrm>
          <a:prstGeom prst="roundRect">
            <a:avLst>
              <a:gd name="adj" fmla="val 7581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8286" y="4197278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2956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B1B1F"/>
                </a:solidFill>
                <a:latin typeface="Plus Jakarta Sans"/>
              </a:rPr>
              <a:t>Startup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3834" y="5258882"/>
            <a:ext cx="753791" cy="457134"/>
          </a:xfrm>
          <a:prstGeom prst="roundRect">
            <a:avLst>
              <a:gd name="adj" fmla="val 12501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3834" y="5009962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1.8M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68720" y="5208089"/>
            <a:ext cx="753791" cy="507927"/>
          </a:xfrm>
          <a:prstGeom prst="roundRect">
            <a:avLst>
              <a:gd name="adj" fmla="val 11251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68720" y="4959169"/>
            <a:ext cx="753791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2M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