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507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694944"/>
            <a:ext cx="10801807" cy="662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Manrope"/>
              </a:rPr>
              <a:t>Revenue by segment,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591557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5029201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41654" y="5153660"/>
            <a:ext cx="10241737" cy="0"/>
          </a:xfrm>
          <a:prstGeom prst="line">
            <a:avLst/>
          </a:prstGeom>
          <a:ln w="4762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94944" y="4466845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41654" y="4591304"/>
            <a:ext cx="10241737" cy="0"/>
          </a:xfrm>
          <a:prstGeom prst="line">
            <a:avLst/>
          </a:prstGeom>
          <a:ln w="4762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94944" y="3904489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41654" y="4028948"/>
            <a:ext cx="10241737" cy="0"/>
          </a:xfrm>
          <a:prstGeom prst="line">
            <a:avLst/>
          </a:prstGeom>
          <a:ln w="4762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4944" y="3342133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41654" y="3466592"/>
            <a:ext cx="10241737" cy="0"/>
          </a:xfrm>
          <a:prstGeom prst="line">
            <a:avLst/>
          </a:prstGeom>
          <a:ln w="4762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4944" y="2779777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41654" y="2904236"/>
            <a:ext cx="10241737" cy="0"/>
          </a:xfrm>
          <a:prstGeom prst="line">
            <a:avLst/>
          </a:prstGeom>
          <a:ln w="4762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2217421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12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41654" y="2341880"/>
            <a:ext cx="10241737" cy="0"/>
          </a:xfrm>
          <a:prstGeom prst="line">
            <a:avLst/>
          </a:prstGeom>
          <a:ln w="4762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4944" y="1655065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9AA4B2"/>
                </a:solidFill>
                <a:latin typeface="JetBrains Mono"/>
              </a:rPr>
              <a:t>14M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41654" y="1779524"/>
            <a:ext cx="10241737" cy="0"/>
          </a:xfrm>
          <a:prstGeom prst="line">
            <a:avLst/>
          </a:prstGeom>
          <a:ln w="4762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41654" y="5716016"/>
            <a:ext cx="10241737" cy="0"/>
          </a:xfrm>
          <a:prstGeom prst="line">
            <a:avLst/>
          </a:prstGeom>
          <a:ln w="9524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41654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Manrope"/>
              </a:rPr>
              <a:t>Enterprise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02532" y="2229409"/>
            <a:ext cx="1638677" cy="3486607"/>
          </a:xfrm>
          <a:prstGeom prst="roundRect">
            <a:avLst>
              <a:gd name="adj" fmla="val 1743"/>
            </a:avLst>
          </a:pr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2532" y="1980489"/>
            <a:ext cx="1638677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JetBrains Mono"/>
              </a:rPr>
              <a:t>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088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Manrope"/>
              </a:rPr>
              <a:t>Mid-market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62966" y="3438475"/>
            <a:ext cx="1638677" cy="2277541"/>
          </a:xfrm>
          <a:prstGeom prst="roundRect">
            <a:avLst>
              <a:gd name="adj" fmla="val 1743"/>
            </a:avLst>
          </a:pr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2966" y="3189555"/>
            <a:ext cx="1638677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JetBrains Mono"/>
              </a:rPr>
              <a:t>8.1M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2522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Manrope"/>
              </a:rPr>
              <a:t>SMB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3400" y="4506951"/>
            <a:ext cx="1638677" cy="1209065"/>
          </a:xfrm>
          <a:prstGeom prst="roundRect">
            <a:avLst>
              <a:gd name="adj" fmla="val 2363"/>
            </a:avLst>
          </a:pr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3400" y="4258031"/>
            <a:ext cx="1638677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JetBrains Mono"/>
              </a:rPr>
              <a:t>4.3M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2956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Manrope"/>
              </a:rPr>
              <a:t>Startup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3834" y="5209896"/>
            <a:ext cx="1638677" cy="506120"/>
          </a:xfrm>
          <a:prstGeom prst="roundRect">
            <a:avLst>
              <a:gd name="adj" fmla="val 5645"/>
            </a:avLst>
          </a:pr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3834" y="4960976"/>
            <a:ext cx="1638677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JetBrains Mono"/>
              </a:rPr>
              <a:t>1.8M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