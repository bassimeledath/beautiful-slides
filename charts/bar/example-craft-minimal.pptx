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solidFill>
            <a:srgbClr val="FC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4944" y="694944"/>
            <a:ext cx="10801807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2201C"/>
                </a:solidFill>
                <a:latin typeface="Instrument Serif"/>
              </a:rPr>
              <a:t>Revenue by segment,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5665216"/>
            <a:ext cx="2514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7B776F"/>
                </a:solidFill>
                <a:latin typeface="Instrument Sans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5077098"/>
            <a:ext cx="2514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7B776F"/>
                </a:solidFill>
                <a:latin typeface="Instrument Sans"/>
              </a:rPr>
              <a:t>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92124" y="5183778"/>
            <a:ext cx="10321747" cy="0"/>
          </a:xfrm>
          <a:prstGeom prst="line">
            <a:avLst/>
          </a:prstGeom>
          <a:ln w="4762">
            <a:solidFill>
              <a:srgbClr val="7B77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94944" y="4488979"/>
            <a:ext cx="2514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7B776F"/>
                </a:solidFill>
                <a:latin typeface="Instrument Sans"/>
              </a:rPr>
              <a:t>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92124" y="4595659"/>
            <a:ext cx="10321747" cy="0"/>
          </a:xfrm>
          <a:prstGeom prst="line">
            <a:avLst/>
          </a:prstGeom>
          <a:ln w="4762">
            <a:solidFill>
              <a:srgbClr val="7B77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94944" y="3900860"/>
            <a:ext cx="2514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7B776F"/>
                </a:solidFill>
                <a:latin typeface="Instrument Sans"/>
              </a:rPr>
              <a:t>6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92124" y="4007540"/>
            <a:ext cx="10321747" cy="0"/>
          </a:xfrm>
          <a:prstGeom prst="line">
            <a:avLst/>
          </a:prstGeom>
          <a:ln w="4762">
            <a:solidFill>
              <a:srgbClr val="7B77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4944" y="3312741"/>
            <a:ext cx="2514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7B776F"/>
                </a:solidFill>
                <a:latin typeface="Instrument Sans"/>
              </a:rPr>
              <a:t>8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92124" y="3419421"/>
            <a:ext cx="10321747" cy="0"/>
          </a:xfrm>
          <a:prstGeom prst="line">
            <a:avLst/>
          </a:prstGeom>
          <a:ln w="4762">
            <a:solidFill>
              <a:srgbClr val="7B77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94944" y="2724622"/>
            <a:ext cx="2514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7B776F"/>
                </a:solidFill>
                <a:latin typeface="Instrument Sans"/>
              </a:rPr>
              <a:t>10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2124" y="2831302"/>
            <a:ext cx="10321747" cy="0"/>
          </a:xfrm>
          <a:prstGeom prst="line">
            <a:avLst/>
          </a:prstGeom>
          <a:ln w="4762">
            <a:solidFill>
              <a:srgbClr val="7B77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94944" y="2136503"/>
            <a:ext cx="2514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7B776F"/>
                </a:solidFill>
                <a:latin typeface="Instrument Sans"/>
              </a:rPr>
              <a:t>12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92124" y="2243183"/>
            <a:ext cx="10321747" cy="0"/>
          </a:xfrm>
          <a:prstGeom prst="line">
            <a:avLst/>
          </a:prstGeom>
          <a:ln w="4762">
            <a:solidFill>
              <a:srgbClr val="7B77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94944" y="1548384"/>
            <a:ext cx="2514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7B776F"/>
                </a:solidFill>
                <a:latin typeface="Instrument Sans"/>
              </a:rPr>
              <a:t>14M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92124" y="1655064"/>
            <a:ext cx="10321747" cy="0"/>
          </a:xfrm>
          <a:prstGeom prst="line">
            <a:avLst/>
          </a:prstGeom>
          <a:ln w="4762">
            <a:solidFill>
              <a:srgbClr val="7B77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92124" y="5771896"/>
            <a:ext cx="10321747" cy="0"/>
          </a:xfrm>
          <a:prstGeom prst="line">
            <a:avLst/>
          </a:prstGeom>
          <a:ln w="9524">
            <a:solidFill>
              <a:srgbClr val="7B77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92124" y="5843016"/>
            <a:ext cx="2580436" cy="28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2201C"/>
                </a:solidFill>
                <a:latin typeface="Instrument Sans"/>
              </a:rPr>
              <a:t>Enterprise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56602" y="2125560"/>
            <a:ext cx="1651479" cy="3646336"/>
          </a:xfrm>
          <a:prstGeom prst="roundRect">
            <a:avLst>
              <a:gd name="adj" fmla="val 576"/>
            </a:avLst>
          </a:prstGeom>
          <a:solidFill>
            <a:srgbClr val="7C8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56602" y="1912200"/>
            <a:ext cx="1651479" cy="1981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12.4M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72560" y="5843016"/>
            <a:ext cx="2580436" cy="28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2201C"/>
                </a:solidFill>
                <a:latin typeface="Instrument Sans"/>
              </a:rPr>
              <a:t>Mid-market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37039" y="3390015"/>
            <a:ext cx="1651479" cy="2381881"/>
          </a:xfrm>
          <a:prstGeom prst="roundRect">
            <a:avLst>
              <a:gd name="adj" fmla="val 576"/>
            </a:avLst>
          </a:prstGeom>
          <a:solidFill>
            <a:srgbClr val="7C8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37039" y="3176655"/>
            <a:ext cx="1651479" cy="1981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8.1M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2997" y="5843016"/>
            <a:ext cx="2580436" cy="28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2201C"/>
                </a:solidFill>
                <a:latin typeface="Instrument Sans"/>
              </a:rPr>
              <a:t>SMB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17476" y="4507441"/>
            <a:ext cx="1651479" cy="1264455"/>
          </a:xfrm>
          <a:prstGeom prst="roundRect">
            <a:avLst>
              <a:gd name="adj" fmla="val 753"/>
            </a:avLst>
          </a:prstGeom>
          <a:solidFill>
            <a:srgbClr val="7C8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7476" y="4294081"/>
            <a:ext cx="1651479" cy="1981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4.3M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3434" y="5843016"/>
            <a:ext cx="2580436" cy="28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2201C"/>
                </a:solidFill>
                <a:latin typeface="Instrument Sans"/>
              </a:rPr>
              <a:t>Startup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97912" y="5242590"/>
            <a:ext cx="1651479" cy="529306"/>
          </a:xfrm>
          <a:prstGeom prst="roundRect">
            <a:avLst>
              <a:gd name="adj" fmla="val 1799"/>
            </a:avLst>
          </a:prstGeom>
          <a:solidFill>
            <a:srgbClr val="7C85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97912" y="5029230"/>
            <a:ext cx="1651479" cy="1981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1.8M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