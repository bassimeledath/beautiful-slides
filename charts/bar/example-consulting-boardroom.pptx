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694944"/>
            <a:ext cx="1080180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01828"/>
                </a:solidFill>
                <a:latin typeface="Public Sans"/>
              </a:rPr>
              <a:t>Q1 actual vs. plan, by segment</a:t>
            </a:r>
          </a:p>
        </p:txBody>
      </p:sp>
      <p:sp>
        <p:nvSpPr>
          <p:cNvPr id="4" name="Oval 3"/>
          <p:cNvSpPr/>
          <p:nvPr/>
        </p:nvSpPr>
        <p:spPr>
          <a:xfrm>
            <a:off x="10197541" y="1381379"/>
            <a:ext cx="125730" cy="12573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79151" y="1304544"/>
            <a:ext cx="46101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Public Sans"/>
              </a:rPr>
              <a:t>Actual</a:t>
            </a:r>
          </a:p>
        </p:txBody>
      </p:sp>
      <p:sp>
        <p:nvSpPr>
          <p:cNvPr id="6" name="Oval 5"/>
          <p:cNvSpPr/>
          <p:nvPr/>
        </p:nvSpPr>
        <p:spPr>
          <a:xfrm>
            <a:off x="11007801" y="1381379"/>
            <a:ext cx="125730" cy="125730"/>
          </a:xfrm>
          <a:prstGeom prst="ellipse">
            <a:avLst/>
          </a:prstGeom>
          <a:solidFill>
            <a:srgbClr val="05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9411" y="1304544"/>
            <a:ext cx="30734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Public Sans"/>
              </a:rPr>
              <a:t>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5738876"/>
            <a:ext cx="20955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475467"/>
                </a:solidFill>
                <a:latin typeface="Public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5161643"/>
            <a:ext cx="20955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475467"/>
                </a:solidFill>
                <a:latin typeface="Public Sans"/>
              </a:rPr>
              <a:t>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42594" y="5250543"/>
            <a:ext cx="10401757" cy="0"/>
          </a:xfrm>
          <a:prstGeom prst="line">
            <a:avLst/>
          </a:prstGeom>
          <a:ln w="4762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4944" y="4584410"/>
            <a:ext cx="20955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475467"/>
                </a:solidFill>
                <a:latin typeface="Public Sans"/>
              </a:rPr>
              <a:t>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42594" y="4673310"/>
            <a:ext cx="10401757" cy="0"/>
          </a:xfrm>
          <a:prstGeom prst="line">
            <a:avLst/>
          </a:prstGeom>
          <a:ln w="4762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4944" y="4007177"/>
            <a:ext cx="20955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475467"/>
                </a:solidFill>
                <a:latin typeface="Public Sans"/>
              </a:rPr>
              <a:t>6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2594" y="4096077"/>
            <a:ext cx="10401757" cy="0"/>
          </a:xfrm>
          <a:prstGeom prst="line">
            <a:avLst/>
          </a:prstGeom>
          <a:ln w="4762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3429944"/>
            <a:ext cx="20955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475467"/>
                </a:solidFill>
                <a:latin typeface="Public Sans"/>
              </a:rPr>
              <a:t>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42594" y="3518844"/>
            <a:ext cx="10401757" cy="0"/>
          </a:xfrm>
          <a:prstGeom prst="line">
            <a:avLst/>
          </a:prstGeom>
          <a:ln w="4762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4944" y="2852711"/>
            <a:ext cx="20955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475467"/>
                </a:solidFill>
                <a:latin typeface="Public Sans"/>
              </a:rPr>
              <a:t>10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42594" y="2941611"/>
            <a:ext cx="10401757" cy="0"/>
          </a:xfrm>
          <a:prstGeom prst="line">
            <a:avLst/>
          </a:prstGeom>
          <a:ln w="4762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94944" y="2275478"/>
            <a:ext cx="20955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475467"/>
                </a:solidFill>
                <a:latin typeface="Public Sans"/>
              </a:rPr>
              <a:t>12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2594" y="2364378"/>
            <a:ext cx="10401757" cy="0"/>
          </a:xfrm>
          <a:prstGeom prst="line">
            <a:avLst/>
          </a:prstGeom>
          <a:ln w="4762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4944" y="1698244"/>
            <a:ext cx="20955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475467"/>
                </a:solidFill>
                <a:latin typeface="Public Sans"/>
              </a:rPr>
              <a:t>14M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2594" y="1787144"/>
            <a:ext cx="10401757" cy="0"/>
          </a:xfrm>
          <a:prstGeom prst="line">
            <a:avLst/>
          </a:prstGeom>
          <a:ln w="4762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42594" y="5827776"/>
            <a:ext cx="10401757" cy="0"/>
          </a:xfrm>
          <a:prstGeom prst="line">
            <a:avLst/>
          </a:prstGeom>
          <a:ln w="9524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42594" y="5888736"/>
            <a:ext cx="2600439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01828"/>
                </a:solidFill>
                <a:latin typeface="Public Sans"/>
              </a:rPr>
              <a:t>Enterprise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0673" y="2248931"/>
            <a:ext cx="765569" cy="3578845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0673" y="2071131"/>
            <a:ext cx="765569" cy="1651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12.4M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09384" y="2652994"/>
            <a:ext cx="765569" cy="3174782"/>
          </a:xfrm>
          <a:prstGeom prst="rect">
            <a:avLst/>
          </a:prstGeom>
          <a:solidFill>
            <a:srgbClr val="05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09384" y="2475194"/>
            <a:ext cx="765569" cy="1651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11M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43033" y="5888736"/>
            <a:ext cx="2600439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01828"/>
                </a:solidFill>
                <a:latin typeface="Public Sans"/>
              </a:rPr>
              <a:t>Mid-market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11112" y="3489982"/>
            <a:ext cx="765569" cy="2337794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11112" y="3312182"/>
            <a:ext cx="765569" cy="1651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8.1M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09824" y="3374536"/>
            <a:ext cx="765569" cy="2453240"/>
          </a:xfrm>
          <a:prstGeom prst="rect">
            <a:avLst/>
          </a:prstGeom>
          <a:solidFill>
            <a:srgbClr val="05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9824" y="3196736"/>
            <a:ext cx="765569" cy="1651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8.5M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3472" y="5888736"/>
            <a:ext cx="2600439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01828"/>
                </a:solidFill>
                <a:latin typeface="Public Sans"/>
              </a:rPr>
              <a:t>SMB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11551" y="4586725"/>
            <a:ext cx="765569" cy="1241051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11551" y="4408925"/>
            <a:ext cx="765569" cy="1651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4.3M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10263" y="4384694"/>
            <a:ext cx="765569" cy="1443082"/>
          </a:xfrm>
          <a:prstGeom prst="rect">
            <a:avLst/>
          </a:prstGeom>
          <a:solidFill>
            <a:srgbClr val="05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10263" y="4206894"/>
            <a:ext cx="765569" cy="1651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5M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43911" y="5888736"/>
            <a:ext cx="2600439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01828"/>
                </a:solidFill>
                <a:latin typeface="Public Sans"/>
              </a:rPr>
              <a:t>Startup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1990" y="5308267"/>
            <a:ext cx="765569" cy="519509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11990" y="5130467"/>
            <a:ext cx="765569" cy="1651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1.8M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10702" y="5250543"/>
            <a:ext cx="765569" cy="577233"/>
          </a:xfrm>
          <a:prstGeom prst="rect">
            <a:avLst/>
          </a:prstGeom>
          <a:solidFill>
            <a:srgbClr val="05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10702" y="5072743"/>
            <a:ext cx="765569" cy="1651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2M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