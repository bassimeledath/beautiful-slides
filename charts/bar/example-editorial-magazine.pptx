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694944"/>
            <a:ext cx="1080180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81514"/>
                </a:solidFill>
                <a:latin typeface="Fraunces"/>
              </a:rPr>
              <a:t>Revenue by segment,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5903976"/>
            <a:ext cx="6096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73785" y="5903976"/>
            <a:ext cx="6096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78585" y="1502664"/>
            <a:ext cx="0" cy="4355592"/>
          </a:xfrm>
          <a:prstGeom prst="line">
            <a:avLst/>
          </a:prstGeom>
          <a:ln w="4762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83946" y="5903976"/>
            <a:ext cx="6096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8746" y="1502664"/>
            <a:ext cx="0" cy="4355592"/>
          </a:xfrm>
          <a:prstGeom prst="line">
            <a:avLst/>
          </a:prstGeom>
          <a:ln w="4762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94107" y="5903976"/>
            <a:ext cx="6096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98907" y="1502664"/>
            <a:ext cx="0" cy="4355592"/>
          </a:xfrm>
          <a:prstGeom prst="line">
            <a:avLst/>
          </a:prstGeom>
          <a:ln w="4762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04268" y="5903976"/>
            <a:ext cx="6096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09068" y="1502664"/>
            <a:ext cx="0" cy="4355592"/>
          </a:xfrm>
          <a:prstGeom prst="line">
            <a:avLst/>
          </a:prstGeom>
          <a:ln w="4762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14429" y="5903976"/>
            <a:ext cx="6096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10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9229" y="1502664"/>
            <a:ext cx="0" cy="4355592"/>
          </a:xfrm>
          <a:prstGeom prst="line">
            <a:avLst/>
          </a:prstGeom>
          <a:ln w="4762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24590" y="5903976"/>
            <a:ext cx="6096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12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29390" y="1502664"/>
            <a:ext cx="0" cy="4355592"/>
          </a:xfrm>
          <a:prstGeom prst="line">
            <a:avLst/>
          </a:prstGeom>
          <a:ln w="4762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734751" y="5903976"/>
            <a:ext cx="6096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14M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039551" y="1502664"/>
            <a:ext cx="0" cy="4355592"/>
          </a:xfrm>
          <a:prstGeom prst="line">
            <a:avLst/>
          </a:prstGeom>
          <a:ln w="4762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68424" y="1502664"/>
            <a:ext cx="0" cy="4355592"/>
          </a:xfrm>
          <a:prstGeom prst="line">
            <a:avLst/>
          </a:prstGeom>
          <a:ln w="9524">
            <a:solidFill>
              <a:srgbClr val="6F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94944" y="1922653"/>
            <a:ext cx="110236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81514"/>
                </a:solidFill>
                <a:latin typeface="Newsreader"/>
              </a:rPr>
              <a:t>Enterprise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68424" y="1698665"/>
            <a:ext cx="8122998" cy="696894"/>
          </a:xfrm>
          <a:prstGeom prst="rect">
            <a:avLst/>
          </a:prstGeom>
          <a:solidFill>
            <a:srgbClr val="8C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37142" y="1948053"/>
            <a:ext cx="609600" cy="198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81514"/>
                </a:solidFill>
                <a:latin typeface="IBM Plex Mono"/>
              </a:rPr>
              <a:t>12.4M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011551"/>
            <a:ext cx="110236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81514"/>
                </a:solidFill>
                <a:latin typeface="Newsreader"/>
              </a:rPr>
              <a:t>Mid-market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8424" y="2787563"/>
            <a:ext cx="5306152" cy="696894"/>
          </a:xfrm>
          <a:prstGeom prst="rect">
            <a:avLst/>
          </a:prstGeom>
          <a:solidFill>
            <a:srgbClr val="8C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0296" y="3036951"/>
            <a:ext cx="609600" cy="198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81514"/>
                </a:solidFill>
                <a:latin typeface="IBM Plex Mono"/>
              </a:rPr>
              <a:t>8.1M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100449"/>
            <a:ext cx="110236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81514"/>
                </a:solidFill>
                <a:latin typeface="Newsreader"/>
              </a:rPr>
              <a:t>SMB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68424" y="3876461"/>
            <a:ext cx="2816846" cy="696894"/>
          </a:xfrm>
          <a:prstGeom prst="rect">
            <a:avLst/>
          </a:prstGeom>
          <a:solidFill>
            <a:srgbClr val="8C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0990" y="4125849"/>
            <a:ext cx="609600" cy="198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81514"/>
                </a:solidFill>
                <a:latin typeface="IBM Plex Mono"/>
              </a:rPr>
              <a:t>4.3M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" y="5189347"/>
            <a:ext cx="1102360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181514"/>
                </a:solidFill>
                <a:latin typeface="Newsreader"/>
              </a:rPr>
              <a:t>Startup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8424" y="4965359"/>
            <a:ext cx="1179144" cy="696894"/>
          </a:xfrm>
          <a:prstGeom prst="rect">
            <a:avLst/>
          </a:prstGeom>
          <a:solidFill>
            <a:srgbClr val="8C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93288" y="5214747"/>
            <a:ext cx="609600" cy="198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81514"/>
                </a:solidFill>
                <a:latin typeface="IBM Plex Mono"/>
              </a:rPr>
              <a:t>1.8M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