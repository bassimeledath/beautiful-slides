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01" y="1508760"/>
            <a:ext cx="3332397" cy="3291840"/>
          </a:xfrm>
          <a:prstGeom prst="roundRect">
            <a:avLst>
              <a:gd name="adj" fmla="val 57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768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768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22201C"/>
                </a:solidFill>
                <a:latin typeface="Instrument Serif"/>
              </a:rPr>
              <a:t>$47.2M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768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6B39"/>
                </a:solidFill>
                <a:latin typeface="Instrument Sans"/>
              </a:rPr>
              <a:t>▲ +12.4% vs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768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Source: NetSuite, Apr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48" y="1508760"/>
            <a:ext cx="3332397" cy="3291840"/>
          </a:xfrm>
          <a:prstGeom prst="roundRect">
            <a:avLst>
              <a:gd name="adj" fmla="val 57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2915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2915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22201C"/>
                </a:solidFill>
                <a:latin typeface="Instrument Serif"/>
              </a:rPr>
              <a:t>72.8%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2915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7C8571"/>
                </a:solidFill>
                <a:latin typeface="Instrument Sans"/>
              </a:rPr>
              <a:t>▼ -1.1 pts QoQ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2915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Non-GAAP, ex. one-time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5" y="1508760"/>
            <a:ext cx="3332397" cy="3291840"/>
          </a:xfrm>
          <a:prstGeom prst="roundRect">
            <a:avLst>
              <a:gd name="adj" fmla="val 57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1062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NPS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1062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22201C"/>
                </a:solidFill>
                <a:latin typeface="Instrument Serif"/>
              </a:rPr>
              <a:t>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1062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6B39"/>
                </a:solidFill>
                <a:latin typeface="Instrument Sans"/>
              </a:rPr>
              <a:t>▲ +6 vs 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1062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n=1,842, mixed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