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Manrope"/>
              </a:rPr>
              <a:t>Usage intensity — weekday ×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anrope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8401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anrope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3802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anrope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9204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anrope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4605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anrope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0007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anrope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5408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anrope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70809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anrope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6211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anrope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1612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anrope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97014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anrope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72415" y="975360"/>
            <a:ext cx="870639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anrope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295400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9AA4B2"/>
                </a:solidFill>
                <a:latin typeface="Manrope"/>
              </a:rPr>
              <a:t>Mon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940514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9AA4B2"/>
                </a:solidFill>
                <a:latin typeface="Manrope"/>
              </a:rPr>
              <a:t>Tue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85629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9AA4B2"/>
                </a:solidFill>
                <a:latin typeface="Manrope"/>
              </a:rPr>
              <a:t>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30743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9AA4B2"/>
                </a:solidFill>
                <a:latin typeface="Manrope"/>
              </a:rPr>
              <a:t>Thu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75858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9AA4B2"/>
                </a:solidFill>
                <a:latin typeface="Manrope"/>
              </a:rPr>
              <a:t>Fri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20972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9AA4B2"/>
                </a:solidFill>
                <a:latin typeface="Manrope"/>
              </a:rPr>
              <a:t>Sat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66087"/>
            <a:ext cx="525780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9AA4B2"/>
                </a:solidFill>
                <a:latin typeface="Manrope"/>
              </a:rPr>
              <a:t>Sun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7171D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143000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8401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111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018401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93802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D1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893802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69204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D1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769204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44605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A2C3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644605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20007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4789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520007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55%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95408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99BB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95408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72%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70809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DB5D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270809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85%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46211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EBBE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46211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88%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1612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BA7C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021612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97014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6829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897014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772415" y="1295400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F4F5F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772415" y="1295400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35%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7151B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143000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18401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F1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018401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93802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D1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2893802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3%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69204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F1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769204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44605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B343F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644605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22%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520007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57E9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520007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58%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95408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AA3C3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395408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76%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70809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EC0E5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270809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90%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46211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FC4E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146211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92%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21612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CAFD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021612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82%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897014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686A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897014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62%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772415" y="1940514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0596B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0772415" y="1940514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40%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43000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8192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143000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9%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018401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7131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2018401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6%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893802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F1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2893802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769204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111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769204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5%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644605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C384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644605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24%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520007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6829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5520007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60%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395408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BABC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395408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80%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270809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FC8EE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270809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94%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146211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20CCF3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8146211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96%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021612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DB7DB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9021612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86%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897014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78EA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9897014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66%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772415" y="2585629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2637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0772415" y="2585629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45%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43000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81C22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143000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10%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018401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7131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2018401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893802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F1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2893802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4%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769204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60F1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3769204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644605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C3C4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644605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26%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520007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686A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5520007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62%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395408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CAFD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6395408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82%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270809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20CAF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7270809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95%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146211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20CEF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8146211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97%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021612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EBBE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9021612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88%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897014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996B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9897014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70%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0772415" y="3230743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2697F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10772415" y="3230743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48%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143000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9242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143000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14%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018401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81C22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2018401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10%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893802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7131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2893802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6%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769204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7131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3769204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6%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644605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D404E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4644605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28%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520007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57E9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5520007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58%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395408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BA7C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6395408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78%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270809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EBBE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7270809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88%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146211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DB3D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8146211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84%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021612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BABC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9021612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80%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9897014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99BB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9897014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72%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772415" y="3875858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686A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10772415" y="3875858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62%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143000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B343F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1143000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22%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018401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A2C3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2018401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18%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893802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8202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893802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12%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769204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7171D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3769204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8%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644605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92831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4644605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16%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520007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E495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5520007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32%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395408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36E8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6395408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50%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270809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57E9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7270809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58%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146211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78AA6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8146211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64%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9021612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99BB9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9021612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72%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897014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BABC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9897014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5070A"/>
                </a:solidFill>
                <a:latin typeface="JetBrains Mono"/>
              </a:rPr>
              <a:t>80%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0772415" y="4520972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BA7C8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10772415" y="4520972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78%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143000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C3A4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1143000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25%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018401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B303B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2018401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20%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2893802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9242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2893802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14%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3769204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8192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3769204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9%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4644605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9242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4644605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14%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520007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0D404E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5520007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28%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6395408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15D70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6395408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42%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270809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36E84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2" name="TextBox 181"/>
          <p:cNvSpPr txBox="1"/>
          <p:nvPr/>
        </p:nvSpPr>
        <p:spPr>
          <a:xfrm>
            <a:off x="7270809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50%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8146211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4768D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8146211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54%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9021612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6829C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6" name="TextBox 185"/>
          <p:cNvSpPr txBox="1"/>
          <p:nvPr/>
        </p:nvSpPr>
        <p:spPr>
          <a:xfrm>
            <a:off x="9021612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60%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9897014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78EAA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8" name="TextBox 187"/>
          <p:cNvSpPr txBox="1"/>
          <p:nvPr/>
        </p:nvSpPr>
        <p:spPr>
          <a:xfrm>
            <a:off x="9897014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66%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0772415" y="5166087"/>
            <a:ext cx="870639" cy="640352"/>
          </a:xfrm>
          <a:prstGeom prst="roundRect">
            <a:avLst>
              <a:gd name="adj" fmla="val 8924"/>
            </a:avLst>
          </a:prstGeom>
          <a:solidFill>
            <a:srgbClr val="157E97"/>
          </a:solidFill>
          <a:ln w="2381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0" name="TextBox 189"/>
          <p:cNvSpPr txBox="1"/>
          <p:nvPr/>
        </p:nvSpPr>
        <p:spPr>
          <a:xfrm>
            <a:off x="10772415" y="5166087"/>
            <a:ext cx="870639" cy="64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F5F7FA"/>
                </a:solidFill>
                <a:latin typeface="JetBrains Mono"/>
              </a:rPr>
              <a:t>58%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8442655" y="5875020"/>
            <a:ext cx="133351" cy="12573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8576005" y="5875020"/>
            <a:ext cx="133351" cy="125730"/>
          </a:xfrm>
          <a:prstGeom prst="rect">
            <a:avLst/>
          </a:prstGeom>
          <a:solidFill>
            <a:srgbClr val="061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8709355" y="5875020"/>
            <a:ext cx="133351" cy="125730"/>
          </a:xfrm>
          <a:prstGeom prst="rect">
            <a:avLst/>
          </a:prstGeom>
          <a:solidFill>
            <a:srgbClr val="071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8842705" y="5875020"/>
            <a:ext cx="133351" cy="125730"/>
          </a:xfrm>
          <a:prstGeom prst="rect">
            <a:avLst/>
          </a:prstGeom>
          <a:solidFill>
            <a:srgbClr val="09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8976055" y="5875020"/>
            <a:ext cx="133351" cy="125730"/>
          </a:xfrm>
          <a:prstGeom prst="rect">
            <a:avLst/>
          </a:prstGeom>
          <a:solidFill>
            <a:srgbClr val="0A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9109405" y="5875020"/>
            <a:ext cx="133351" cy="125730"/>
          </a:xfrm>
          <a:prstGeom prst="rect">
            <a:avLst/>
          </a:prstGeom>
          <a:solidFill>
            <a:srgbClr val="0B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9242755" y="5875020"/>
            <a:ext cx="133351" cy="125730"/>
          </a:xfrm>
          <a:prstGeom prst="rect">
            <a:avLst/>
          </a:prstGeom>
          <a:solidFill>
            <a:srgbClr val="0C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9376105" y="5875020"/>
            <a:ext cx="133351" cy="125730"/>
          </a:xfrm>
          <a:prstGeom prst="rect">
            <a:avLst/>
          </a:prstGeom>
          <a:solidFill>
            <a:srgbClr val="0E4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9509455" y="5875020"/>
            <a:ext cx="133351" cy="125730"/>
          </a:xfrm>
          <a:prstGeom prst="rect">
            <a:avLst/>
          </a:prstGeom>
          <a:solidFill>
            <a:srgbClr val="0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9642805" y="5875020"/>
            <a:ext cx="133351" cy="125730"/>
          </a:xfrm>
          <a:prstGeom prst="rect">
            <a:avLst/>
          </a:prstGeom>
          <a:solidFill>
            <a:srgbClr val="105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9776155" y="5875020"/>
            <a:ext cx="133351" cy="125730"/>
          </a:xfrm>
          <a:prstGeom prst="rect">
            <a:avLst/>
          </a:prstGeom>
          <a:solidFill>
            <a:srgbClr val="116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9909505" y="5875020"/>
            <a:ext cx="133351" cy="125730"/>
          </a:xfrm>
          <a:prstGeom prst="rect">
            <a:avLst/>
          </a:prstGeom>
          <a:solidFill>
            <a:srgbClr val="126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10042855" y="5875020"/>
            <a:ext cx="133351" cy="125730"/>
          </a:xfrm>
          <a:prstGeom prst="rect">
            <a:avLst/>
          </a:prstGeom>
          <a:solidFill>
            <a:srgbClr val="1472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10176205" y="5875020"/>
            <a:ext cx="133351" cy="125730"/>
          </a:xfrm>
          <a:prstGeom prst="rect">
            <a:avLst/>
          </a:prstGeom>
          <a:solidFill>
            <a:srgbClr val="157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10309555" y="5875020"/>
            <a:ext cx="133351" cy="125730"/>
          </a:xfrm>
          <a:prstGeom prst="rect">
            <a:avLst/>
          </a:prstGeom>
          <a:solidFill>
            <a:srgbClr val="168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10442905" y="5875020"/>
            <a:ext cx="133351" cy="125730"/>
          </a:xfrm>
          <a:prstGeom prst="rect">
            <a:avLst/>
          </a:prstGeom>
          <a:solidFill>
            <a:srgbClr val="178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10576255" y="5875020"/>
            <a:ext cx="133351" cy="125730"/>
          </a:xfrm>
          <a:prstGeom prst="rect">
            <a:avLst/>
          </a:prstGeom>
          <a:solidFill>
            <a:srgbClr val="189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10709605" y="5875020"/>
            <a:ext cx="133351" cy="125730"/>
          </a:xfrm>
          <a:prstGeom prst="rect">
            <a:avLst/>
          </a:prstGeom>
          <a:solidFill>
            <a:srgbClr val="1A9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10842955" y="5875020"/>
            <a:ext cx="133351" cy="125730"/>
          </a:xfrm>
          <a:prstGeom prst="rect">
            <a:avLst/>
          </a:prstGeom>
          <a:solidFill>
            <a:srgbClr val="1BA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10976305" y="5875020"/>
            <a:ext cx="133351" cy="125730"/>
          </a:xfrm>
          <a:prstGeom prst="rect">
            <a:avLst/>
          </a:prstGeom>
          <a:solidFill>
            <a:srgbClr val="1CB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11109655" y="5875020"/>
            <a:ext cx="133351" cy="125730"/>
          </a:xfrm>
          <a:prstGeom prst="rect">
            <a:avLst/>
          </a:prstGeom>
          <a:solidFill>
            <a:srgbClr val="1DB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11243005" y="5875020"/>
            <a:ext cx="133351" cy="125730"/>
          </a:xfrm>
          <a:prstGeom prst="rect">
            <a:avLst/>
          </a:prstGeom>
          <a:solidFill>
            <a:srgbClr val="1FC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11376355" y="5875020"/>
            <a:ext cx="133351" cy="125730"/>
          </a:xfrm>
          <a:prstGeom prst="rect">
            <a:avLst/>
          </a:prstGeom>
          <a:solidFill>
            <a:srgbClr val="20C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11509705" y="5875020"/>
            <a:ext cx="133351" cy="125730"/>
          </a:xfrm>
          <a:prstGeom prst="rect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5" name="TextBox 214"/>
          <p:cNvSpPr txBox="1"/>
          <p:nvPr/>
        </p:nvSpPr>
        <p:spPr>
          <a:xfrm>
            <a:off x="8442655" y="6035040"/>
            <a:ext cx="1600200" cy="1955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JetBrains Mono"/>
              </a:rPr>
              <a:t>0%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042855" y="6035040"/>
            <a:ext cx="1600200" cy="1955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JetBrains Mono"/>
              </a:rPr>
              <a:t>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