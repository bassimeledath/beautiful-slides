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426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5F7FA"/>
                </a:solidFill>
                <a:latin typeface="Manrope"/>
              </a:rPr>
              <a:t>Usage intensity — weekday ×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8401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3802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69204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4605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0007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5408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70809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6211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1612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97014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2415" y="975360"/>
            <a:ext cx="870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A4B2"/>
                </a:solidFill>
                <a:latin typeface="Manrope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95400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Mon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940514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Tue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585629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Wed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230743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Thu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75858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Fri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20972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Sat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166087"/>
            <a:ext cx="525780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0">
                <a:solidFill>
                  <a:srgbClr val="9AA4B2"/>
                </a:solidFill>
                <a:latin typeface="Manrope"/>
              </a:rPr>
              <a:t>Sun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71D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143000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8401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111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018401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93802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D1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893802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3%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69204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D1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769204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3%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44605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A2C3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644605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18%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0007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4789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520007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55%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95408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99BB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395408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72%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0809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DB5D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270809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46211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EBBE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146211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88%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1612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BA7C8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21612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78%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97014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6829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9897014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772415" y="1295400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F4F5F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772415" y="1295400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35%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43000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51B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143000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8401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F1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018401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893802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D1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2893802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3%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69204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F1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769204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644605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B343F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644605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22%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520007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57E9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520007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58%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95408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AA3C3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395408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76%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70809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EC0E5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270809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90%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46211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FC4EA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8146211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92%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21612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CAFD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9021612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82%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97014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686A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897014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62%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772415" y="1940514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0596B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0772415" y="1940514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40%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3000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8192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43000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9%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8401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31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018401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6%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893802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F1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2893802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4%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769204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111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769204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5%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644605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C384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644605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24%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520007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6829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5520007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60%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395408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BABC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6395408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80%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70809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FC8EE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270809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94%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46211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20CCF3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8146211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96%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021612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DB7DB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021612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86%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897014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78EAA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897014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66%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772415" y="2585629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2637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772415" y="2585629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45%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143000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81C22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143000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10%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018401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31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2018401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6%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893802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F1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93802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4%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69204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60F1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3769204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44605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C3C4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644605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26%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520007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686A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5520007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62%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395408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CAFD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395408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82%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270809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20CAF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7270809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95%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146211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20CEF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8146211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97%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021612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EBBE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9021612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88%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897014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996B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897014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70%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0772415" y="3230743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2697F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0772415" y="3230743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48%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1143000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9242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1143000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14%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18401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81C22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2018401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10%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93802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31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2893802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769204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31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3769204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6%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644605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D404E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4644605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28%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520007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57E9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5520007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58%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395408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BA7C8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6395408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78%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270809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EBBE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7270809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88%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146211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DB3D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8146211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84%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9021612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BABC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9021612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80%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897014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99BB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9897014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72%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0772415" y="3875858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686A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10772415" y="3875858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62%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1143000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B343F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143000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22%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018401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A2C3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2018401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18%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893802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8202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2893802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12%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69204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7171D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3769204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8%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44605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92831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4644605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16%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520007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E4958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5520007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32%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395408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36E8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6395408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50%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270809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57E9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7270809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58%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146211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78AA6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8146211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64%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9021612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99BB9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2" name="TextBox 161"/>
          <p:cNvSpPr txBox="1"/>
          <p:nvPr/>
        </p:nvSpPr>
        <p:spPr>
          <a:xfrm>
            <a:off x="9021612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72%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9897014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BABC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9897014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05070A"/>
                </a:solidFill>
                <a:latin typeface="JetBrains Mono"/>
              </a:rPr>
              <a:t>80%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0772415" y="4520972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BA7C8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6" name="TextBox 165"/>
          <p:cNvSpPr txBox="1"/>
          <p:nvPr/>
        </p:nvSpPr>
        <p:spPr>
          <a:xfrm>
            <a:off x="10772415" y="4520972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78%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143000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C3A4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8" name="TextBox 167"/>
          <p:cNvSpPr txBox="1"/>
          <p:nvPr/>
        </p:nvSpPr>
        <p:spPr>
          <a:xfrm>
            <a:off x="1143000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25%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018401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B303B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0" name="TextBox 169"/>
          <p:cNvSpPr txBox="1"/>
          <p:nvPr/>
        </p:nvSpPr>
        <p:spPr>
          <a:xfrm>
            <a:off x="2018401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20%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2893802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9242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2" name="TextBox 171"/>
          <p:cNvSpPr txBox="1"/>
          <p:nvPr/>
        </p:nvSpPr>
        <p:spPr>
          <a:xfrm>
            <a:off x="2893802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14%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769204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8192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4" name="TextBox 173"/>
          <p:cNvSpPr txBox="1"/>
          <p:nvPr/>
        </p:nvSpPr>
        <p:spPr>
          <a:xfrm>
            <a:off x="3769204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9%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4644605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9242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6" name="TextBox 175"/>
          <p:cNvSpPr txBox="1"/>
          <p:nvPr/>
        </p:nvSpPr>
        <p:spPr>
          <a:xfrm>
            <a:off x="4644605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14%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520007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0D404E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78" name="TextBox 177"/>
          <p:cNvSpPr txBox="1"/>
          <p:nvPr/>
        </p:nvSpPr>
        <p:spPr>
          <a:xfrm>
            <a:off x="5520007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28%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6395408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15D70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0" name="TextBox 179"/>
          <p:cNvSpPr txBox="1"/>
          <p:nvPr/>
        </p:nvSpPr>
        <p:spPr>
          <a:xfrm>
            <a:off x="6395408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42%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7270809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36E84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2" name="TextBox 181"/>
          <p:cNvSpPr txBox="1"/>
          <p:nvPr/>
        </p:nvSpPr>
        <p:spPr>
          <a:xfrm>
            <a:off x="7270809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50%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8146211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4768D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4" name="TextBox 183"/>
          <p:cNvSpPr txBox="1"/>
          <p:nvPr/>
        </p:nvSpPr>
        <p:spPr>
          <a:xfrm>
            <a:off x="8146211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54%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9021612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6829C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6" name="TextBox 185"/>
          <p:cNvSpPr txBox="1"/>
          <p:nvPr/>
        </p:nvSpPr>
        <p:spPr>
          <a:xfrm>
            <a:off x="9021612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60%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9897014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78EAA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88" name="TextBox 187"/>
          <p:cNvSpPr txBox="1"/>
          <p:nvPr/>
        </p:nvSpPr>
        <p:spPr>
          <a:xfrm>
            <a:off x="9897014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66%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0772415" y="5166087"/>
            <a:ext cx="870639" cy="640352"/>
          </a:xfrm>
          <a:prstGeom prst="roundRect">
            <a:avLst>
              <a:gd name="adj" fmla="val 8924"/>
            </a:avLst>
          </a:prstGeom>
          <a:solidFill>
            <a:srgbClr val="157E97"/>
          </a:solidFill>
          <a:ln w="2381">
            <a:solidFill>
              <a:srgbClr val="9AA4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0" name="TextBox 189"/>
          <p:cNvSpPr txBox="1"/>
          <p:nvPr/>
        </p:nvSpPr>
        <p:spPr>
          <a:xfrm>
            <a:off x="10772415" y="5166087"/>
            <a:ext cx="870639" cy="64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F5F7FA"/>
                </a:solidFill>
                <a:latin typeface="JetBrains Mono"/>
              </a:rPr>
              <a:t>58%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8442655" y="5875020"/>
            <a:ext cx="133351" cy="125730"/>
          </a:xfrm>
          <a:prstGeom prst="rect">
            <a:avLst/>
          </a:prstGeom>
          <a:solidFill>
            <a:srgbClr val="050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2" name="Rectangle 191"/>
          <p:cNvSpPr/>
          <p:nvPr/>
        </p:nvSpPr>
        <p:spPr>
          <a:xfrm>
            <a:off x="8576005" y="5875020"/>
            <a:ext cx="133351" cy="125730"/>
          </a:xfrm>
          <a:prstGeom prst="rect">
            <a:avLst/>
          </a:prstGeom>
          <a:solidFill>
            <a:srgbClr val="061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3" name="Rectangle 192"/>
          <p:cNvSpPr/>
          <p:nvPr/>
        </p:nvSpPr>
        <p:spPr>
          <a:xfrm>
            <a:off x="8709355" y="5875020"/>
            <a:ext cx="133351" cy="125730"/>
          </a:xfrm>
          <a:prstGeom prst="rect">
            <a:avLst/>
          </a:prstGeom>
          <a:solidFill>
            <a:srgbClr val="071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4" name="Rectangle 193"/>
          <p:cNvSpPr/>
          <p:nvPr/>
        </p:nvSpPr>
        <p:spPr>
          <a:xfrm>
            <a:off x="8842705" y="5875020"/>
            <a:ext cx="133351" cy="125730"/>
          </a:xfrm>
          <a:prstGeom prst="rect">
            <a:avLst/>
          </a:prstGeom>
          <a:solidFill>
            <a:srgbClr val="092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5" name="Rectangle 194"/>
          <p:cNvSpPr/>
          <p:nvPr/>
        </p:nvSpPr>
        <p:spPr>
          <a:xfrm>
            <a:off x="8976055" y="5875020"/>
            <a:ext cx="133351" cy="125730"/>
          </a:xfrm>
          <a:prstGeom prst="rect">
            <a:avLst/>
          </a:prstGeom>
          <a:solidFill>
            <a:srgbClr val="0A2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6" name="Rectangle 195"/>
          <p:cNvSpPr/>
          <p:nvPr/>
        </p:nvSpPr>
        <p:spPr>
          <a:xfrm>
            <a:off x="9109405" y="5875020"/>
            <a:ext cx="133351" cy="125730"/>
          </a:xfrm>
          <a:prstGeom prst="rect">
            <a:avLst/>
          </a:prstGeom>
          <a:solidFill>
            <a:srgbClr val="0B3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7" name="Rectangle 196"/>
          <p:cNvSpPr/>
          <p:nvPr/>
        </p:nvSpPr>
        <p:spPr>
          <a:xfrm>
            <a:off x="9242755" y="5875020"/>
            <a:ext cx="133351" cy="125730"/>
          </a:xfrm>
          <a:prstGeom prst="rect">
            <a:avLst/>
          </a:prstGeom>
          <a:solidFill>
            <a:srgbClr val="0C3C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8" name="Rectangle 197"/>
          <p:cNvSpPr/>
          <p:nvPr/>
        </p:nvSpPr>
        <p:spPr>
          <a:xfrm>
            <a:off x="9376105" y="5875020"/>
            <a:ext cx="133351" cy="125730"/>
          </a:xfrm>
          <a:prstGeom prst="rect">
            <a:avLst/>
          </a:prstGeom>
          <a:solidFill>
            <a:srgbClr val="0E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9" name="Rectangle 198"/>
          <p:cNvSpPr/>
          <p:nvPr/>
        </p:nvSpPr>
        <p:spPr>
          <a:xfrm>
            <a:off x="9509455" y="5875020"/>
            <a:ext cx="133351" cy="125730"/>
          </a:xfrm>
          <a:prstGeom prst="rect">
            <a:avLst/>
          </a:prstGeom>
          <a:solidFill>
            <a:srgbClr val="0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0" name="Rectangle 199"/>
          <p:cNvSpPr/>
          <p:nvPr/>
        </p:nvSpPr>
        <p:spPr>
          <a:xfrm>
            <a:off x="9642805" y="5875020"/>
            <a:ext cx="133351" cy="125730"/>
          </a:xfrm>
          <a:prstGeom prst="rect">
            <a:avLst/>
          </a:prstGeom>
          <a:solidFill>
            <a:srgbClr val="105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1" name="Rectangle 200"/>
          <p:cNvSpPr/>
          <p:nvPr/>
        </p:nvSpPr>
        <p:spPr>
          <a:xfrm>
            <a:off x="9776155" y="5875020"/>
            <a:ext cx="133351" cy="125730"/>
          </a:xfrm>
          <a:prstGeom prst="rect">
            <a:avLst/>
          </a:prstGeom>
          <a:solidFill>
            <a:srgbClr val="1160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2" name="Rectangle 201"/>
          <p:cNvSpPr/>
          <p:nvPr/>
        </p:nvSpPr>
        <p:spPr>
          <a:xfrm>
            <a:off x="9909505" y="5875020"/>
            <a:ext cx="133351" cy="125730"/>
          </a:xfrm>
          <a:prstGeom prst="rect">
            <a:avLst/>
          </a:prstGeom>
          <a:solidFill>
            <a:srgbClr val="1269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3" name="Rectangle 202"/>
          <p:cNvSpPr/>
          <p:nvPr/>
        </p:nvSpPr>
        <p:spPr>
          <a:xfrm>
            <a:off x="10042855" y="5875020"/>
            <a:ext cx="133351" cy="125730"/>
          </a:xfrm>
          <a:prstGeom prst="rect">
            <a:avLst/>
          </a:prstGeom>
          <a:solidFill>
            <a:srgbClr val="147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4" name="Rectangle 203"/>
          <p:cNvSpPr/>
          <p:nvPr/>
        </p:nvSpPr>
        <p:spPr>
          <a:xfrm>
            <a:off x="10176205" y="5875020"/>
            <a:ext cx="133351" cy="125730"/>
          </a:xfrm>
          <a:prstGeom prst="rect">
            <a:avLst/>
          </a:prstGeom>
          <a:solidFill>
            <a:srgbClr val="157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5" name="Rectangle 204"/>
          <p:cNvSpPr/>
          <p:nvPr/>
        </p:nvSpPr>
        <p:spPr>
          <a:xfrm>
            <a:off x="10309555" y="5875020"/>
            <a:ext cx="133351" cy="125730"/>
          </a:xfrm>
          <a:prstGeom prst="rect">
            <a:avLst/>
          </a:prstGeom>
          <a:solidFill>
            <a:srgbClr val="1684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6" name="Rectangle 205"/>
          <p:cNvSpPr/>
          <p:nvPr/>
        </p:nvSpPr>
        <p:spPr>
          <a:xfrm>
            <a:off x="10442905" y="5875020"/>
            <a:ext cx="133351" cy="125730"/>
          </a:xfrm>
          <a:prstGeom prst="rect">
            <a:avLst/>
          </a:prstGeom>
          <a:solidFill>
            <a:srgbClr val="178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7" name="Rectangle 206"/>
          <p:cNvSpPr/>
          <p:nvPr/>
        </p:nvSpPr>
        <p:spPr>
          <a:xfrm>
            <a:off x="10576255" y="5875020"/>
            <a:ext cx="133351" cy="125730"/>
          </a:xfrm>
          <a:prstGeom prst="rect">
            <a:avLst/>
          </a:prstGeom>
          <a:solidFill>
            <a:srgbClr val="189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8" name="Rectangle 207"/>
          <p:cNvSpPr/>
          <p:nvPr/>
        </p:nvSpPr>
        <p:spPr>
          <a:xfrm>
            <a:off x="10709605" y="5875020"/>
            <a:ext cx="133351" cy="125730"/>
          </a:xfrm>
          <a:prstGeom prst="rect">
            <a:avLst/>
          </a:prstGeom>
          <a:solidFill>
            <a:srgbClr val="1A9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09" name="Rectangle 208"/>
          <p:cNvSpPr/>
          <p:nvPr/>
        </p:nvSpPr>
        <p:spPr>
          <a:xfrm>
            <a:off x="10842955" y="5875020"/>
            <a:ext cx="133351" cy="125730"/>
          </a:xfrm>
          <a:prstGeom prst="rect">
            <a:avLst/>
          </a:prstGeom>
          <a:solidFill>
            <a:srgbClr val="1BA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0" name="Rectangle 209"/>
          <p:cNvSpPr/>
          <p:nvPr/>
        </p:nvSpPr>
        <p:spPr>
          <a:xfrm>
            <a:off x="10976305" y="5875020"/>
            <a:ext cx="133351" cy="125730"/>
          </a:xfrm>
          <a:prstGeom prst="rect">
            <a:avLst/>
          </a:prstGeom>
          <a:solidFill>
            <a:srgbClr val="1CB0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1" name="Rectangle 210"/>
          <p:cNvSpPr/>
          <p:nvPr/>
        </p:nvSpPr>
        <p:spPr>
          <a:xfrm>
            <a:off x="11109655" y="5875020"/>
            <a:ext cx="133351" cy="125730"/>
          </a:xfrm>
          <a:prstGeom prst="rect">
            <a:avLst/>
          </a:prstGeom>
          <a:solidFill>
            <a:srgbClr val="1DB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2" name="Rectangle 211"/>
          <p:cNvSpPr/>
          <p:nvPr/>
        </p:nvSpPr>
        <p:spPr>
          <a:xfrm>
            <a:off x="11243005" y="5875020"/>
            <a:ext cx="133351" cy="125730"/>
          </a:xfrm>
          <a:prstGeom prst="rect">
            <a:avLst/>
          </a:prstGeom>
          <a:solidFill>
            <a:srgbClr val="1FC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3" name="Rectangle 212"/>
          <p:cNvSpPr/>
          <p:nvPr/>
        </p:nvSpPr>
        <p:spPr>
          <a:xfrm>
            <a:off x="11376355" y="5875020"/>
            <a:ext cx="133351" cy="125730"/>
          </a:xfrm>
          <a:prstGeom prst="rect">
            <a:avLst/>
          </a:prstGeom>
          <a:solidFill>
            <a:srgbClr val="20C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4" name="Rectangle 213"/>
          <p:cNvSpPr/>
          <p:nvPr/>
        </p:nvSpPr>
        <p:spPr>
          <a:xfrm>
            <a:off x="11509705" y="5875020"/>
            <a:ext cx="133351" cy="125730"/>
          </a:xfrm>
          <a:prstGeom prst="rect">
            <a:avLst/>
          </a:prstGeom>
          <a:solidFill>
            <a:srgbClr val="21D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15" name="TextBox 214"/>
          <p:cNvSpPr txBox="1"/>
          <p:nvPr/>
        </p:nvSpPr>
        <p:spPr>
          <a:xfrm>
            <a:off x="8442655" y="6035040"/>
            <a:ext cx="1600200" cy="1955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A4B2"/>
                </a:solidFill>
                <a:latin typeface="JetBrains Mono"/>
              </a:rPr>
              <a:t>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042855" y="6035040"/>
            <a:ext cx="1600200" cy="1955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9AA4B2"/>
                </a:solidFill>
                <a:latin typeface="JetBrains Mono"/>
              </a:rPr>
              <a:t>100%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