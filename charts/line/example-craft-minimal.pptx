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365760"/>
            <a:ext cx="11460175" cy="612648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80186" y="580186"/>
            <a:ext cx="11031323" cy="5669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22201C"/>
                </a:solidFill>
                <a:latin typeface="Instrument Serif"/>
              </a:rPr>
              <a:t>Revenue retention by cohort, first 12 months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0186" y="1211441"/>
            <a:ext cx="11031323" cy="2763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7B776F"/>
                </a:solidFill>
                <a:latin typeface="Instrument Sans"/>
              </a:rPr>
              <a:t>Revenue retention (%)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497000" y="5652441"/>
            <a:ext cx="8510085" cy="0"/>
          </a:xfrm>
          <a:prstGeom prst="line">
            <a:avLst/>
          </a:prstGeom>
          <a:ln w="6350">
            <a:solidFill>
              <a:srgbClr val="7B776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497000" y="4828088"/>
            <a:ext cx="8510085" cy="0"/>
          </a:xfrm>
          <a:prstGeom prst="line">
            <a:avLst/>
          </a:prstGeom>
          <a:ln w="6350">
            <a:solidFill>
              <a:srgbClr val="7B776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497000" y="4003735"/>
            <a:ext cx="8510085" cy="0"/>
          </a:xfrm>
          <a:prstGeom prst="line">
            <a:avLst/>
          </a:prstGeom>
          <a:ln w="6350">
            <a:solidFill>
              <a:srgbClr val="7B776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497000" y="3179383"/>
            <a:ext cx="8510085" cy="0"/>
          </a:xfrm>
          <a:prstGeom prst="line">
            <a:avLst/>
          </a:prstGeom>
          <a:ln w="6350">
            <a:solidFill>
              <a:srgbClr val="7B776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497000" y="2355030"/>
            <a:ext cx="8510085" cy="0"/>
          </a:xfrm>
          <a:prstGeom prst="line">
            <a:avLst/>
          </a:prstGeom>
          <a:ln w="6350">
            <a:solidFill>
              <a:srgbClr val="7B776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497000" y="1530678"/>
            <a:ext cx="8510085" cy="0"/>
          </a:xfrm>
          <a:prstGeom prst="line">
            <a:avLst/>
          </a:prstGeom>
          <a:ln w="6350">
            <a:solidFill>
              <a:srgbClr val="7B776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93864" y="5545761"/>
            <a:ext cx="870973" cy="2133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200" b="0">
                <a:solidFill>
                  <a:srgbClr val="22201C"/>
                </a:solidFill>
                <a:latin typeface="Instrument Sans"/>
              </a:rPr>
              <a:t>95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3864" y="4721408"/>
            <a:ext cx="870973" cy="2133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200" b="0">
                <a:solidFill>
                  <a:srgbClr val="22201C"/>
                </a:solidFill>
                <a:latin typeface="Instrument Sans"/>
              </a:rPr>
              <a:t>100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3864" y="3897055"/>
            <a:ext cx="870973" cy="2133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200" b="0">
                <a:solidFill>
                  <a:srgbClr val="22201C"/>
                </a:solidFill>
                <a:latin typeface="Instrument Sans"/>
              </a:rPr>
              <a:t>105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3864" y="3072703"/>
            <a:ext cx="870973" cy="2133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200" b="0">
                <a:solidFill>
                  <a:srgbClr val="22201C"/>
                </a:solidFill>
                <a:latin typeface="Instrument Sans"/>
              </a:rPr>
              <a:t>110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3864" y="2248350"/>
            <a:ext cx="870973" cy="2133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200" b="0">
                <a:solidFill>
                  <a:srgbClr val="22201C"/>
                </a:solidFill>
                <a:latin typeface="Instrument Sans"/>
              </a:rPr>
              <a:t>115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3864" y="1423998"/>
            <a:ext cx="870973" cy="2133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200" b="0">
                <a:solidFill>
                  <a:srgbClr val="22201C"/>
                </a:solidFill>
                <a:latin typeface="Instrument Sans"/>
              </a:rPr>
              <a:t>120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497000" y="1530678"/>
            <a:ext cx="0" cy="4121763"/>
          </a:xfrm>
          <a:prstGeom prst="line">
            <a:avLst/>
          </a:prstGeom>
          <a:ln w="9525">
            <a:solidFill>
              <a:srgbClr val="7B776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497000" y="5652441"/>
            <a:ext cx="8510085" cy="0"/>
          </a:xfrm>
          <a:prstGeom prst="line">
            <a:avLst/>
          </a:prstGeom>
          <a:ln w="9525">
            <a:solidFill>
              <a:srgbClr val="7B776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973302" y="5684604"/>
            <a:ext cx="1047395" cy="243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22201C"/>
                </a:solidFill>
                <a:latin typeface="Instrument Sans"/>
              </a:rPr>
              <a:t>M0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82476" y="5684604"/>
            <a:ext cx="1047395" cy="243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22201C"/>
                </a:solidFill>
                <a:latin typeface="Instrument Sans"/>
              </a:rPr>
              <a:t>M1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91650" y="5684604"/>
            <a:ext cx="1047395" cy="243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22201C"/>
                </a:solidFill>
                <a:latin typeface="Instrument Sans"/>
              </a:rPr>
              <a:t>M2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0823" y="5684604"/>
            <a:ext cx="1047395" cy="243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22201C"/>
                </a:solidFill>
                <a:latin typeface="Instrument Sans"/>
              </a:rPr>
              <a:t>M3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09997" y="5684604"/>
            <a:ext cx="1047395" cy="243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22201C"/>
                </a:solidFill>
                <a:latin typeface="Instrument Sans"/>
              </a:rPr>
              <a:t>M4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19171" y="5684604"/>
            <a:ext cx="1047395" cy="243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22201C"/>
                </a:solidFill>
                <a:latin typeface="Instrument Sans"/>
              </a:rPr>
              <a:t>M5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28345" y="5684604"/>
            <a:ext cx="1047395" cy="243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22201C"/>
                </a:solidFill>
                <a:latin typeface="Instrument Sans"/>
              </a:rPr>
              <a:t>M6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37518" y="5684604"/>
            <a:ext cx="1047395" cy="243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22201C"/>
                </a:solidFill>
                <a:latin typeface="Instrument Sans"/>
              </a:rPr>
              <a:t>M7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46692" y="5684604"/>
            <a:ext cx="1047395" cy="243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22201C"/>
                </a:solidFill>
                <a:latin typeface="Instrument Sans"/>
              </a:rPr>
              <a:t>M8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55866" y="5684604"/>
            <a:ext cx="1047395" cy="243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22201C"/>
                </a:solidFill>
                <a:latin typeface="Instrument Sans"/>
              </a:rPr>
              <a:t>M9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65040" y="5684604"/>
            <a:ext cx="1047395" cy="243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22201C"/>
                </a:solidFill>
                <a:latin typeface="Instrument Sans"/>
              </a:rPr>
              <a:t>M10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4213" y="5684604"/>
            <a:ext cx="1047395" cy="243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22201C"/>
                </a:solidFill>
                <a:latin typeface="Instrument Sans"/>
              </a:rPr>
              <a:t>M11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83387" y="5684604"/>
            <a:ext cx="1047395" cy="243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22201C"/>
                </a:solidFill>
                <a:latin typeface="Instrument Sans"/>
              </a:rPr>
              <a:t>M12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97000" y="5939166"/>
            <a:ext cx="8510085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7B776F"/>
                </a:solidFill>
                <a:latin typeface="Instrument Sans"/>
              </a:rPr>
              <a:t>Months from cohort start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1497000" y="4828088"/>
            <a:ext cx="709173" cy="329741"/>
          </a:xfrm>
          <a:prstGeom prst="line">
            <a:avLst/>
          </a:prstGeom>
          <a:ln w="15875">
            <a:solidFill>
              <a:srgbClr val="7B776F"/>
            </a:solidFill>
            <a:prstDash val="dash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2206173" y="5157829"/>
            <a:ext cx="709174" cy="164870"/>
          </a:xfrm>
          <a:prstGeom prst="line">
            <a:avLst/>
          </a:prstGeom>
          <a:ln w="15875">
            <a:solidFill>
              <a:srgbClr val="7B776F"/>
            </a:solidFill>
            <a:prstDash val="dash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2915347" y="5157829"/>
            <a:ext cx="709174" cy="164870"/>
          </a:xfrm>
          <a:prstGeom prst="line">
            <a:avLst/>
          </a:prstGeom>
          <a:ln w="15875">
            <a:solidFill>
              <a:srgbClr val="7B776F"/>
            </a:solidFill>
            <a:prstDash val="dash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3624521" y="4828088"/>
            <a:ext cx="709174" cy="329741"/>
          </a:xfrm>
          <a:prstGeom prst="line">
            <a:avLst/>
          </a:prstGeom>
          <a:ln w="15875">
            <a:solidFill>
              <a:srgbClr val="7B776F"/>
            </a:solidFill>
            <a:prstDash val="dash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4333695" y="4663217"/>
            <a:ext cx="709173" cy="164871"/>
          </a:xfrm>
          <a:prstGeom prst="line">
            <a:avLst/>
          </a:prstGeom>
          <a:ln w="15875">
            <a:solidFill>
              <a:srgbClr val="7B776F"/>
            </a:solidFill>
            <a:prstDash val="dash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5042868" y="4498347"/>
            <a:ext cx="709174" cy="164870"/>
          </a:xfrm>
          <a:prstGeom prst="line">
            <a:avLst/>
          </a:prstGeom>
          <a:ln w="15875">
            <a:solidFill>
              <a:srgbClr val="7B776F"/>
            </a:solidFill>
            <a:prstDash val="dash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5752042" y="4333476"/>
            <a:ext cx="709174" cy="164871"/>
          </a:xfrm>
          <a:prstGeom prst="line">
            <a:avLst/>
          </a:prstGeom>
          <a:ln w="15875">
            <a:solidFill>
              <a:srgbClr val="7B776F"/>
            </a:solidFill>
            <a:prstDash val="dash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6461216" y="4168606"/>
            <a:ext cx="709174" cy="164870"/>
          </a:xfrm>
          <a:prstGeom prst="line">
            <a:avLst/>
          </a:prstGeom>
          <a:ln w="15875">
            <a:solidFill>
              <a:srgbClr val="7B776F"/>
            </a:solidFill>
            <a:prstDash val="dash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7170390" y="4168606"/>
            <a:ext cx="709173" cy="0"/>
          </a:xfrm>
          <a:prstGeom prst="line">
            <a:avLst/>
          </a:prstGeom>
          <a:ln w="15875">
            <a:solidFill>
              <a:srgbClr val="7B776F"/>
            </a:solidFill>
            <a:prstDash val="dash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7879563" y="4003735"/>
            <a:ext cx="709174" cy="164871"/>
          </a:xfrm>
          <a:prstGeom prst="line">
            <a:avLst/>
          </a:prstGeom>
          <a:ln w="15875">
            <a:solidFill>
              <a:srgbClr val="7B776F"/>
            </a:solidFill>
            <a:prstDash val="dash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8588737" y="4003735"/>
            <a:ext cx="709174" cy="0"/>
          </a:xfrm>
          <a:prstGeom prst="line">
            <a:avLst/>
          </a:prstGeom>
          <a:ln w="15875">
            <a:solidFill>
              <a:srgbClr val="7B776F"/>
            </a:solidFill>
            <a:prstDash val="dash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9297911" y="3838865"/>
            <a:ext cx="709174" cy="164870"/>
          </a:xfrm>
          <a:prstGeom prst="line">
            <a:avLst/>
          </a:prstGeom>
          <a:ln w="15875">
            <a:solidFill>
              <a:srgbClr val="7B776F"/>
            </a:solidFill>
            <a:prstDash val="dash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10057885" y="3716945"/>
            <a:ext cx="1524202" cy="2438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7B776F"/>
                </a:solidFill>
                <a:latin typeface="Instrument Sans"/>
              </a:rPr>
              <a:t>Q1 '25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1497000" y="4828088"/>
            <a:ext cx="709173" cy="164870"/>
          </a:xfrm>
          <a:prstGeom prst="line">
            <a:avLst/>
          </a:prstGeom>
          <a:ln w="15875">
            <a:solidFill>
              <a:srgbClr val="7B776F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2206173" y="4828088"/>
            <a:ext cx="709174" cy="164870"/>
          </a:xfrm>
          <a:prstGeom prst="line">
            <a:avLst/>
          </a:prstGeom>
          <a:ln w="15875">
            <a:solidFill>
              <a:srgbClr val="7B776F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2915347" y="4498347"/>
            <a:ext cx="709174" cy="329741"/>
          </a:xfrm>
          <a:prstGeom prst="line">
            <a:avLst/>
          </a:prstGeom>
          <a:ln w="15875">
            <a:solidFill>
              <a:srgbClr val="7B776F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3624521" y="4168606"/>
            <a:ext cx="709174" cy="329741"/>
          </a:xfrm>
          <a:prstGeom prst="line">
            <a:avLst/>
          </a:prstGeom>
          <a:ln w="15875">
            <a:solidFill>
              <a:srgbClr val="7B776F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4333695" y="4003735"/>
            <a:ext cx="709173" cy="164871"/>
          </a:xfrm>
          <a:prstGeom prst="line">
            <a:avLst/>
          </a:prstGeom>
          <a:ln w="15875">
            <a:solidFill>
              <a:srgbClr val="7B776F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5042868" y="3838865"/>
            <a:ext cx="709174" cy="164870"/>
          </a:xfrm>
          <a:prstGeom prst="line">
            <a:avLst/>
          </a:prstGeom>
          <a:ln w="15875">
            <a:solidFill>
              <a:srgbClr val="7B776F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5752042" y="3838865"/>
            <a:ext cx="709174" cy="0"/>
          </a:xfrm>
          <a:prstGeom prst="line">
            <a:avLst/>
          </a:prstGeom>
          <a:ln w="15875">
            <a:solidFill>
              <a:srgbClr val="7B776F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6461216" y="3673994"/>
            <a:ext cx="709174" cy="164871"/>
          </a:xfrm>
          <a:prstGeom prst="line">
            <a:avLst/>
          </a:prstGeom>
          <a:ln w="15875">
            <a:solidFill>
              <a:srgbClr val="7B776F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7170390" y="3509124"/>
            <a:ext cx="709173" cy="164870"/>
          </a:xfrm>
          <a:prstGeom prst="line">
            <a:avLst/>
          </a:prstGeom>
          <a:ln w="15875">
            <a:solidFill>
              <a:srgbClr val="7B776F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7879563" y="3344253"/>
            <a:ext cx="709174" cy="164871"/>
          </a:xfrm>
          <a:prstGeom prst="line">
            <a:avLst/>
          </a:prstGeom>
          <a:ln w="15875">
            <a:solidFill>
              <a:srgbClr val="7B776F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8588737" y="3179383"/>
            <a:ext cx="709174" cy="164870"/>
          </a:xfrm>
          <a:prstGeom prst="line">
            <a:avLst/>
          </a:prstGeom>
          <a:ln w="15875">
            <a:solidFill>
              <a:srgbClr val="7B776F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9297911" y="3179383"/>
            <a:ext cx="709174" cy="0"/>
          </a:xfrm>
          <a:prstGeom prst="line">
            <a:avLst/>
          </a:prstGeom>
          <a:ln w="15875">
            <a:solidFill>
              <a:srgbClr val="7B776F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10057885" y="3057463"/>
            <a:ext cx="1524202" cy="2438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7B776F"/>
                </a:solidFill>
                <a:latin typeface="Instrument Sans"/>
              </a:rPr>
              <a:t>Q2 '25</a:t>
            </a:r>
          </a:p>
        </p:txBody>
      </p:sp>
      <p:cxnSp>
        <p:nvCxnSpPr>
          <p:cNvPr id="59" name="Connector 58"/>
          <p:cNvCxnSpPr/>
          <p:nvPr/>
        </p:nvCxnSpPr>
        <p:spPr>
          <a:xfrm flipV="1">
            <a:off x="1497000" y="4498347"/>
            <a:ext cx="709173" cy="329741"/>
          </a:xfrm>
          <a:prstGeom prst="line">
            <a:avLst/>
          </a:prstGeom>
          <a:ln w="15875">
            <a:solidFill>
              <a:srgbClr val="7B776F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2206173" y="3838865"/>
            <a:ext cx="709174" cy="659482"/>
          </a:xfrm>
          <a:prstGeom prst="line">
            <a:avLst/>
          </a:prstGeom>
          <a:ln w="15875">
            <a:solidFill>
              <a:srgbClr val="7B776F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2915347" y="3344253"/>
            <a:ext cx="709174" cy="494612"/>
          </a:xfrm>
          <a:prstGeom prst="line">
            <a:avLst/>
          </a:prstGeom>
          <a:ln w="15875">
            <a:solidFill>
              <a:srgbClr val="7B776F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3624521" y="3179383"/>
            <a:ext cx="709174" cy="164870"/>
          </a:xfrm>
          <a:prstGeom prst="line">
            <a:avLst/>
          </a:prstGeom>
          <a:ln w="15875">
            <a:solidFill>
              <a:srgbClr val="7B776F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4333695" y="2849642"/>
            <a:ext cx="709173" cy="329741"/>
          </a:xfrm>
          <a:prstGeom prst="line">
            <a:avLst/>
          </a:prstGeom>
          <a:ln w="15875">
            <a:solidFill>
              <a:srgbClr val="7B776F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5042868" y="2849642"/>
            <a:ext cx="709174" cy="0"/>
          </a:xfrm>
          <a:prstGeom prst="line">
            <a:avLst/>
          </a:prstGeom>
          <a:ln w="15875">
            <a:solidFill>
              <a:srgbClr val="7B776F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5752042" y="2684771"/>
            <a:ext cx="709174" cy="164871"/>
          </a:xfrm>
          <a:prstGeom prst="line">
            <a:avLst/>
          </a:prstGeom>
          <a:ln w="15875">
            <a:solidFill>
              <a:srgbClr val="7B776F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6461216" y="2684771"/>
            <a:ext cx="709174" cy="0"/>
          </a:xfrm>
          <a:prstGeom prst="line">
            <a:avLst/>
          </a:prstGeom>
          <a:ln w="15875">
            <a:solidFill>
              <a:srgbClr val="7B776F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7221190" y="2562851"/>
            <a:ext cx="1524202" cy="2438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7B776F"/>
                </a:solidFill>
                <a:latin typeface="Instrument Sans"/>
              </a:rPr>
              <a:t>Q3 '25</a:t>
            </a:r>
          </a:p>
        </p:txBody>
      </p:sp>
      <p:cxnSp>
        <p:nvCxnSpPr>
          <p:cNvPr id="68" name="Connector 67"/>
          <p:cNvCxnSpPr/>
          <p:nvPr/>
        </p:nvCxnSpPr>
        <p:spPr>
          <a:xfrm flipV="1">
            <a:off x="1497000" y="4168606"/>
            <a:ext cx="709173" cy="659482"/>
          </a:xfrm>
          <a:prstGeom prst="line">
            <a:avLst/>
          </a:prstGeom>
          <a:ln w="31750">
            <a:solidFill>
              <a:srgbClr val="7C85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2206173" y="3014512"/>
            <a:ext cx="709174" cy="1154094"/>
          </a:xfrm>
          <a:prstGeom prst="line">
            <a:avLst/>
          </a:prstGeom>
          <a:ln w="31750">
            <a:solidFill>
              <a:srgbClr val="7C85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2915347" y="1860419"/>
            <a:ext cx="709174" cy="1154093"/>
          </a:xfrm>
          <a:prstGeom prst="line">
            <a:avLst/>
          </a:prstGeom>
          <a:ln w="31750">
            <a:solidFill>
              <a:srgbClr val="7C85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Oval 70"/>
          <p:cNvSpPr/>
          <p:nvPr/>
        </p:nvSpPr>
        <p:spPr>
          <a:xfrm>
            <a:off x="3573721" y="1809619"/>
            <a:ext cx="101600" cy="101600"/>
          </a:xfrm>
          <a:prstGeom prst="ellipse">
            <a:avLst/>
          </a:prstGeom>
          <a:solidFill>
            <a:srgbClr val="9A6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3604201" y="1840099"/>
            <a:ext cx="40640" cy="40640"/>
          </a:xfrm>
          <a:prstGeom prst="ellipse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675321" y="1738499"/>
            <a:ext cx="1524202" cy="2438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7C8571"/>
                </a:solidFill>
                <a:latin typeface="Instrument Sans"/>
              </a:rPr>
              <a:t>Q4 '25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