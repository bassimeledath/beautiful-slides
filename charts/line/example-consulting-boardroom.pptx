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0186" y="580186"/>
            <a:ext cx="11031323" cy="4960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101828"/>
                </a:solidFill>
                <a:latin typeface="Public Sans"/>
              </a:rPr>
              <a:t>Revenue retention by cohort, first 12 months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0186" y="1140575"/>
            <a:ext cx="11031323" cy="2418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467"/>
                </a:solidFill>
                <a:latin typeface="Public Sans"/>
              </a:rPr>
              <a:t>Revenue retention (%)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497000" y="5695621"/>
            <a:ext cx="8510085" cy="0"/>
          </a:xfrm>
          <a:prstGeom prst="line">
            <a:avLst/>
          </a:prstGeom>
          <a:ln w="635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497000" y="4841550"/>
            <a:ext cx="8510085" cy="0"/>
          </a:xfrm>
          <a:prstGeom prst="line">
            <a:avLst/>
          </a:prstGeom>
          <a:ln w="635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497000" y="3987479"/>
            <a:ext cx="8510085" cy="0"/>
          </a:xfrm>
          <a:prstGeom prst="line">
            <a:avLst/>
          </a:prstGeom>
          <a:ln w="635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97000" y="3133409"/>
            <a:ext cx="8510085" cy="0"/>
          </a:xfrm>
          <a:prstGeom prst="line">
            <a:avLst/>
          </a:prstGeom>
          <a:ln w="635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497000" y="2279338"/>
            <a:ext cx="8510085" cy="0"/>
          </a:xfrm>
          <a:prstGeom prst="line">
            <a:avLst/>
          </a:prstGeom>
          <a:ln w="635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497000" y="1425268"/>
            <a:ext cx="8510085" cy="0"/>
          </a:xfrm>
          <a:prstGeom prst="line">
            <a:avLst/>
          </a:prstGeom>
          <a:ln w="635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3864" y="5597831"/>
            <a:ext cx="870973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01828"/>
                </a:solidFill>
                <a:latin typeface="Public Sans"/>
              </a:rPr>
              <a:t>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3864" y="4743760"/>
            <a:ext cx="870973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01828"/>
                </a:solidFill>
                <a:latin typeface="Public Sans"/>
              </a:rPr>
              <a:t>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3864" y="3889689"/>
            <a:ext cx="870973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01828"/>
                </a:solidFill>
                <a:latin typeface="Public Sans"/>
              </a:rPr>
              <a:t>105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3864" y="3035619"/>
            <a:ext cx="870973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01828"/>
                </a:solidFill>
                <a:latin typeface="Public Sans"/>
              </a:rPr>
              <a:t>110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3864" y="2181548"/>
            <a:ext cx="870973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01828"/>
                </a:solidFill>
                <a:latin typeface="Public Sans"/>
              </a:rPr>
              <a:t>115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3864" y="1327478"/>
            <a:ext cx="870973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01828"/>
                </a:solidFill>
                <a:latin typeface="Public Sans"/>
              </a:rPr>
              <a:t>120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497000" y="1425268"/>
            <a:ext cx="0" cy="4270353"/>
          </a:xfrm>
          <a:prstGeom prst="line">
            <a:avLst/>
          </a:prstGeom>
          <a:ln w="9525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497000" y="5695621"/>
            <a:ext cx="8510085" cy="0"/>
          </a:xfrm>
          <a:prstGeom prst="line">
            <a:avLst/>
          </a:prstGeom>
          <a:ln w="9525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73302" y="5727784"/>
            <a:ext cx="1047395" cy="223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M0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82476" y="5727784"/>
            <a:ext cx="1047395" cy="223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M1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1650" y="5727784"/>
            <a:ext cx="1047395" cy="223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M2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0823" y="5727784"/>
            <a:ext cx="1047395" cy="223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M3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09997" y="5727784"/>
            <a:ext cx="1047395" cy="223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M4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19171" y="5727784"/>
            <a:ext cx="1047395" cy="223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M5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8345" y="5727784"/>
            <a:ext cx="1047395" cy="223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M6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37518" y="5727784"/>
            <a:ext cx="1047395" cy="223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M7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6692" y="5727784"/>
            <a:ext cx="1047395" cy="223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M8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55866" y="5727784"/>
            <a:ext cx="1047395" cy="223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M9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65040" y="5727784"/>
            <a:ext cx="1047395" cy="223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M10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4213" y="5727784"/>
            <a:ext cx="1047395" cy="223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M11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83387" y="5727784"/>
            <a:ext cx="1047395" cy="223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M12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7000" y="5962026"/>
            <a:ext cx="8510085" cy="2514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75467"/>
                </a:solidFill>
                <a:latin typeface="Public Sans"/>
              </a:rPr>
              <a:t>Months from cohort start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497000" y="4841550"/>
            <a:ext cx="709173" cy="341628"/>
          </a:xfrm>
          <a:prstGeom prst="line">
            <a:avLst/>
          </a:prstGeom>
          <a:ln w="15875">
            <a:solidFill>
              <a:srgbClr val="475467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06173" y="5183178"/>
            <a:ext cx="709174" cy="170814"/>
          </a:xfrm>
          <a:prstGeom prst="line">
            <a:avLst/>
          </a:prstGeom>
          <a:ln w="15875">
            <a:solidFill>
              <a:srgbClr val="475467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2915347" y="5183178"/>
            <a:ext cx="709174" cy="170814"/>
          </a:xfrm>
          <a:prstGeom prst="line">
            <a:avLst/>
          </a:prstGeom>
          <a:ln w="15875">
            <a:solidFill>
              <a:srgbClr val="475467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3624521" y="4841550"/>
            <a:ext cx="709174" cy="341628"/>
          </a:xfrm>
          <a:prstGeom prst="line">
            <a:avLst/>
          </a:prstGeom>
          <a:ln w="15875">
            <a:solidFill>
              <a:srgbClr val="475467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333695" y="4670736"/>
            <a:ext cx="709173" cy="170814"/>
          </a:xfrm>
          <a:prstGeom prst="line">
            <a:avLst/>
          </a:prstGeom>
          <a:ln w="15875">
            <a:solidFill>
              <a:srgbClr val="475467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042868" y="4499922"/>
            <a:ext cx="709174" cy="170814"/>
          </a:xfrm>
          <a:prstGeom prst="line">
            <a:avLst/>
          </a:prstGeom>
          <a:ln w="15875">
            <a:solidFill>
              <a:srgbClr val="475467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5752042" y="4329108"/>
            <a:ext cx="709174" cy="170814"/>
          </a:xfrm>
          <a:prstGeom prst="line">
            <a:avLst/>
          </a:prstGeom>
          <a:ln w="15875">
            <a:solidFill>
              <a:srgbClr val="475467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6461216" y="4158293"/>
            <a:ext cx="709174" cy="170815"/>
          </a:xfrm>
          <a:prstGeom prst="line">
            <a:avLst/>
          </a:prstGeom>
          <a:ln w="15875">
            <a:solidFill>
              <a:srgbClr val="475467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170390" y="4158293"/>
            <a:ext cx="709173" cy="0"/>
          </a:xfrm>
          <a:prstGeom prst="line">
            <a:avLst/>
          </a:prstGeom>
          <a:ln w="15875">
            <a:solidFill>
              <a:srgbClr val="475467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7879563" y="3987479"/>
            <a:ext cx="709174" cy="170814"/>
          </a:xfrm>
          <a:prstGeom prst="line">
            <a:avLst/>
          </a:prstGeom>
          <a:ln w="15875">
            <a:solidFill>
              <a:srgbClr val="475467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588737" y="3987479"/>
            <a:ext cx="709174" cy="0"/>
          </a:xfrm>
          <a:prstGeom prst="line">
            <a:avLst/>
          </a:prstGeom>
          <a:ln w="15875">
            <a:solidFill>
              <a:srgbClr val="475467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9297911" y="3816665"/>
            <a:ext cx="709174" cy="170814"/>
          </a:xfrm>
          <a:prstGeom prst="line">
            <a:avLst/>
          </a:prstGeom>
          <a:ln w="15875">
            <a:solidFill>
              <a:srgbClr val="475467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0057885" y="3704905"/>
            <a:ext cx="1524202" cy="223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475467"/>
                </a:solidFill>
                <a:latin typeface="Public Sans"/>
              </a:rPr>
              <a:t>Q1 '25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497000" y="4841550"/>
            <a:ext cx="709173" cy="170814"/>
          </a:xfrm>
          <a:prstGeom prst="line">
            <a:avLst/>
          </a:prstGeom>
          <a:ln w="15875">
            <a:solidFill>
              <a:srgbClr val="475467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2206173" y="4841550"/>
            <a:ext cx="709174" cy="170814"/>
          </a:xfrm>
          <a:prstGeom prst="line">
            <a:avLst/>
          </a:prstGeom>
          <a:ln w="15875">
            <a:solidFill>
              <a:srgbClr val="475467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915347" y="4499922"/>
            <a:ext cx="709174" cy="341628"/>
          </a:xfrm>
          <a:prstGeom prst="line">
            <a:avLst/>
          </a:prstGeom>
          <a:ln w="15875">
            <a:solidFill>
              <a:srgbClr val="475467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3624521" y="4158293"/>
            <a:ext cx="709174" cy="341629"/>
          </a:xfrm>
          <a:prstGeom prst="line">
            <a:avLst/>
          </a:prstGeom>
          <a:ln w="15875">
            <a:solidFill>
              <a:srgbClr val="475467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333695" y="3987479"/>
            <a:ext cx="709173" cy="170814"/>
          </a:xfrm>
          <a:prstGeom prst="line">
            <a:avLst/>
          </a:prstGeom>
          <a:ln w="15875">
            <a:solidFill>
              <a:srgbClr val="475467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042868" y="3816665"/>
            <a:ext cx="709174" cy="170814"/>
          </a:xfrm>
          <a:prstGeom prst="line">
            <a:avLst/>
          </a:prstGeom>
          <a:ln w="15875">
            <a:solidFill>
              <a:srgbClr val="475467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752042" y="3816665"/>
            <a:ext cx="709174" cy="0"/>
          </a:xfrm>
          <a:prstGeom prst="line">
            <a:avLst/>
          </a:prstGeom>
          <a:ln w="15875">
            <a:solidFill>
              <a:srgbClr val="475467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6461216" y="3645851"/>
            <a:ext cx="709174" cy="170814"/>
          </a:xfrm>
          <a:prstGeom prst="line">
            <a:avLst/>
          </a:prstGeom>
          <a:ln w="15875">
            <a:solidFill>
              <a:srgbClr val="475467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7170390" y="3475037"/>
            <a:ext cx="709173" cy="170814"/>
          </a:xfrm>
          <a:prstGeom prst="line">
            <a:avLst/>
          </a:prstGeom>
          <a:ln w="15875">
            <a:solidFill>
              <a:srgbClr val="475467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7879563" y="3304223"/>
            <a:ext cx="709174" cy="170814"/>
          </a:xfrm>
          <a:prstGeom prst="line">
            <a:avLst/>
          </a:prstGeom>
          <a:ln w="15875">
            <a:solidFill>
              <a:srgbClr val="475467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8588737" y="3133409"/>
            <a:ext cx="709174" cy="170814"/>
          </a:xfrm>
          <a:prstGeom prst="line">
            <a:avLst/>
          </a:prstGeom>
          <a:ln w="15875">
            <a:solidFill>
              <a:srgbClr val="475467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297911" y="3133409"/>
            <a:ext cx="709174" cy="0"/>
          </a:xfrm>
          <a:prstGeom prst="line">
            <a:avLst/>
          </a:prstGeom>
          <a:ln w="15875">
            <a:solidFill>
              <a:srgbClr val="475467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0057885" y="3021649"/>
            <a:ext cx="1524202" cy="223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475467"/>
                </a:solidFill>
                <a:latin typeface="Public Sans"/>
              </a:rPr>
              <a:t>Q2 '25</a:t>
            </a:r>
          </a:p>
        </p:txBody>
      </p:sp>
      <p:cxnSp>
        <p:nvCxnSpPr>
          <p:cNvPr id="59" name="Connector 58"/>
          <p:cNvCxnSpPr/>
          <p:nvPr/>
        </p:nvCxnSpPr>
        <p:spPr>
          <a:xfrm flipV="1">
            <a:off x="1497000" y="4499922"/>
            <a:ext cx="709173" cy="341628"/>
          </a:xfrm>
          <a:prstGeom prst="line">
            <a:avLst/>
          </a:prstGeom>
          <a:ln w="15875">
            <a:solidFill>
              <a:srgbClr val="475467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2206173" y="3816665"/>
            <a:ext cx="709174" cy="683257"/>
          </a:xfrm>
          <a:prstGeom prst="line">
            <a:avLst/>
          </a:prstGeom>
          <a:ln w="15875">
            <a:solidFill>
              <a:srgbClr val="475467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2915347" y="3304223"/>
            <a:ext cx="709174" cy="512442"/>
          </a:xfrm>
          <a:prstGeom prst="line">
            <a:avLst/>
          </a:prstGeom>
          <a:ln w="15875">
            <a:solidFill>
              <a:srgbClr val="475467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624521" y="3133409"/>
            <a:ext cx="709174" cy="170814"/>
          </a:xfrm>
          <a:prstGeom prst="line">
            <a:avLst/>
          </a:prstGeom>
          <a:ln w="15875">
            <a:solidFill>
              <a:srgbClr val="475467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4333695" y="2791780"/>
            <a:ext cx="709173" cy="341629"/>
          </a:xfrm>
          <a:prstGeom prst="line">
            <a:avLst/>
          </a:prstGeom>
          <a:ln w="15875">
            <a:solidFill>
              <a:srgbClr val="475467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5042868" y="2791780"/>
            <a:ext cx="709174" cy="0"/>
          </a:xfrm>
          <a:prstGeom prst="line">
            <a:avLst/>
          </a:prstGeom>
          <a:ln w="15875">
            <a:solidFill>
              <a:srgbClr val="475467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5752042" y="2620966"/>
            <a:ext cx="709174" cy="170814"/>
          </a:xfrm>
          <a:prstGeom prst="line">
            <a:avLst/>
          </a:prstGeom>
          <a:ln w="15875">
            <a:solidFill>
              <a:srgbClr val="475467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6461216" y="2620966"/>
            <a:ext cx="709174" cy="0"/>
          </a:xfrm>
          <a:prstGeom prst="line">
            <a:avLst/>
          </a:prstGeom>
          <a:ln w="15875">
            <a:solidFill>
              <a:srgbClr val="475467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7221190" y="2509206"/>
            <a:ext cx="1524202" cy="223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475467"/>
                </a:solidFill>
                <a:latin typeface="Public Sans"/>
              </a:rPr>
              <a:t>Q3 '25</a:t>
            </a:r>
          </a:p>
        </p:txBody>
      </p:sp>
      <p:cxnSp>
        <p:nvCxnSpPr>
          <p:cNvPr id="68" name="Connector 67"/>
          <p:cNvCxnSpPr/>
          <p:nvPr/>
        </p:nvCxnSpPr>
        <p:spPr>
          <a:xfrm flipV="1">
            <a:off x="1497000" y="4158293"/>
            <a:ext cx="709173" cy="683257"/>
          </a:xfrm>
          <a:prstGeom prst="line">
            <a:avLst/>
          </a:prstGeom>
          <a:ln w="317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2206173" y="2962595"/>
            <a:ext cx="709174" cy="1195698"/>
          </a:xfrm>
          <a:prstGeom prst="line">
            <a:avLst/>
          </a:prstGeom>
          <a:ln w="317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2915347" y="1766896"/>
            <a:ext cx="709174" cy="1195699"/>
          </a:xfrm>
          <a:prstGeom prst="line">
            <a:avLst/>
          </a:prstGeom>
          <a:ln w="317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Oval 70"/>
          <p:cNvSpPr/>
          <p:nvPr/>
        </p:nvSpPr>
        <p:spPr>
          <a:xfrm>
            <a:off x="3573721" y="1716096"/>
            <a:ext cx="101600" cy="101600"/>
          </a:xfrm>
          <a:prstGeom prst="ellipse">
            <a:avLst/>
          </a:prstGeom>
          <a:solidFill>
            <a:srgbClr val="05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604201" y="1746576"/>
            <a:ext cx="40640" cy="40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675321" y="1655136"/>
            <a:ext cx="1524202" cy="223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F4C81"/>
                </a:solidFill>
                <a:latin typeface="Public Sans"/>
              </a:rPr>
              <a:t>Q4 '25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