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anrope"/>
              </a:rPr>
              <a:t>Ad spend vs. revenue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4125" y="5567934"/>
            <a:ext cx="955789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4125" y="5022331"/>
            <a:ext cx="955789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4125" y="4476728"/>
            <a:ext cx="955789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34125" y="3931125"/>
            <a:ext cx="955789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34125" y="3385522"/>
            <a:ext cx="955789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34125" y="2839919"/>
            <a:ext cx="955789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34125" y="2294316"/>
            <a:ext cx="955789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34125" y="1748713"/>
            <a:ext cx="9557895" cy="0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34125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45704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57283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68862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80441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092020" y="1748713"/>
            <a:ext cx="0" cy="3819221"/>
          </a:xfrm>
          <a:prstGeom prst="line">
            <a:avLst/>
          </a:prstGeom>
          <a:ln w="635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34125" y="5567934"/>
            <a:ext cx="9557895" cy="0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34125" y="1748713"/>
            <a:ext cx="0" cy="3819221"/>
          </a:xfrm>
          <a:prstGeom prst="line">
            <a:avLst/>
          </a:prstGeom>
          <a:ln w="9525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3535" y="5443474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535" y="4897871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535" y="4352268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535" y="3806665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535" y="3261062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535" y="2715459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535" y="2169856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350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535" y="1624253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JetBrains Mono"/>
              </a:rPr>
              <a:t>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99137"/>
            <a:ext cx="2548772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1318" y="5599137"/>
            <a:ext cx="2548772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2897" y="5599137"/>
            <a:ext cx="2548772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94476" y="5599137"/>
            <a:ext cx="2548772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6055" y="5599137"/>
            <a:ext cx="2548772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5723" y="5599137"/>
            <a:ext cx="2548772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4125" y="5858458"/>
            <a:ext cx="955789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Manrope"/>
              </a:rPr>
              <a:t>Ad spend ($K)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4125" y="1423111"/>
            <a:ext cx="9557895" cy="3048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Revenue ($K)</a:t>
            </a:r>
          </a:p>
        </p:txBody>
      </p:sp>
      <p:sp>
        <p:nvSpPr>
          <p:cNvPr id="36" name="Oval 35"/>
          <p:cNvSpPr/>
          <p:nvPr/>
        </p:nvSpPr>
        <p:spPr>
          <a:xfrm>
            <a:off x="2617572" y="5013391"/>
            <a:ext cx="127000" cy="1270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9972" y="4970211"/>
            <a:ext cx="33528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Acme</a:t>
            </a:r>
          </a:p>
        </p:txBody>
      </p:sp>
      <p:sp>
        <p:nvSpPr>
          <p:cNvPr id="38" name="Oval 37"/>
          <p:cNvSpPr/>
          <p:nvPr/>
        </p:nvSpPr>
        <p:spPr>
          <a:xfrm>
            <a:off x="4146835" y="4304107"/>
            <a:ext cx="127000" cy="1270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9235" y="4260927"/>
            <a:ext cx="33528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Beta</a:t>
            </a:r>
          </a:p>
        </p:txBody>
      </p:sp>
      <p:sp>
        <p:nvSpPr>
          <p:cNvPr id="40" name="Oval 39"/>
          <p:cNvSpPr/>
          <p:nvPr/>
        </p:nvSpPr>
        <p:spPr>
          <a:xfrm>
            <a:off x="5389361" y="3813064"/>
            <a:ext cx="127000" cy="1270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41761" y="3769884"/>
            <a:ext cx="4191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Gamma</a:t>
            </a:r>
          </a:p>
        </p:txBody>
      </p:sp>
      <p:sp>
        <p:nvSpPr>
          <p:cNvPr id="42" name="Oval 41"/>
          <p:cNvSpPr/>
          <p:nvPr/>
        </p:nvSpPr>
        <p:spPr>
          <a:xfrm>
            <a:off x="6727467" y="3431142"/>
            <a:ext cx="127000" cy="1270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79867" y="3387962"/>
            <a:ext cx="4191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Delta</a:t>
            </a:r>
          </a:p>
        </p:txBody>
      </p:sp>
      <p:sp>
        <p:nvSpPr>
          <p:cNvPr id="44" name="Oval 43"/>
          <p:cNvSpPr/>
          <p:nvPr/>
        </p:nvSpPr>
        <p:spPr>
          <a:xfrm>
            <a:off x="7969993" y="2885539"/>
            <a:ext cx="127000" cy="1270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22393" y="2842359"/>
            <a:ext cx="33528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Echo</a:t>
            </a:r>
          </a:p>
        </p:txBody>
      </p:sp>
      <p:sp>
        <p:nvSpPr>
          <p:cNvPr id="46" name="Oval 45"/>
          <p:cNvSpPr/>
          <p:nvPr/>
        </p:nvSpPr>
        <p:spPr>
          <a:xfrm>
            <a:off x="9308098" y="2339936"/>
            <a:ext cx="127000" cy="127000"/>
          </a:xfrm>
          <a:prstGeom prst="ellipse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60498" y="2296756"/>
            <a:ext cx="58674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Foxtrot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