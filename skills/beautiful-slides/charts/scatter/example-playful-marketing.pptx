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1B1F"/>
                </a:solidFill>
                <a:latin typeface="Bricolage Grotesque"/>
              </a:rPr>
              <a:t>Customer satisfaction vs. retention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34125" y="5567934"/>
            <a:ext cx="955789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4125" y="4931397"/>
            <a:ext cx="955789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4125" y="4294860"/>
            <a:ext cx="955789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34125" y="3658323"/>
            <a:ext cx="955789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34125" y="3021786"/>
            <a:ext cx="955789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34125" y="2385249"/>
            <a:ext cx="955789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34125" y="1748713"/>
            <a:ext cx="955789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34125" y="1748713"/>
            <a:ext cx="0" cy="3819221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28861" y="1748713"/>
            <a:ext cx="0" cy="3819221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23598" y="1748713"/>
            <a:ext cx="0" cy="3819221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18335" y="1748713"/>
            <a:ext cx="0" cy="3819221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13072" y="1748713"/>
            <a:ext cx="0" cy="3819221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07809" y="1748713"/>
            <a:ext cx="0" cy="3819221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02546" y="1748713"/>
            <a:ext cx="0" cy="3819221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97283" y="1748713"/>
            <a:ext cx="0" cy="3819221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092020" y="1748713"/>
            <a:ext cx="0" cy="3819221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34125" y="5567934"/>
            <a:ext cx="9557895" cy="0"/>
          </a:xfrm>
          <a:prstGeom prst="line">
            <a:avLst/>
          </a:prstGeom>
          <a:ln w="9525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34125" y="1748713"/>
            <a:ext cx="0" cy="3819221"/>
          </a:xfrm>
          <a:prstGeom prst="line">
            <a:avLst/>
          </a:prstGeom>
          <a:ln w="9525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3535" y="5443474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535" y="4806937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535" y="4170400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535" y="3533864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535" y="2897327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535" y="2260790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535" y="1624253"/>
            <a:ext cx="799387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534" y="5599137"/>
            <a:ext cx="1699181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9271" y="5599137"/>
            <a:ext cx="1699181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4008" y="5599137"/>
            <a:ext cx="1699181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8745" y="5599137"/>
            <a:ext cx="1699181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3482" y="5599137"/>
            <a:ext cx="1699181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8218" y="5599137"/>
            <a:ext cx="1699181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52955" y="5599137"/>
            <a:ext cx="1699181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7692" y="5599137"/>
            <a:ext cx="1699181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35314" y="5599137"/>
            <a:ext cx="1699181" cy="248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4125" y="5858458"/>
            <a:ext cx="955789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Satisfaction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4125" y="1423111"/>
            <a:ext cx="9557895" cy="3048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Retention rate (%)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507809" y="1748713"/>
            <a:ext cx="0" cy="3819221"/>
          </a:xfrm>
          <a:prstGeom prst="line">
            <a:avLst/>
          </a:prstGeom>
          <a:ln w="12700">
            <a:solidFill>
              <a:srgbClr val="6E6A7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534125" y="3021786"/>
            <a:ext cx="9557895" cy="0"/>
          </a:xfrm>
          <a:prstGeom prst="line">
            <a:avLst/>
          </a:prstGeom>
          <a:ln w="12700">
            <a:solidFill>
              <a:srgbClr val="6E6A7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2904309" y="5186165"/>
            <a:ext cx="127000" cy="12700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56709" y="5142985"/>
            <a:ext cx="4191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Seg A</a:t>
            </a:r>
          </a:p>
        </p:txBody>
      </p:sp>
      <p:sp>
        <p:nvSpPr>
          <p:cNvPr id="44" name="Oval 43"/>
          <p:cNvSpPr/>
          <p:nvPr/>
        </p:nvSpPr>
        <p:spPr>
          <a:xfrm>
            <a:off x="4457467" y="4104052"/>
            <a:ext cx="127000" cy="12700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09867" y="4060872"/>
            <a:ext cx="4191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Seg B</a:t>
            </a:r>
          </a:p>
        </p:txBody>
      </p:sp>
      <p:sp>
        <p:nvSpPr>
          <p:cNvPr id="46" name="Oval 45"/>
          <p:cNvSpPr/>
          <p:nvPr/>
        </p:nvSpPr>
        <p:spPr>
          <a:xfrm>
            <a:off x="6369046" y="4549628"/>
            <a:ext cx="127000" cy="12700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21446" y="4506448"/>
            <a:ext cx="4191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Seg C</a:t>
            </a:r>
          </a:p>
        </p:txBody>
      </p:sp>
      <p:sp>
        <p:nvSpPr>
          <p:cNvPr id="48" name="Oval 47"/>
          <p:cNvSpPr/>
          <p:nvPr/>
        </p:nvSpPr>
        <p:spPr>
          <a:xfrm>
            <a:off x="8400098" y="2449057"/>
            <a:ext cx="127000" cy="12700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52498" y="2405877"/>
            <a:ext cx="4191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Seg D</a:t>
            </a:r>
          </a:p>
        </p:txBody>
      </p:sp>
      <p:sp>
        <p:nvSpPr>
          <p:cNvPr id="50" name="Oval 49"/>
          <p:cNvSpPr/>
          <p:nvPr/>
        </p:nvSpPr>
        <p:spPr>
          <a:xfrm>
            <a:off x="9236414" y="2194442"/>
            <a:ext cx="127000" cy="12700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88814" y="2151262"/>
            <a:ext cx="4191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Seg E</a:t>
            </a:r>
          </a:p>
        </p:txBody>
      </p:sp>
      <p:sp>
        <p:nvSpPr>
          <p:cNvPr id="52" name="Oval 51"/>
          <p:cNvSpPr/>
          <p:nvPr/>
        </p:nvSpPr>
        <p:spPr>
          <a:xfrm>
            <a:off x="9953256" y="2003481"/>
            <a:ext cx="127000" cy="12700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05656" y="1960301"/>
            <a:ext cx="4191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Seg F</a:t>
            </a:r>
          </a:p>
        </p:txBody>
      </p:sp>
      <p:sp>
        <p:nvSpPr>
          <p:cNvPr id="54" name="Oval 53"/>
          <p:cNvSpPr/>
          <p:nvPr/>
        </p:nvSpPr>
        <p:spPr>
          <a:xfrm>
            <a:off x="5054835" y="2640018"/>
            <a:ext cx="127000" cy="12700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07235" y="2596838"/>
            <a:ext cx="4191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Seg 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