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R&amp;D investment vs. patent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717794"/>
            <a:ext cx="955789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4876225"/>
            <a:ext cx="955789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034657"/>
            <a:ext cx="955789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193089"/>
            <a:ext cx="955789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2351521"/>
            <a:ext cx="955789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1509953"/>
            <a:ext cx="955789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27107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20090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13072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6055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99037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92020" y="1509953"/>
            <a:ext cx="0" cy="4207841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34125" y="5717794"/>
            <a:ext cx="9557895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34125" y="1509953"/>
            <a:ext cx="0" cy="4207841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3535" y="5620004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535" y="4778435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3936867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3095299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2253731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1412163"/>
            <a:ext cx="799387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-20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4777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759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0742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3724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6707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9834" y="5748997"/>
            <a:ext cx="2184661" cy="195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4125" y="5954979"/>
            <a:ext cx="95578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R&amp;D ($M)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4125" y="1265631"/>
            <a:ext cx="9557895" cy="2235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Patents filed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534125" y="1509953"/>
            <a:ext cx="9557895" cy="4207841"/>
          </a:xfrm>
          <a:prstGeom prst="line">
            <a:avLst/>
          </a:prstGeom>
          <a:ln w="19050">
            <a:solidFill>
              <a:srgbClr val="0560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461853" y="5149353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4253" y="5132843"/>
            <a:ext cx="50292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StartupA</a:t>
            </a:r>
          </a:p>
        </p:txBody>
      </p:sp>
      <p:sp>
        <p:nvSpPr>
          <p:cNvPr id="37" name="Oval 36"/>
          <p:cNvSpPr/>
          <p:nvPr/>
        </p:nvSpPr>
        <p:spPr>
          <a:xfrm>
            <a:off x="4258344" y="4476098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0744" y="4459588"/>
            <a:ext cx="50292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StartupB</a:t>
            </a:r>
          </a:p>
        </p:txBody>
      </p:sp>
      <p:sp>
        <p:nvSpPr>
          <p:cNvPr id="39" name="Oval 38"/>
          <p:cNvSpPr/>
          <p:nvPr/>
        </p:nvSpPr>
        <p:spPr>
          <a:xfrm>
            <a:off x="4815888" y="4181549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8288" y="4165039"/>
            <a:ext cx="31432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MidCo</a:t>
            </a:r>
          </a:p>
        </p:txBody>
      </p:sp>
      <p:sp>
        <p:nvSpPr>
          <p:cNvPr id="41" name="Oval 40"/>
          <p:cNvSpPr/>
          <p:nvPr/>
        </p:nvSpPr>
        <p:spPr>
          <a:xfrm>
            <a:off x="6090274" y="3339981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2674" y="3323471"/>
            <a:ext cx="44005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BigCorp</a:t>
            </a:r>
          </a:p>
        </p:txBody>
      </p:sp>
      <p:sp>
        <p:nvSpPr>
          <p:cNvPr id="43" name="Oval 42"/>
          <p:cNvSpPr/>
          <p:nvPr/>
        </p:nvSpPr>
        <p:spPr>
          <a:xfrm>
            <a:off x="7046063" y="3634530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8463" y="3618020"/>
            <a:ext cx="44005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Outlier</a:t>
            </a:r>
          </a:p>
        </p:txBody>
      </p:sp>
      <p:sp>
        <p:nvSpPr>
          <p:cNvPr id="45" name="Oval 44"/>
          <p:cNvSpPr/>
          <p:nvPr/>
        </p:nvSpPr>
        <p:spPr>
          <a:xfrm>
            <a:off x="7842555" y="2624648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4955" y="2608138"/>
            <a:ext cx="56578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TechGiant</a:t>
            </a:r>
          </a:p>
        </p:txBody>
      </p:sp>
      <p:sp>
        <p:nvSpPr>
          <p:cNvPr id="47" name="Oval 46"/>
          <p:cNvSpPr/>
          <p:nvPr/>
        </p:nvSpPr>
        <p:spPr>
          <a:xfrm>
            <a:off x="9037291" y="1867237"/>
            <a:ext cx="127000" cy="127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691" y="1850727"/>
            <a:ext cx="50292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MegaCorp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