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6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181514"/>
                </a:solidFill>
                <a:latin typeface="Fraunces"/>
              </a:rPr>
              <a:t>R&amp;D investment vs. patent output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4125" y="5654294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534125" y="4849301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534125" y="4044309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534125" y="3239317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34125" y="2434325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534125" y="1629333"/>
            <a:ext cx="9557895" cy="0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127107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20090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13072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06055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99037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92020" y="1629333"/>
            <a:ext cx="0" cy="4024961"/>
          </a:xfrm>
          <a:prstGeom prst="line">
            <a:avLst/>
          </a:prstGeom>
          <a:ln w="6350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534125" y="5654294"/>
            <a:ext cx="9557895" cy="0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534125" y="1629333"/>
            <a:ext cx="0" cy="4024961"/>
          </a:xfrm>
          <a:prstGeom prst="line">
            <a:avLst/>
          </a:prstGeom>
          <a:ln w="9525">
            <a:solidFill>
              <a:srgbClr val="6F6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03535" y="5547614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3535" y="4742621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3535" y="3937629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535" y="3132637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60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3535" y="2327645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3535" y="1522653"/>
            <a:ext cx="799387" cy="213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-20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34777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27759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20742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40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3724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06707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9834" y="5685497"/>
            <a:ext cx="2184661" cy="213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181514"/>
                </a:solidFill>
                <a:latin typeface="IBM Plex Mono"/>
              </a:rPr>
              <a:t>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34125" y="5909259"/>
            <a:ext cx="9557895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81514"/>
                </a:solidFill>
                <a:latin typeface="Newsreader"/>
              </a:rPr>
              <a:t>R&amp;D ($M)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4125" y="1344371"/>
            <a:ext cx="9557895" cy="26416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1300" b="0">
                <a:solidFill>
                  <a:srgbClr val="181514"/>
                </a:solidFill>
                <a:latin typeface="Newsreader"/>
              </a:rPr>
              <a:t>Patents filed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1534125" y="1629333"/>
            <a:ext cx="9557895" cy="4024961"/>
          </a:xfrm>
          <a:prstGeom prst="line">
            <a:avLst/>
          </a:prstGeom>
          <a:ln w="19050">
            <a:solidFill>
              <a:srgbClr val="9C5B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3461853" y="5107798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4253" y="5073508"/>
            <a:ext cx="61468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StartupA</a:t>
            </a:r>
          </a:p>
        </p:txBody>
      </p:sp>
      <p:sp>
        <p:nvSpPr>
          <p:cNvPr id="37" name="Oval 36"/>
          <p:cNvSpPr/>
          <p:nvPr/>
        </p:nvSpPr>
        <p:spPr>
          <a:xfrm>
            <a:off x="4258344" y="4463804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0744" y="4429514"/>
            <a:ext cx="61468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StartupB</a:t>
            </a:r>
          </a:p>
        </p:txBody>
      </p:sp>
      <p:sp>
        <p:nvSpPr>
          <p:cNvPr id="39" name="Oval 38"/>
          <p:cNvSpPr/>
          <p:nvPr/>
        </p:nvSpPr>
        <p:spPr>
          <a:xfrm>
            <a:off x="4815888" y="4182057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68288" y="4147767"/>
            <a:ext cx="38417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MidCo</a:t>
            </a:r>
          </a:p>
        </p:txBody>
      </p:sp>
      <p:sp>
        <p:nvSpPr>
          <p:cNvPr id="41" name="Oval 40"/>
          <p:cNvSpPr/>
          <p:nvPr/>
        </p:nvSpPr>
        <p:spPr>
          <a:xfrm>
            <a:off x="6090274" y="3377065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42674" y="3342775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BigCorp</a:t>
            </a:r>
          </a:p>
        </p:txBody>
      </p:sp>
      <p:sp>
        <p:nvSpPr>
          <p:cNvPr id="43" name="Oval 42"/>
          <p:cNvSpPr/>
          <p:nvPr/>
        </p:nvSpPr>
        <p:spPr>
          <a:xfrm>
            <a:off x="7046063" y="3658812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98463" y="3624522"/>
            <a:ext cx="53784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Outlier</a:t>
            </a:r>
          </a:p>
        </p:txBody>
      </p:sp>
      <p:sp>
        <p:nvSpPr>
          <p:cNvPr id="45" name="Oval 44"/>
          <p:cNvSpPr/>
          <p:nvPr/>
        </p:nvSpPr>
        <p:spPr>
          <a:xfrm>
            <a:off x="7842555" y="2692822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94955" y="2658532"/>
            <a:ext cx="691515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TechGiant</a:t>
            </a:r>
          </a:p>
        </p:txBody>
      </p:sp>
      <p:sp>
        <p:nvSpPr>
          <p:cNvPr id="47" name="Oval 46"/>
          <p:cNvSpPr/>
          <p:nvPr/>
        </p:nvSpPr>
        <p:spPr>
          <a:xfrm>
            <a:off x="9037291" y="1968329"/>
            <a:ext cx="127000" cy="127000"/>
          </a:xfrm>
          <a:prstGeom prst="ellipse">
            <a:avLst/>
          </a:prstGeom>
          <a:solidFill>
            <a:srgbClr val="8C2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89691" y="1934039"/>
            <a:ext cx="614680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81514"/>
                </a:solidFill>
                <a:latin typeface="Newsreader"/>
              </a:rPr>
              <a:t>MegaCorp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