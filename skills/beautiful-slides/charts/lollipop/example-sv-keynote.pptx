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solidFill>
            <a:srgbClr val="0507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694944"/>
            <a:ext cx="10801807" cy="6629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F5F7FA"/>
                </a:solidFill>
                <a:latin typeface="Manrope"/>
              </a:rPr>
              <a:t>Top 10 accounts by ARR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51024" y="5860796"/>
            <a:ext cx="711200" cy="2489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F5F7FA"/>
                </a:solidFill>
                <a:latin typeface="JetBrains Mono"/>
              </a:rPr>
              <a:t>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66809" y="5860796"/>
            <a:ext cx="711200" cy="2489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F5F7FA"/>
                </a:solidFill>
                <a:latin typeface="JetBrains Mono"/>
              </a:rPr>
              <a:t>0.5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322409" y="1601724"/>
            <a:ext cx="0" cy="4205732"/>
          </a:xfrm>
          <a:prstGeom prst="line">
            <a:avLst/>
          </a:prstGeom>
          <a:ln w="4762">
            <a:solidFill>
              <a:srgbClr val="9A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582594" y="5860796"/>
            <a:ext cx="711200" cy="2489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F5F7FA"/>
                </a:solidFill>
                <a:latin typeface="JetBrains Mono"/>
              </a:rPr>
              <a:t>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938194" y="1601724"/>
            <a:ext cx="0" cy="4205732"/>
          </a:xfrm>
          <a:prstGeom prst="line">
            <a:avLst/>
          </a:prstGeom>
          <a:ln w="4762">
            <a:solidFill>
              <a:srgbClr val="9A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198380" y="5860796"/>
            <a:ext cx="711200" cy="2489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F5F7FA"/>
                </a:solidFill>
                <a:latin typeface="JetBrains Mono"/>
              </a:rPr>
              <a:t>1.5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553980" y="1601724"/>
            <a:ext cx="0" cy="4205732"/>
          </a:xfrm>
          <a:prstGeom prst="line">
            <a:avLst/>
          </a:prstGeom>
          <a:ln w="4762">
            <a:solidFill>
              <a:srgbClr val="9A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814165" y="5860796"/>
            <a:ext cx="711200" cy="2489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F5F7FA"/>
                </a:solidFill>
                <a:latin typeface="JetBrains Mono"/>
              </a:rPr>
              <a:t>2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169765" y="1601724"/>
            <a:ext cx="0" cy="4205732"/>
          </a:xfrm>
          <a:prstGeom prst="line">
            <a:avLst/>
          </a:prstGeom>
          <a:ln w="4762">
            <a:solidFill>
              <a:srgbClr val="9A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429951" y="5860796"/>
            <a:ext cx="711200" cy="2489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F5F7FA"/>
                </a:solidFill>
                <a:latin typeface="JetBrains Mono"/>
              </a:rPr>
              <a:t>2.5M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785551" y="1601724"/>
            <a:ext cx="0" cy="4205732"/>
          </a:xfrm>
          <a:prstGeom prst="line">
            <a:avLst/>
          </a:prstGeom>
          <a:ln w="4762">
            <a:solidFill>
              <a:srgbClr val="9A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706624" y="1601724"/>
            <a:ext cx="0" cy="4205732"/>
          </a:xfrm>
          <a:prstGeom prst="line">
            <a:avLst/>
          </a:prstGeom>
          <a:ln w="9524">
            <a:solidFill>
              <a:srgbClr val="9A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94944" y="1722342"/>
            <a:ext cx="1930400" cy="28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0">
                <a:solidFill>
                  <a:srgbClr val="F5F7FA"/>
                </a:solidFill>
                <a:latin typeface="Manrope"/>
              </a:rPr>
              <a:t>Acme Corp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706624" y="1864582"/>
            <a:ext cx="7755769" cy="0"/>
          </a:xfrm>
          <a:prstGeom prst="line">
            <a:avLst/>
          </a:prstGeom>
          <a:ln w="33120">
            <a:solidFill>
              <a:srgbClr val="9A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10370393" y="1772582"/>
            <a:ext cx="184000" cy="184000"/>
          </a:xfrm>
          <a:prstGeom prst="ellipse">
            <a:avLst/>
          </a:prstGeom>
          <a:solidFill>
            <a:srgbClr val="21D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07733" y="1749012"/>
            <a:ext cx="711200" cy="2311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F5F7FA"/>
                </a:solidFill>
                <a:latin typeface="JetBrains Mono"/>
              </a:rPr>
              <a:t>2.4M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" y="2248058"/>
            <a:ext cx="1930400" cy="28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0">
                <a:solidFill>
                  <a:srgbClr val="F5F7FA"/>
                </a:solidFill>
                <a:latin typeface="Manrope"/>
              </a:rPr>
              <a:t>Globex Inc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706624" y="2390298"/>
            <a:ext cx="6139984" cy="0"/>
          </a:xfrm>
          <a:prstGeom prst="line">
            <a:avLst/>
          </a:prstGeom>
          <a:ln w="33120">
            <a:solidFill>
              <a:srgbClr val="9A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8754608" y="2298298"/>
            <a:ext cx="184000" cy="184000"/>
          </a:xfrm>
          <a:prstGeom prst="ellipse">
            <a:avLst/>
          </a:prstGeom>
          <a:solidFill>
            <a:srgbClr val="21D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91948" y="2274728"/>
            <a:ext cx="711200" cy="2311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F5F7FA"/>
                </a:solidFill>
                <a:latin typeface="JetBrains Mono"/>
              </a:rPr>
              <a:t>1.9M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" y="2773775"/>
            <a:ext cx="1930400" cy="28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0">
                <a:solidFill>
                  <a:srgbClr val="F5F7FA"/>
                </a:solidFill>
                <a:latin typeface="Manrope"/>
              </a:rPr>
              <a:t>Initech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706624" y="2916015"/>
            <a:ext cx="5493670" cy="0"/>
          </a:xfrm>
          <a:prstGeom prst="line">
            <a:avLst/>
          </a:prstGeom>
          <a:ln w="33120">
            <a:solidFill>
              <a:srgbClr val="9A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8108294" y="2824015"/>
            <a:ext cx="184000" cy="184000"/>
          </a:xfrm>
          <a:prstGeom prst="ellipse">
            <a:avLst/>
          </a:prstGeom>
          <a:solidFill>
            <a:srgbClr val="21D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45634" y="2800445"/>
            <a:ext cx="711200" cy="2311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F5F7FA"/>
                </a:solidFill>
                <a:latin typeface="JetBrains Mono"/>
              </a:rPr>
              <a:t>1.7M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" y="3299491"/>
            <a:ext cx="1930400" cy="28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0">
                <a:solidFill>
                  <a:srgbClr val="F5F7FA"/>
                </a:solidFill>
                <a:latin typeface="Manrope"/>
              </a:rPr>
              <a:t>Umbrella Corp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2706624" y="3441731"/>
            <a:ext cx="4201042" cy="0"/>
          </a:xfrm>
          <a:prstGeom prst="line">
            <a:avLst/>
          </a:prstGeom>
          <a:ln w="33120">
            <a:solidFill>
              <a:srgbClr val="9A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6815666" y="3349731"/>
            <a:ext cx="184000" cy="184000"/>
          </a:xfrm>
          <a:prstGeom prst="ellipse">
            <a:avLst/>
          </a:prstGeom>
          <a:solidFill>
            <a:srgbClr val="21D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53006" y="3326161"/>
            <a:ext cx="711200" cy="2311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F5F7FA"/>
                </a:solidFill>
                <a:latin typeface="JetBrains Mono"/>
              </a:rPr>
              <a:t>1.3M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" y="3825208"/>
            <a:ext cx="1930400" cy="28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0">
                <a:solidFill>
                  <a:srgbClr val="F5F7FA"/>
                </a:solidFill>
                <a:latin typeface="Manrope"/>
              </a:rPr>
              <a:t>Wonka Industries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706624" y="3967448"/>
            <a:ext cx="2908413" cy="0"/>
          </a:xfrm>
          <a:prstGeom prst="line">
            <a:avLst/>
          </a:prstGeom>
          <a:ln w="33120">
            <a:solidFill>
              <a:srgbClr val="9A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5523037" y="3875448"/>
            <a:ext cx="184000" cy="184000"/>
          </a:xfrm>
          <a:prstGeom prst="ellipse">
            <a:avLst/>
          </a:prstGeom>
          <a:solidFill>
            <a:srgbClr val="21D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60377" y="3851878"/>
            <a:ext cx="711200" cy="2311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F5F7FA"/>
                </a:solidFill>
                <a:latin typeface="JetBrains Mono"/>
              </a:rPr>
              <a:t>0.9M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4" y="4350924"/>
            <a:ext cx="1930400" cy="28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0">
                <a:solidFill>
                  <a:srgbClr val="F5F7FA"/>
                </a:solidFill>
                <a:latin typeface="Manrope"/>
              </a:rPr>
              <a:t>Stark Ent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2706624" y="4493164"/>
            <a:ext cx="2746835" cy="0"/>
          </a:xfrm>
          <a:prstGeom prst="line">
            <a:avLst/>
          </a:prstGeom>
          <a:ln w="33120">
            <a:solidFill>
              <a:srgbClr val="9A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5361459" y="4401164"/>
            <a:ext cx="184000" cy="184000"/>
          </a:xfrm>
          <a:prstGeom prst="ellipse">
            <a:avLst/>
          </a:prstGeom>
          <a:solidFill>
            <a:srgbClr val="21D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598799" y="4377594"/>
            <a:ext cx="711200" cy="2311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F5F7FA"/>
                </a:solidFill>
                <a:latin typeface="JetBrains Mono"/>
              </a:rPr>
              <a:t>0.8M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4944" y="4876641"/>
            <a:ext cx="1930400" cy="28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0">
                <a:solidFill>
                  <a:srgbClr val="F5F7FA"/>
                </a:solidFill>
                <a:latin typeface="Manrope"/>
              </a:rPr>
              <a:t>Wayne Corp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2706624" y="5018881"/>
            <a:ext cx="2326730" cy="0"/>
          </a:xfrm>
          <a:prstGeom prst="line">
            <a:avLst/>
          </a:prstGeom>
          <a:ln w="33120">
            <a:solidFill>
              <a:srgbClr val="9A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4941354" y="4926881"/>
            <a:ext cx="184000" cy="184000"/>
          </a:xfrm>
          <a:prstGeom prst="ellipse">
            <a:avLst/>
          </a:prstGeom>
          <a:solidFill>
            <a:srgbClr val="21D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78694" y="4903311"/>
            <a:ext cx="711200" cy="2311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F5F7FA"/>
                </a:solidFill>
                <a:latin typeface="JetBrains Mono"/>
              </a:rPr>
              <a:t>0.7M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4944" y="5402357"/>
            <a:ext cx="1930400" cy="28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0">
                <a:solidFill>
                  <a:srgbClr val="F5F7FA"/>
                </a:solidFill>
                <a:latin typeface="Manrope"/>
              </a:rPr>
              <a:t>Hooli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2706624" y="5544597"/>
            <a:ext cx="2100521" cy="0"/>
          </a:xfrm>
          <a:prstGeom prst="line">
            <a:avLst/>
          </a:prstGeom>
          <a:ln w="33120">
            <a:solidFill>
              <a:srgbClr val="9A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4715145" y="5452597"/>
            <a:ext cx="184000" cy="184000"/>
          </a:xfrm>
          <a:prstGeom prst="ellipse">
            <a:avLst/>
          </a:prstGeom>
          <a:solidFill>
            <a:srgbClr val="21D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52485" y="5429027"/>
            <a:ext cx="711200" cy="2311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F5F7FA"/>
                </a:solidFill>
                <a:latin typeface="JetBrains Mono"/>
              </a:rPr>
              <a:t>0.7M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