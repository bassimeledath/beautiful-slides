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406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>
                <a:solidFill>
                  <a:srgbClr val="101828"/>
                </a:solidFill>
                <a:latin typeface="Public Sans"/>
              </a:rPr>
              <a:t>Platform Feature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5940" y="955040"/>
            <a:ext cx="1639519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01828"/>
                </a:solidFill>
                <a:latin typeface="Public Sans"/>
              </a:rPr>
              <a:t>SSO/SAML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45459" y="955040"/>
            <a:ext cx="1639519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01828"/>
                </a:solidFill>
                <a:latin typeface="Public Sans"/>
              </a:rPr>
              <a:t>REST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4978" y="955040"/>
            <a:ext cx="1639519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01828"/>
                </a:solidFill>
                <a:latin typeface="Public Sans"/>
              </a:rPr>
              <a:t>Mobile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24497" y="955040"/>
            <a:ext cx="1639519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01828"/>
                </a:solidFill>
                <a:latin typeface="Public Sans"/>
              </a:rPr>
              <a:t>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4016" y="955040"/>
            <a:ext cx="1639519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01828"/>
                </a:solidFill>
                <a:latin typeface="Public Sans"/>
              </a:rPr>
              <a:t>Custom Reports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03535" y="955040"/>
            <a:ext cx="1639519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01828"/>
                </a:solidFill>
                <a:latin typeface="Public Sans"/>
              </a:rPr>
              <a:t>24/7 Support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374140"/>
            <a:ext cx="11094415" cy="1233805"/>
          </a:xfrm>
          <a:prstGeom prst="rect">
            <a:avLst/>
          </a:prstGeom>
          <a:solidFill>
            <a:srgbClr val="EC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9760" y="1374140"/>
            <a:ext cx="1115060" cy="12338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F4C81"/>
                </a:solidFill>
                <a:latin typeface="Public Sans"/>
              </a:rPr>
              <a:t>Our Platform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17248" y="1682591"/>
            <a:ext cx="616902" cy="616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05603A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6767" y="1682591"/>
            <a:ext cx="616902" cy="616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05603A"/>
                </a:solidFill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96286" y="1682591"/>
            <a:ext cx="616902" cy="616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05603A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5805" y="1682591"/>
            <a:ext cx="616902" cy="616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05603A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75324" y="1682591"/>
            <a:ext cx="616902" cy="616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05603A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4843" y="1682591"/>
            <a:ext cx="616902" cy="616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05603A"/>
                </a:solidFill>
              </a:rPr>
              <a:t>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607945"/>
            <a:ext cx="11094415" cy="1233805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9760" y="2607945"/>
            <a:ext cx="1115060" cy="12338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Public Sans"/>
              </a:rPr>
              <a:t>Competitor 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17248" y="2916396"/>
            <a:ext cx="616902" cy="616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05603A"/>
                </a:solidFill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6767" y="2916396"/>
            <a:ext cx="616902" cy="616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05603A"/>
                </a:solidFill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96286" y="2916396"/>
            <a:ext cx="616902" cy="616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01828"/>
                </a:solidFill>
              </a:rPr>
              <a:t>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5805" y="2916396"/>
            <a:ext cx="616902" cy="616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0">
                <a:solidFill>
                  <a:srgbClr val="0F4C81"/>
                </a:solidFill>
              </a:rPr>
              <a:t>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75324" y="2916396"/>
            <a:ext cx="616902" cy="616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01828"/>
                </a:solidFill>
              </a:rPr>
              <a:t>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4843" y="2916396"/>
            <a:ext cx="616902" cy="616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05603A"/>
                </a:solidFill>
              </a:rPr>
              <a:t>✓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841750"/>
            <a:ext cx="11094415" cy="123380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9760" y="3841750"/>
            <a:ext cx="1115060" cy="12338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Public Sans"/>
              </a:rPr>
              <a:t>Competitor 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17248" y="4150201"/>
            <a:ext cx="616902" cy="616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05603A"/>
                </a:solidFill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56767" y="4150201"/>
            <a:ext cx="616902" cy="616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01828"/>
                </a:solidFill>
              </a:rPr>
              <a:t>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596286" y="4150201"/>
            <a:ext cx="616902" cy="616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600" b="1">
                <a:solidFill>
                  <a:srgbClr val="05603A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35805" y="4150201"/>
            <a:ext cx="616902" cy="616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01828"/>
                </a:solidFill>
              </a:rPr>
              <a:t>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5324" y="4150201"/>
            <a:ext cx="616902" cy="616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01828"/>
                </a:solidFill>
              </a:rPr>
              <a:t>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4843" y="4150201"/>
            <a:ext cx="616902" cy="616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0">
                <a:solidFill>
                  <a:srgbClr val="0F4C81"/>
                </a:solidFill>
              </a:rPr>
              <a:t>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5075555"/>
            <a:ext cx="11094415" cy="1233805"/>
          </a:xfrm>
          <a:prstGeom prst="rect">
            <a:avLst/>
          </a:prstGeom>
          <a:solidFill>
            <a:srgbClr val="F4F5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9760" y="5075555"/>
            <a:ext cx="1115060" cy="123380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>
                <a:solidFill>
                  <a:srgbClr val="101828"/>
                </a:solidFill>
                <a:latin typeface="Public Sans"/>
              </a:rPr>
              <a:t>Competitor C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17248" y="5384006"/>
            <a:ext cx="616902" cy="616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01828"/>
                </a:solidFill>
              </a:rPr>
              <a:t>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56767" y="5384006"/>
            <a:ext cx="616902" cy="616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01828"/>
                </a:solidFill>
              </a:rPr>
              <a:t>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596286" y="5384006"/>
            <a:ext cx="616902" cy="616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0">
                <a:solidFill>
                  <a:srgbClr val="0F4C81"/>
                </a:solidFill>
              </a:rPr>
              <a:t>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35805" y="5384006"/>
            <a:ext cx="616902" cy="616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01828"/>
                </a:solidFill>
              </a:rPr>
              <a:t>✕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75324" y="5384006"/>
            <a:ext cx="616902" cy="616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01828"/>
                </a:solidFill>
              </a:rPr>
              <a:t>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4843" y="5384006"/>
            <a:ext cx="616902" cy="616902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2400" b="1">
                <a:solidFill>
                  <a:srgbClr val="101828"/>
                </a:solidFill>
              </a:rPr>
              <a:t>✕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6309360"/>
            <a:ext cx="11094415" cy="4762"/>
          </a:xfrm>
          <a:prstGeom prst="rect">
            <a:avLst/>
          </a:prstGeom>
          <a:solidFill>
            <a:srgbClr val="4754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