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10819" y="610819"/>
            <a:ext cx="10970057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2201C"/>
                </a:solidFill>
                <a:latin typeface="Instrument Serif"/>
              </a:rPr>
              <a:t>Q2 Goal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10819" y="1362659"/>
            <a:ext cx="6582034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1">
                <a:solidFill>
                  <a:srgbClr val="22201C"/>
                </a:solidFill>
                <a:latin typeface="Instrument Sans"/>
              </a:rPr>
              <a:t>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92853" y="1362659"/>
            <a:ext cx="4388022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$8.4M / $10.0M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0819" y="1647139"/>
            <a:ext cx="10970057" cy="293071"/>
          </a:xfrm>
          <a:prstGeom prst="roundRect">
            <a:avLst>
              <a:gd name="adj" fmla="val 3250"/>
            </a:avLst>
          </a:prstGeom>
          <a:solidFill>
            <a:srgbClr val="E7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10819" y="1647139"/>
            <a:ext cx="923794" cy="293071"/>
          </a:xfrm>
          <a:prstGeom prst="roundRect">
            <a:avLst>
              <a:gd name="adj" fmla="val 3250"/>
            </a:avLst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697874" y="1573872"/>
            <a:ext cx="25400" cy="439605"/>
          </a:xfrm>
          <a:prstGeom prst="rect">
            <a:avLst/>
          </a:prstGeom>
          <a:solidFill>
            <a:srgbClr val="22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0819" y="2062130"/>
            <a:ext cx="6582034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1">
                <a:solidFill>
                  <a:srgbClr val="22201C"/>
                </a:solidFill>
                <a:latin typeface="Instrument Sans"/>
              </a:rPr>
              <a:t>New Logos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92853" y="2062130"/>
            <a:ext cx="4388022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34 / 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0819" y="2346610"/>
            <a:ext cx="10970057" cy="293071"/>
          </a:xfrm>
          <a:prstGeom prst="roundRect">
            <a:avLst>
              <a:gd name="adj" fmla="val 3250"/>
            </a:avLst>
          </a:prstGeom>
          <a:solidFill>
            <a:srgbClr val="E7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10819" y="2346610"/>
            <a:ext cx="3739167" cy="293071"/>
          </a:xfrm>
          <a:prstGeom prst="roundRect">
            <a:avLst>
              <a:gd name="adj" fmla="val 3250"/>
            </a:avLst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97139" y="2273343"/>
            <a:ext cx="25400" cy="439605"/>
          </a:xfrm>
          <a:prstGeom prst="rect">
            <a:avLst/>
          </a:prstGeom>
          <a:solidFill>
            <a:srgbClr val="22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0819" y="2761601"/>
            <a:ext cx="6582034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1">
                <a:solidFill>
                  <a:srgbClr val="22201C"/>
                </a:solidFill>
                <a:latin typeface="Instrument Sans"/>
              </a:rPr>
              <a:t>NPS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2853" y="2761601"/>
            <a:ext cx="4388022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68 / 70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0819" y="3046081"/>
            <a:ext cx="10970057" cy="293071"/>
          </a:xfrm>
          <a:prstGeom prst="roundRect">
            <a:avLst>
              <a:gd name="adj" fmla="val 3250"/>
            </a:avLst>
          </a:prstGeom>
          <a:solidFill>
            <a:srgbClr val="E7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0819" y="3046081"/>
            <a:ext cx="7478334" cy="293071"/>
          </a:xfrm>
          <a:prstGeom prst="roundRect">
            <a:avLst>
              <a:gd name="adj" fmla="val 3250"/>
            </a:avLst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96404" y="2972814"/>
            <a:ext cx="25400" cy="439605"/>
          </a:xfrm>
          <a:prstGeom prst="rect">
            <a:avLst/>
          </a:prstGeom>
          <a:solidFill>
            <a:srgbClr val="22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0819" y="3461072"/>
            <a:ext cx="6582034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1">
                <a:solidFill>
                  <a:srgbClr val="22201C"/>
                </a:solidFill>
                <a:latin typeface="Instrument Sans"/>
              </a:rPr>
              <a:t>Retention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92853" y="3461072"/>
            <a:ext cx="4388022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94% / 95%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0819" y="3745552"/>
            <a:ext cx="10970057" cy="293071"/>
          </a:xfrm>
          <a:prstGeom prst="roundRect">
            <a:avLst>
              <a:gd name="adj" fmla="val 3250"/>
            </a:avLst>
          </a:prstGeom>
          <a:solidFill>
            <a:srgbClr val="E7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0819" y="3745552"/>
            <a:ext cx="10337697" cy="293071"/>
          </a:xfrm>
          <a:prstGeom prst="roundRect">
            <a:avLst>
              <a:gd name="adj" fmla="val 3250"/>
            </a:avLst>
          </a:prstGeom>
          <a:solidFill>
            <a:srgbClr val="9A6B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045792" y="3672285"/>
            <a:ext cx="25400" cy="439605"/>
          </a:xfrm>
          <a:prstGeom prst="rect">
            <a:avLst/>
          </a:prstGeom>
          <a:solidFill>
            <a:srgbClr val="22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0819" y="4160543"/>
            <a:ext cx="6582034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l"/>
            <a:r>
              <a:rPr sz="1400" b="1">
                <a:solidFill>
                  <a:srgbClr val="22201C"/>
                </a:solidFill>
                <a:latin typeface="Instrument Sans"/>
              </a:rPr>
              <a:t>CSAT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2853" y="4160543"/>
            <a:ext cx="4388022" cy="28448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r"/>
            <a:r>
              <a:rPr sz="1300" b="0">
                <a:solidFill>
                  <a:srgbClr val="22201C"/>
                </a:solidFill>
                <a:latin typeface="Instrument Sans"/>
              </a:rPr>
              <a:t>4.2 / 4.5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0819" y="4445023"/>
            <a:ext cx="10970057" cy="293071"/>
          </a:xfrm>
          <a:prstGeom prst="roundRect">
            <a:avLst>
              <a:gd name="adj" fmla="val 3250"/>
            </a:avLst>
          </a:prstGeom>
          <a:solidFill>
            <a:srgbClr val="E7E6E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0819" y="4445023"/>
            <a:ext cx="461897" cy="293071"/>
          </a:xfrm>
          <a:prstGeom prst="roundRect">
            <a:avLst>
              <a:gd name="adj" fmla="val 3250"/>
            </a:avLst>
          </a:prstGeom>
          <a:solidFill>
            <a:srgbClr val="7C857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093008" y="4371756"/>
            <a:ext cx="25400" cy="439605"/>
          </a:xfrm>
          <a:prstGeom prst="rect">
            <a:avLst/>
          </a:prstGeom>
          <a:solidFill>
            <a:srgbClr val="2220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