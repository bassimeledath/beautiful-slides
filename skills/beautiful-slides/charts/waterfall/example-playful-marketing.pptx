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B1B1F"/>
                </a:solidFill>
                <a:latin typeface="Bricolage Grotesque"/>
              </a:rPr>
              <a:t>Revenue bridge, Q4 to 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5409947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-20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4940587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57224" y="5065046"/>
            <a:ext cx="1012616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94944" y="4471227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7224" y="4595686"/>
            <a:ext cx="1012616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4944" y="4001867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40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57224" y="4126326"/>
            <a:ext cx="1012616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4944" y="3532506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60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7224" y="3656965"/>
            <a:ext cx="1012616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4944" y="3063146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80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57224" y="3187605"/>
            <a:ext cx="1012616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2593786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57224" y="2718245"/>
            <a:ext cx="1012616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4944" y="2124426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120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57224" y="2248885"/>
            <a:ext cx="1012616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4944" y="1655065"/>
            <a:ext cx="408940" cy="2489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140M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57224" y="1779524"/>
            <a:ext cx="10126167" cy="0"/>
          </a:xfrm>
          <a:prstGeom prst="line">
            <a:avLst/>
          </a:prstGeom>
          <a:ln w="4762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7224" y="5065046"/>
            <a:ext cx="10126167" cy="0"/>
          </a:xfrm>
          <a:prstGeom prst="line">
            <a:avLst/>
          </a:prstGeom>
          <a:ln w="9524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359747" y="2718245"/>
            <a:ext cx="1282647" cy="2346801"/>
          </a:xfrm>
          <a:prstGeom prst="roundRect">
            <a:avLst>
              <a:gd name="adj" fmla="val 4455"/>
            </a:avLst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7224" y="5610606"/>
            <a:ext cx="168769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Q4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9747" y="2469325"/>
            <a:ext cx="128264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100M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47441" y="2295821"/>
            <a:ext cx="1282647" cy="422424"/>
          </a:xfrm>
          <a:prstGeom prst="roundRect">
            <a:avLst>
              <a:gd name="adj" fmla="val 13529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2642395" y="2718245"/>
            <a:ext cx="405046" cy="0"/>
          </a:xfrm>
          <a:prstGeom prst="line">
            <a:avLst/>
          </a:prstGeom>
          <a:ln w="4762" a:prstDash="">
            <a:solidFill>
              <a:srgbClr val="6E6A73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844918" y="5610606"/>
            <a:ext cx="168769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New logos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7441" y="2046901"/>
            <a:ext cx="128264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+18M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35136" y="2014205"/>
            <a:ext cx="1282647" cy="281616"/>
          </a:xfrm>
          <a:prstGeom prst="roundRect">
            <a:avLst>
              <a:gd name="adj" fmla="val 20293"/>
            </a:avLst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330089" y="2295821"/>
            <a:ext cx="405047" cy="0"/>
          </a:xfrm>
          <a:prstGeom prst="line">
            <a:avLst/>
          </a:prstGeom>
          <a:ln w="4762" a:prstDash="">
            <a:solidFill>
              <a:srgbClr val="6E6A73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532613" y="5610606"/>
            <a:ext cx="168769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5136" y="1765285"/>
            <a:ext cx="128264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+12M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22830" y="2014205"/>
            <a:ext cx="1282647" cy="187744"/>
          </a:xfrm>
          <a:prstGeom prst="roundRect">
            <a:avLst>
              <a:gd name="adj" fmla="val 30440"/>
            </a:avLst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017784" y="2014205"/>
            <a:ext cx="405046" cy="0"/>
          </a:xfrm>
          <a:prstGeom prst="line">
            <a:avLst/>
          </a:prstGeom>
          <a:ln w="4762" a:prstDash="">
            <a:solidFill>
              <a:srgbClr val="6E6A73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20307" y="5610606"/>
            <a:ext cx="168769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Churn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2830" y="2219729"/>
            <a:ext cx="128264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-8M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0525" y="2201949"/>
            <a:ext cx="1282647" cy="117340"/>
          </a:xfrm>
          <a:prstGeom prst="roundRect">
            <a:avLst>
              <a:gd name="adj" fmla="val 48704"/>
            </a:avLst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7705478" y="2201949"/>
            <a:ext cx="405047" cy="0"/>
          </a:xfrm>
          <a:prstGeom prst="line">
            <a:avLst/>
          </a:prstGeom>
          <a:ln w="4762" a:prstDash="">
            <a:solidFill>
              <a:srgbClr val="6E6A73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908002" y="5610606"/>
            <a:ext cx="168769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Contraction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0525" y="2337069"/>
            <a:ext cx="128264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-5M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798219" y="2319289"/>
            <a:ext cx="1282647" cy="2745757"/>
          </a:xfrm>
          <a:prstGeom prst="roundRect">
            <a:avLst>
              <a:gd name="adj" fmla="val 4455"/>
            </a:avLst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9393173" y="2319289"/>
            <a:ext cx="405046" cy="0"/>
          </a:xfrm>
          <a:prstGeom prst="line">
            <a:avLst/>
          </a:prstGeom>
          <a:ln w="4762" a:prstDash="">
            <a:solidFill>
              <a:srgbClr val="6E6A73"/>
            </a:solidFill>
            <a:prstDash a: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595696" y="5610606"/>
            <a:ext cx="1687694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Q1 Revenue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98219" y="2070369"/>
            <a:ext cx="1282647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Recursive Mono"/>
              </a:rPr>
              <a:t>117M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