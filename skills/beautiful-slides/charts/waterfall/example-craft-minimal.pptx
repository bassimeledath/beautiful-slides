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201C"/>
                </a:solidFill>
                <a:latin typeface="Instrument Serif"/>
              </a:rPr>
              <a:t>Cost buildup per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511546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4851019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1184" y="4957699"/>
            <a:ext cx="1022268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4190492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1184" y="4297172"/>
            <a:ext cx="1022268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3529965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40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1184" y="3636645"/>
            <a:ext cx="1022268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2869438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60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1184" y="2976118"/>
            <a:ext cx="1022268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2208911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80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1184" y="2315591"/>
            <a:ext cx="1022268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1548384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1184" y="1655064"/>
            <a:ext cx="1022268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1184" y="4957699"/>
            <a:ext cx="10222687" cy="0"/>
          </a:xfrm>
          <a:prstGeom prst="line">
            <a:avLst/>
          </a:prstGeom>
          <a:ln w="9524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36528" y="3570593"/>
            <a:ext cx="1553848" cy="1387106"/>
          </a:xfrm>
          <a:prstGeom prst="roundRect">
            <a:avLst>
              <a:gd name="adj" fmla="val 686"/>
            </a:avLst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1184" y="5684266"/>
            <a:ext cx="2044537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Materials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6528" y="3357233"/>
            <a:ext cx="1553848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42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1065" y="2645855"/>
            <a:ext cx="1553848" cy="924738"/>
          </a:xfrm>
          <a:prstGeom prst="roundRect">
            <a:avLst>
              <a:gd name="adj" fmla="val 1030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890376" y="3570593"/>
            <a:ext cx="490689" cy="0"/>
          </a:xfrm>
          <a:prstGeom prst="line">
            <a:avLst/>
          </a:prstGeom>
          <a:ln w="4762" a:prstDash="">
            <a:solidFill>
              <a:srgbClr val="7B776F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135721" y="5684266"/>
            <a:ext cx="2044537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Labor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1065" y="2432495"/>
            <a:ext cx="1553848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+28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25603" y="2150460"/>
            <a:ext cx="1553848" cy="495395"/>
          </a:xfrm>
          <a:prstGeom prst="roundRect">
            <a:avLst>
              <a:gd name="adj" fmla="val 1922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934914" y="2645855"/>
            <a:ext cx="490689" cy="0"/>
          </a:xfrm>
          <a:prstGeom prst="line">
            <a:avLst/>
          </a:prstGeom>
          <a:ln w="4762" a:prstDash="">
            <a:solidFill>
              <a:srgbClr val="7B776F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80258" y="5684266"/>
            <a:ext cx="2044537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Overhead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5603" y="1937100"/>
            <a:ext cx="1553848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+15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70140" y="2150460"/>
            <a:ext cx="1553848" cy="198158"/>
          </a:xfrm>
          <a:prstGeom prst="roundRect">
            <a:avLst>
              <a:gd name="adj" fmla="val 4806"/>
            </a:avLst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979451" y="2150460"/>
            <a:ext cx="490689" cy="0"/>
          </a:xfrm>
          <a:prstGeom prst="line">
            <a:avLst/>
          </a:prstGeom>
          <a:ln w="4762" a:prstDash="">
            <a:solidFill>
              <a:srgbClr val="7B776F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24796" y="5684266"/>
            <a:ext cx="2044537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Rebates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140" y="2363858"/>
            <a:ext cx="1553848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-6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14678" y="2348618"/>
            <a:ext cx="1553848" cy="2609081"/>
          </a:xfrm>
          <a:prstGeom prst="roundRect">
            <a:avLst>
              <a:gd name="adj" fmla="val 612"/>
            </a:avLst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023989" y="2348618"/>
            <a:ext cx="490689" cy="0"/>
          </a:xfrm>
          <a:prstGeom prst="line">
            <a:avLst/>
          </a:prstGeom>
          <a:ln w="4762" a:prstDash="">
            <a:solidFill>
              <a:srgbClr val="7B776F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269333" y="5684266"/>
            <a:ext cx="2044537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22201C"/>
                </a:solidFill>
                <a:latin typeface="Instrument Sans"/>
              </a:rPr>
              <a:t>Total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14678" y="2135258"/>
            <a:ext cx="1553848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