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solidFill>
            <a:srgbClr val="050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0186" y="580186"/>
            <a:ext cx="11031323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Manrope"/>
              </a:rPr>
              <a:t>Monthly active users by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0186" y="1261733"/>
            <a:ext cx="11031323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5F7FA"/>
                </a:solidFill>
                <a:latin typeface="Manrope"/>
              </a:rPr>
              <a:t>Users (thousands)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726203" y="5566081"/>
            <a:ext cx="9541501" cy="0"/>
          </a:xfrm>
          <a:prstGeom prst="line">
            <a:avLst/>
          </a:prstGeom>
          <a:ln w="635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726203" y="4966919"/>
            <a:ext cx="9541501" cy="0"/>
          </a:xfrm>
          <a:prstGeom prst="line">
            <a:avLst/>
          </a:prstGeom>
          <a:ln w="635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726203" y="4367758"/>
            <a:ext cx="9541501" cy="0"/>
          </a:xfrm>
          <a:prstGeom prst="line">
            <a:avLst/>
          </a:prstGeom>
          <a:ln w="635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726203" y="3768597"/>
            <a:ext cx="9541501" cy="0"/>
          </a:xfrm>
          <a:prstGeom prst="line">
            <a:avLst/>
          </a:prstGeom>
          <a:ln w="635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726203" y="3169436"/>
            <a:ext cx="9541501" cy="0"/>
          </a:xfrm>
          <a:prstGeom prst="line">
            <a:avLst/>
          </a:prstGeom>
          <a:ln w="635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726203" y="2570275"/>
            <a:ext cx="9541501" cy="0"/>
          </a:xfrm>
          <a:prstGeom prst="line">
            <a:avLst/>
          </a:prstGeom>
          <a:ln w="635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726203" y="1971114"/>
            <a:ext cx="9541501" cy="0"/>
          </a:xfrm>
          <a:prstGeom prst="line">
            <a:avLst/>
          </a:prstGeom>
          <a:ln w="635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05324" y="5441621"/>
            <a:ext cx="1088716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-100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5324" y="4842460"/>
            <a:ext cx="1088716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5324" y="4243299"/>
            <a:ext cx="1088716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324" y="3644138"/>
            <a:ext cx="1088716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200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5324" y="3044976"/>
            <a:ext cx="1088716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300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24" y="2445815"/>
            <a:ext cx="1088716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400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24" y="1846654"/>
            <a:ext cx="1088716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500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726203" y="1971114"/>
            <a:ext cx="0" cy="3594967"/>
          </a:xfrm>
          <a:prstGeom prst="line">
            <a:avLst/>
          </a:prstGeom>
          <a:ln w="9525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726203" y="5566081"/>
            <a:ext cx="9541501" cy="0"/>
          </a:xfrm>
          <a:prstGeom prst="line">
            <a:avLst/>
          </a:prstGeom>
          <a:ln w="9525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90103" y="5598244"/>
            <a:ext cx="1272200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Jan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57512" y="5598244"/>
            <a:ext cx="1272200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Feb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24921" y="5598244"/>
            <a:ext cx="1272200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Mar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92330" y="5598244"/>
            <a:ext cx="1272200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Apr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9739" y="5598244"/>
            <a:ext cx="1272200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May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27148" y="5598244"/>
            <a:ext cx="1272200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Jun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94558" y="5598244"/>
            <a:ext cx="1272200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Jul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61967" y="5598244"/>
            <a:ext cx="1272200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Aug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29376" y="5598244"/>
            <a:ext cx="1272200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Sep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96785" y="5598244"/>
            <a:ext cx="1272200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Oct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64194" y="5598244"/>
            <a:ext cx="1272200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Nov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53735" y="5598244"/>
            <a:ext cx="1272200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Dec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26203" y="5893446"/>
            <a:ext cx="954150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F5F7FA"/>
                </a:solidFill>
                <a:latin typeface="Manrope"/>
              </a:rPr>
              <a:t>Month</a:t>
            </a:r>
          </a:p>
        </p:txBody>
      </p:sp>
      <p:sp>
        <p:nvSpPr>
          <p:cNvPr id="34" name="Freeform 33"/>
          <p:cNvSpPr/>
          <p:nvPr/>
        </p:nvSpPr>
        <p:spPr>
          <a:xfrm>
            <a:off x="1726203" y="2684115"/>
            <a:ext cx="9541501" cy="1084482"/>
          </a:xfrm>
          <a:custGeom>
            <a:avLst/>
            <a:gdLst/>
            <a:ahLst/>
            <a:cxnLst/>
            <a:rect l="l" t="t" r="r" b="b"/>
            <a:pathLst>
              <a:path w="9541501" h="1084482">
                <a:moveTo>
                  <a:pt x="0" y="904734"/>
                </a:moveTo>
                <a:lnTo>
                  <a:pt x="867409" y="814859"/>
                </a:lnTo>
                <a:lnTo>
                  <a:pt x="1734818" y="736969"/>
                </a:lnTo>
                <a:lnTo>
                  <a:pt x="2602227" y="653086"/>
                </a:lnTo>
                <a:lnTo>
                  <a:pt x="3469636" y="575195"/>
                </a:lnTo>
                <a:lnTo>
                  <a:pt x="4337045" y="485321"/>
                </a:lnTo>
                <a:lnTo>
                  <a:pt x="5204455" y="395447"/>
                </a:lnTo>
                <a:lnTo>
                  <a:pt x="6071864" y="311564"/>
                </a:lnTo>
                <a:lnTo>
                  <a:pt x="6939273" y="245656"/>
                </a:lnTo>
                <a:lnTo>
                  <a:pt x="7806682" y="155782"/>
                </a:lnTo>
                <a:lnTo>
                  <a:pt x="8674091" y="77891"/>
                </a:lnTo>
                <a:lnTo>
                  <a:pt x="9541501" y="0"/>
                </a:lnTo>
                <a:lnTo>
                  <a:pt x="9541501" y="347514"/>
                </a:lnTo>
                <a:lnTo>
                  <a:pt x="8674091" y="407430"/>
                </a:lnTo>
                <a:lnTo>
                  <a:pt x="7806682" y="467346"/>
                </a:lnTo>
                <a:lnTo>
                  <a:pt x="6939273" y="545237"/>
                </a:lnTo>
                <a:lnTo>
                  <a:pt x="6071864" y="599161"/>
                </a:lnTo>
                <a:lnTo>
                  <a:pt x="5204455" y="665069"/>
                </a:lnTo>
                <a:lnTo>
                  <a:pt x="4337045" y="736969"/>
                </a:lnTo>
                <a:lnTo>
                  <a:pt x="3469636" y="814859"/>
                </a:lnTo>
                <a:lnTo>
                  <a:pt x="2602227" y="880767"/>
                </a:lnTo>
                <a:lnTo>
                  <a:pt x="1734818" y="946675"/>
                </a:lnTo>
                <a:lnTo>
                  <a:pt x="867409" y="1006591"/>
                </a:lnTo>
                <a:lnTo>
                  <a:pt x="0" y="1084482"/>
                </a:lnTo>
                <a:close/>
              </a:path>
            </a:pathLst>
          </a:custGeom>
          <a:solidFill>
            <a:srgbClr val="5DBC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 flipV="1">
            <a:off x="1726203" y="3498974"/>
            <a:ext cx="867409" cy="89875"/>
          </a:xfrm>
          <a:prstGeom prst="line">
            <a:avLst/>
          </a:prstGeom>
          <a:ln w="22225">
            <a:solidFill>
              <a:srgbClr val="5DB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2593612" y="3421084"/>
            <a:ext cx="867409" cy="77890"/>
          </a:xfrm>
          <a:prstGeom prst="line">
            <a:avLst/>
          </a:prstGeom>
          <a:ln w="22225">
            <a:solidFill>
              <a:srgbClr val="5DB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3461021" y="3337201"/>
            <a:ext cx="867409" cy="83883"/>
          </a:xfrm>
          <a:prstGeom prst="line">
            <a:avLst/>
          </a:prstGeom>
          <a:ln w="22225">
            <a:solidFill>
              <a:srgbClr val="5DB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4328430" y="3259310"/>
            <a:ext cx="867409" cy="77891"/>
          </a:xfrm>
          <a:prstGeom prst="line">
            <a:avLst/>
          </a:prstGeom>
          <a:ln w="22225">
            <a:solidFill>
              <a:srgbClr val="5DB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5195839" y="3169436"/>
            <a:ext cx="867409" cy="89874"/>
          </a:xfrm>
          <a:prstGeom prst="line">
            <a:avLst/>
          </a:prstGeom>
          <a:ln w="22225">
            <a:solidFill>
              <a:srgbClr val="5DB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6063248" y="3079562"/>
            <a:ext cx="867410" cy="89874"/>
          </a:xfrm>
          <a:prstGeom prst="line">
            <a:avLst/>
          </a:prstGeom>
          <a:ln w="22225">
            <a:solidFill>
              <a:srgbClr val="5DB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6930658" y="2995679"/>
            <a:ext cx="867409" cy="83883"/>
          </a:xfrm>
          <a:prstGeom prst="line">
            <a:avLst/>
          </a:prstGeom>
          <a:ln w="22225">
            <a:solidFill>
              <a:srgbClr val="5DB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7798067" y="2929771"/>
            <a:ext cx="867409" cy="65908"/>
          </a:xfrm>
          <a:prstGeom prst="line">
            <a:avLst/>
          </a:prstGeom>
          <a:ln w="22225">
            <a:solidFill>
              <a:srgbClr val="5DB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8665476" y="2839897"/>
            <a:ext cx="867409" cy="89874"/>
          </a:xfrm>
          <a:prstGeom prst="line">
            <a:avLst/>
          </a:prstGeom>
          <a:ln w="22225">
            <a:solidFill>
              <a:srgbClr val="5DB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9532885" y="2762006"/>
            <a:ext cx="867409" cy="77891"/>
          </a:xfrm>
          <a:prstGeom prst="line">
            <a:avLst/>
          </a:prstGeom>
          <a:ln w="22225">
            <a:solidFill>
              <a:srgbClr val="5DB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0400294" y="2684115"/>
            <a:ext cx="867410" cy="77891"/>
          </a:xfrm>
          <a:prstGeom prst="line">
            <a:avLst/>
          </a:prstGeom>
          <a:ln w="22225">
            <a:solidFill>
              <a:srgbClr val="5DB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Freeform 45"/>
          <p:cNvSpPr/>
          <p:nvPr/>
        </p:nvSpPr>
        <p:spPr>
          <a:xfrm>
            <a:off x="1726203" y="3031629"/>
            <a:ext cx="9541501" cy="1216297"/>
          </a:xfrm>
          <a:custGeom>
            <a:avLst/>
            <a:gdLst/>
            <a:ahLst/>
            <a:cxnLst/>
            <a:rect l="l" t="t" r="r" b="b"/>
            <a:pathLst>
              <a:path w="9541501" h="1216297">
                <a:moveTo>
                  <a:pt x="0" y="736968"/>
                </a:moveTo>
                <a:lnTo>
                  <a:pt x="867409" y="659077"/>
                </a:lnTo>
                <a:lnTo>
                  <a:pt x="1734818" y="599161"/>
                </a:lnTo>
                <a:lnTo>
                  <a:pt x="2602227" y="533253"/>
                </a:lnTo>
                <a:lnTo>
                  <a:pt x="3469636" y="467345"/>
                </a:lnTo>
                <a:lnTo>
                  <a:pt x="4337045" y="389455"/>
                </a:lnTo>
                <a:lnTo>
                  <a:pt x="5204455" y="317555"/>
                </a:lnTo>
                <a:lnTo>
                  <a:pt x="6071864" y="251647"/>
                </a:lnTo>
                <a:lnTo>
                  <a:pt x="6939273" y="197723"/>
                </a:lnTo>
                <a:lnTo>
                  <a:pt x="7806682" y="119832"/>
                </a:lnTo>
                <a:lnTo>
                  <a:pt x="8674091" y="59916"/>
                </a:lnTo>
                <a:lnTo>
                  <a:pt x="9541501" y="0"/>
                </a:lnTo>
                <a:lnTo>
                  <a:pt x="9541501" y="317555"/>
                </a:lnTo>
                <a:lnTo>
                  <a:pt x="8674091" y="389455"/>
                </a:lnTo>
                <a:lnTo>
                  <a:pt x="7806682" y="467345"/>
                </a:lnTo>
                <a:lnTo>
                  <a:pt x="6939273" y="557220"/>
                </a:lnTo>
                <a:lnTo>
                  <a:pt x="6071864" y="629119"/>
                </a:lnTo>
                <a:lnTo>
                  <a:pt x="5204455" y="707010"/>
                </a:lnTo>
                <a:lnTo>
                  <a:pt x="4337045" y="796884"/>
                </a:lnTo>
                <a:lnTo>
                  <a:pt x="3469636" y="886758"/>
                </a:lnTo>
                <a:lnTo>
                  <a:pt x="2602227" y="964649"/>
                </a:lnTo>
                <a:lnTo>
                  <a:pt x="1734818" y="1048532"/>
                </a:lnTo>
                <a:lnTo>
                  <a:pt x="867409" y="1126423"/>
                </a:lnTo>
                <a:lnTo>
                  <a:pt x="0" y="1216297"/>
                </a:lnTo>
                <a:close/>
              </a:path>
            </a:pathLst>
          </a:custGeom>
          <a:solidFill>
            <a:srgbClr val="17B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 flipV="1">
            <a:off x="1726203" y="3690706"/>
            <a:ext cx="867409" cy="77891"/>
          </a:xfrm>
          <a:prstGeom prst="line">
            <a:avLst/>
          </a:prstGeom>
          <a:ln w="22225">
            <a:solidFill>
              <a:srgbClr val="17B2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593612" y="3630790"/>
            <a:ext cx="867409" cy="59916"/>
          </a:xfrm>
          <a:prstGeom prst="line">
            <a:avLst/>
          </a:prstGeom>
          <a:ln w="22225">
            <a:solidFill>
              <a:srgbClr val="17B2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3461021" y="3564882"/>
            <a:ext cx="867409" cy="65908"/>
          </a:xfrm>
          <a:prstGeom prst="line">
            <a:avLst/>
          </a:prstGeom>
          <a:ln w="22225">
            <a:solidFill>
              <a:srgbClr val="17B2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328430" y="3498974"/>
            <a:ext cx="867409" cy="65908"/>
          </a:xfrm>
          <a:prstGeom prst="line">
            <a:avLst/>
          </a:prstGeom>
          <a:ln w="22225">
            <a:solidFill>
              <a:srgbClr val="17B2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5195839" y="3421084"/>
            <a:ext cx="867409" cy="77890"/>
          </a:xfrm>
          <a:prstGeom prst="line">
            <a:avLst/>
          </a:prstGeom>
          <a:ln w="22225">
            <a:solidFill>
              <a:srgbClr val="17B2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6063248" y="3349184"/>
            <a:ext cx="867410" cy="71900"/>
          </a:xfrm>
          <a:prstGeom prst="line">
            <a:avLst/>
          </a:prstGeom>
          <a:ln w="22225">
            <a:solidFill>
              <a:srgbClr val="17B2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6930658" y="3283276"/>
            <a:ext cx="867409" cy="65908"/>
          </a:xfrm>
          <a:prstGeom prst="line">
            <a:avLst/>
          </a:prstGeom>
          <a:ln w="22225">
            <a:solidFill>
              <a:srgbClr val="17B2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7798067" y="3229352"/>
            <a:ext cx="867409" cy="53924"/>
          </a:xfrm>
          <a:prstGeom prst="line">
            <a:avLst/>
          </a:prstGeom>
          <a:ln w="22225">
            <a:solidFill>
              <a:srgbClr val="17B2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8665476" y="3151461"/>
            <a:ext cx="867409" cy="77891"/>
          </a:xfrm>
          <a:prstGeom prst="line">
            <a:avLst/>
          </a:prstGeom>
          <a:ln w="22225">
            <a:solidFill>
              <a:srgbClr val="17B2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9532885" y="3091545"/>
            <a:ext cx="867409" cy="59916"/>
          </a:xfrm>
          <a:prstGeom prst="line">
            <a:avLst/>
          </a:prstGeom>
          <a:ln w="22225">
            <a:solidFill>
              <a:srgbClr val="17B2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0400294" y="3031629"/>
            <a:ext cx="867410" cy="59916"/>
          </a:xfrm>
          <a:prstGeom prst="line">
            <a:avLst/>
          </a:prstGeom>
          <a:ln w="22225">
            <a:solidFill>
              <a:srgbClr val="17B2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Freeform 57"/>
          <p:cNvSpPr/>
          <p:nvPr/>
        </p:nvSpPr>
        <p:spPr>
          <a:xfrm>
            <a:off x="1726203" y="3349184"/>
            <a:ext cx="9541501" cy="1617735"/>
          </a:xfrm>
          <a:custGeom>
            <a:avLst/>
            <a:gdLst/>
            <a:ahLst/>
            <a:cxnLst/>
            <a:rect l="l" t="t" r="r" b="b"/>
            <a:pathLst>
              <a:path w="9541501" h="1617735">
                <a:moveTo>
                  <a:pt x="0" y="898742"/>
                </a:moveTo>
                <a:lnTo>
                  <a:pt x="867409" y="808868"/>
                </a:lnTo>
                <a:lnTo>
                  <a:pt x="1734818" y="730977"/>
                </a:lnTo>
                <a:lnTo>
                  <a:pt x="2602227" y="647094"/>
                </a:lnTo>
                <a:lnTo>
                  <a:pt x="3469636" y="569203"/>
                </a:lnTo>
                <a:lnTo>
                  <a:pt x="4337045" y="479329"/>
                </a:lnTo>
                <a:lnTo>
                  <a:pt x="5204455" y="389455"/>
                </a:lnTo>
                <a:lnTo>
                  <a:pt x="6071864" y="311564"/>
                </a:lnTo>
                <a:lnTo>
                  <a:pt x="6939273" y="239665"/>
                </a:lnTo>
                <a:lnTo>
                  <a:pt x="7806682" y="149790"/>
                </a:lnTo>
                <a:lnTo>
                  <a:pt x="8674091" y="71900"/>
                </a:lnTo>
                <a:lnTo>
                  <a:pt x="9541501" y="0"/>
                </a:lnTo>
                <a:lnTo>
                  <a:pt x="9541501" y="1617735"/>
                </a:lnTo>
                <a:lnTo>
                  <a:pt x="8674091" y="1617735"/>
                </a:lnTo>
                <a:lnTo>
                  <a:pt x="7806682" y="1617735"/>
                </a:lnTo>
                <a:lnTo>
                  <a:pt x="6939273" y="1617735"/>
                </a:lnTo>
                <a:lnTo>
                  <a:pt x="6071864" y="1617735"/>
                </a:lnTo>
                <a:lnTo>
                  <a:pt x="5204455" y="1617735"/>
                </a:lnTo>
                <a:lnTo>
                  <a:pt x="4337045" y="1617735"/>
                </a:lnTo>
                <a:lnTo>
                  <a:pt x="3469636" y="1617735"/>
                </a:lnTo>
                <a:lnTo>
                  <a:pt x="2602227" y="1617735"/>
                </a:lnTo>
                <a:lnTo>
                  <a:pt x="1734818" y="1617735"/>
                </a:lnTo>
                <a:lnTo>
                  <a:pt x="867409" y="1617735"/>
                </a:lnTo>
                <a:lnTo>
                  <a:pt x="0" y="1617735"/>
                </a:lnTo>
                <a:close/>
              </a:path>
            </a:pathLst>
          </a:custGeom>
          <a:solidFill>
            <a:srgbClr val="21D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 flipV="1">
            <a:off x="1726203" y="4158052"/>
            <a:ext cx="867409" cy="89874"/>
          </a:xfrm>
          <a:prstGeom prst="line">
            <a:avLst/>
          </a:prstGeom>
          <a:ln w="22225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2593612" y="4080161"/>
            <a:ext cx="867409" cy="77891"/>
          </a:xfrm>
          <a:prstGeom prst="line">
            <a:avLst/>
          </a:prstGeom>
          <a:ln w="22225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461021" y="3996278"/>
            <a:ext cx="867409" cy="83883"/>
          </a:xfrm>
          <a:prstGeom prst="line">
            <a:avLst/>
          </a:prstGeom>
          <a:ln w="22225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4328430" y="3918387"/>
            <a:ext cx="867409" cy="77891"/>
          </a:xfrm>
          <a:prstGeom prst="line">
            <a:avLst/>
          </a:prstGeom>
          <a:ln w="22225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195839" y="3828513"/>
            <a:ext cx="867409" cy="89874"/>
          </a:xfrm>
          <a:prstGeom prst="line">
            <a:avLst/>
          </a:prstGeom>
          <a:ln w="22225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063248" y="3738639"/>
            <a:ext cx="867410" cy="89874"/>
          </a:xfrm>
          <a:prstGeom prst="line">
            <a:avLst/>
          </a:prstGeom>
          <a:ln w="22225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930658" y="3660748"/>
            <a:ext cx="867409" cy="77891"/>
          </a:xfrm>
          <a:prstGeom prst="line">
            <a:avLst/>
          </a:prstGeom>
          <a:ln w="22225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7798067" y="3588849"/>
            <a:ext cx="867409" cy="71899"/>
          </a:xfrm>
          <a:prstGeom prst="line">
            <a:avLst/>
          </a:prstGeom>
          <a:ln w="22225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8665476" y="3498974"/>
            <a:ext cx="867409" cy="89875"/>
          </a:xfrm>
          <a:prstGeom prst="line">
            <a:avLst/>
          </a:prstGeom>
          <a:ln w="22225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9532885" y="3421084"/>
            <a:ext cx="867409" cy="77890"/>
          </a:xfrm>
          <a:prstGeom prst="line">
            <a:avLst/>
          </a:prstGeom>
          <a:ln w="22225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0400294" y="3349184"/>
            <a:ext cx="867410" cy="71900"/>
          </a:xfrm>
          <a:prstGeom prst="line">
            <a:avLst/>
          </a:prstGeom>
          <a:ln w="22225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10680964" y="1615514"/>
            <a:ext cx="586740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Manrope"/>
              </a:rPr>
              <a:t>Tablet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10449824" y="1739973"/>
            <a:ext cx="160020" cy="0"/>
          </a:xfrm>
          <a:prstGeom prst="line">
            <a:avLst/>
          </a:prstGeom>
          <a:ln w="25400">
            <a:solidFill>
              <a:srgbClr val="5DB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9623054" y="1615514"/>
            <a:ext cx="684530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Manrope"/>
              </a:rPr>
              <a:t>Desktop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9391914" y="1739973"/>
            <a:ext cx="160020" cy="0"/>
          </a:xfrm>
          <a:prstGeom prst="line">
            <a:avLst/>
          </a:prstGeom>
          <a:ln w="25400">
            <a:solidFill>
              <a:srgbClr val="17B2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8662934" y="1615514"/>
            <a:ext cx="586740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Manrope"/>
              </a:rPr>
              <a:t>Mobile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8431794" y="1739973"/>
            <a:ext cx="160020" cy="0"/>
          </a:xfrm>
          <a:prstGeom prst="line">
            <a:avLst/>
          </a:prstGeom>
          <a:ln w="25400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