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0186" y="580186"/>
            <a:ext cx="1103132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22201C"/>
                </a:solidFill>
                <a:latin typeface="Instrument Serif"/>
              </a:rPr>
              <a:t>Monthly active users by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0186" y="1193153"/>
            <a:ext cx="11031323" cy="276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2201C"/>
                </a:solidFill>
                <a:latin typeface="Instrument Sans"/>
              </a:rPr>
              <a:t>Users (thousands)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726203" y="5652441"/>
            <a:ext cx="9541501" cy="0"/>
          </a:xfrm>
          <a:prstGeom prst="line">
            <a:avLst/>
          </a:prstGeom>
          <a:ln w="635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726203" y="5013232"/>
            <a:ext cx="9541501" cy="0"/>
          </a:xfrm>
          <a:prstGeom prst="line">
            <a:avLst/>
          </a:prstGeom>
          <a:ln w="635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726203" y="4374024"/>
            <a:ext cx="9541501" cy="0"/>
          </a:xfrm>
          <a:prstGeom prst="line">
            <a:avLst/>
          </a:prstGeom>
          <a:ln w="635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726203" y="3734815"/>
            <a:ext cx="9541501" cy="0"/>
          </a:xfrm>
          <a:prstGeom prst="line">
            <a:avLst/>
          </a:prstGeom>
          <a:ln w="635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726203" y="3095607"/>
            <a:ext cx="9541501" cy="0"/>
          </a:xfrm>
          <a:prstGeom prst="line">
            <a:avLst/>
          </a:prstGeom>
          <a:ln w="635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726203" y="2456398"/>
            <a:ext cx="9541501" cy="0"/>
          </a:xfrm>
          <a:prstGeom prst="line">
            <a:avLst/>
          </a:prstGeom>
          <a:ln w="635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726203" y="1817190"/>
            <a:ext cx="9541501" cy="0"/>
          </a:xfrm>
          <a:prstGeom prst="line">
            <a:avLst/>
          </a:prstGeom>
          <a:ln w="635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05324" y="5545761"/>
            <a:ext cx="1088716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-100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5324" y="4906552"/>
            <a:ext cx="1088716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324" y="4267344"/>
            <a:ext cx="1088716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324" y="3628135"/>
            <a:ext cx="1088716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200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5324" y="2988927"/>
            <a:ext cx="1088716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300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24" y="2349718"/>
            <a:ext cx="1088716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400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24" y="1710510"/>
            <a:ext cx="1088716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500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726203" y="1817190"/>
            <a:ext cx="0" cy="3835251"/>
          </a:xfrm>
          <a:prstGeom prst="line">
            <a:avLst/>
          </a:prstGeom>
          <a:ln w="9525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726203" y="5652441"/>
            <a:ext cx="9541501" cy="0"/>
          </a:xfrm>
          <a:prstGeom prst="line">
            <a:avLst/>
          </a:prstGeom>
          <a:ln w="9525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90103" y="5684604"/>
            <a:ext cx="1272200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Jan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57512" y="5684604"/>
            <a:ext cx="1272200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Feb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24921" y="5684604"/>
            <a:ext cx="1272200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Mar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92330" y="5684604"/>
            <a:ext cx="1272200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Apr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9739" y="5684604"/>
            <a:ext cx="1272200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May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27148" y="5684604"/>
            <a:ext cx="1272200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Jun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4558" y="5684604"/>
            <a:ext cx="1272200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Jul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61967" y="5684604"/>
            <a:ext cx="1272200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Aug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29376" y="5684604"/>
            <a:ext cx="1272200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Sep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96785" y="5684604"/>
            <a:ext cx="1272200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Oct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64194" y="5684604"/>
            <a:ext cx="1272200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Nov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53735" y="5684604"/>
            <a:ext cx="1272200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Dec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26203" y="5939166"/>
            <a:ext cx="9541501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22201C"/>
                </a:solidFill>
                <a:latin typeface="Instrument Sans"/>
              </a:rPr>
              <a:t>Month</a:t>
            </a:r>
          </a:p>
        </p:txBody>
      </p:sp>
      <p:sp>
        <p:nvSpPr>
          <p:cNvPr id="34" name="Freeform 33"/>
          <p:cNvSpPr/>
          <p:nvPr/>
        </p:nvSpPr>
        <p:spPr>
          <a:xfrm>
            <a:off x="1726203" y="2577848"/>
            <a:ext cx="9541501" cy="1156967"/>
          </a:xfrm>
          <a:custGeom>
            <a:avLst/>
            <a:gdLst/>
            <a:ahLst/>
            <a:cxnLst/>
            <a:rect l="l" t="t" r="r" b="b"/>
            <a:pathLst>
              <a:path w="9541501" h="1156967">
                <a:moveTo>
                  <a:pt x="0" y="965204"/>
                </a:moveTo>
                <a:lnTo>
                  <a:pt x="867409" y="869323"/>
                </a:lnTo>
                <a:lnTo>
                  <a:pt x="1734818" y="786226"/>
                </a:lnTo>
                <a:lnTo>
                  <a:pt x="2602227" y="696737"/>
                </a:lnTo>
                <a:lnTo>
                  <a:pt x="3469636" y="613640"/>
                </a:lnTo>
                <a:lnTo>
                  <a:pt x="4337045" y="517759"/>
                </a:lnTo>
                <a:lnTo>
                  <a:pt x="5204455" y="421877"/>
                </a:lnTo>
                <a:lnTo>
                  <a:pt x="6071864" y="332388"/>
                </a:lnTo>
                <a:lnTo>
                  <a:pt x="6939273" y="262075"/>
                </a:lnTo>
                <a:lnTo>
                  <a:pt x="7806682" y="166194"/>
                </a:lnTo>
                <a:lnTo>
                  <a:pt x="8674091" y="83097"/>
                </a:lnTo>
                <a:lnTo>
                  <a:pt x="9541501" y="0"/>
                </a:lnTo>
                <a:lnTo>
                  <a:pt x="9541501" y="370741"/>
                </a:lnTo>
                <a:lnTo>
                  <a:pt x="8674091" y="434661"/>
                </a:lnTo>
                <a:lnTo>
                  <a:pt x="7806682" y="498582"/>
                </a:lnTo>
                <a:lnTo>
                  <a:pt x="6939273" y="581679"/>
                </a:lnTo>
                <a:lnTo>
                  <a:pt x="6071864" y="639208"/>
                </a:lnTo>
                <a:lnTo>
                  <a:pt x="5204455" y="709521"/>
                </a:lnTo>
                <a:lnTo>
                  <a:pt x="4337045" y="786226"/>
                </a:lnTo>
                <a:lnTo>
                  <a:pt x="3469636" y="869323"/>
                </a:lnTo>
                <a:lnTo>
                  <a:pt x="2602227" y="939636"/>
                </a:lnTo>
                <a:lnTo>
                  <a:pt x="1734818" y="1009949"/>
                </a:lnTo>
                <a:lnTo>
                  <a:pt x="867409" y="1073870"/>
                </a:lnTo>
                <a:lnTo>
                  <a:pt x="0" y="1156967"/>
                </a:lnTo>
                <a:close/>
              </a:path>
            </a:pathLst>
          </a:custGeom>
          <a:solidFill>
            <a:srgbClr val="7B7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 flipV="1">
            <a:off x="1726203" y="3447171"/>
            <a:ext cx="867409" cy="95881"/>
          </a:xfrm>
          <a:prstGeom prst="line">
            <a:avLst/>
          </a:prstGeom>
          <a:ln w="22225">
            <a:solidFill>
              <a:srgbClr val="7B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593612" y="3364074"/>
            <a:ext cx="867409" cy="83097"/>
          </a:xfrm>
          <a:prstGeom prst="line">
            <a:avLst/>
          </a:prstGeom>
          <a:ln w="22225">
            <a:solidFill>
              <a:srgbClr val="7B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3461021" y="3274585"/>
            <a:ext cx="867409" cy="89489"/>
          </a:xfrm>
          <a:prstGeom prst="line">
            <a:avLst/>
          </a:prstGeom>
          <a:ln w="22225">
            <a:solidFill>
              <a:srgbClr val="7B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328430" y="3191488"/>
            <a:ext cx="867409" cy="83097"/>
          </a:xfrm>
          <a:prstGeom prst="line">
            <a:avLst/>
          </a:prstGeom>
          <a:ln w="22225">
            <a:solidFill>
              <a:srgbClr val="7B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5195839" y="3095607"/>
            <a:ext cx="867409" cy="95881"/>
          </a:xfrm>
          <a:prstGeom prst="line">
            <a:avLst/>
          </a:prstGeom>
          <a:ln w="22225">
            <a:solidFill>
              <a:srgbClr val="7B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063248" y="2999725"/>
            <a:ext cx="867410" cy="95882"/>
          </a:xfrm>
          <a:prstGeom prst="line">
            <a:avLst/>
          </a:prstGeom>
          <a:ln w="22225">
            <a:solidFill>
              <a:srgbClr val="7B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6930658" y="2910236"/>
            <a:ext cx="867409" cy="89489"/>
          </a:xfrm>
          <a:prstGeom prst="line">
            <a:avLst/>
          </a:prstGeom>
          <a:ln w="22225">
            <a:solidFill>
              <a:srgbClr val="7B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798067" y="2839923"/>
            <a:ext cx="867409" cy="70313"/>
          </a:xfrm>
          <a:prstGeom prst="line">
            <a:avLst/>
          </a:prstGeom>
          <a:ln w="22225">
            <a:solidFill>
              <a:srgbClr val="7B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8665476" y="2744042"/>
            <a:ext cx="867409" cy="95881"/>
          </a:xfrm>
          <a:prstGeom prst="line">
            <a:avLst/>
          </a:prstGeom>
          <a:ln w="22225">
            <a:solidFill>
              <a:srgbClr val="7B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9532885" y="2660945"/>
            <a:ext cx="867409" cy="83097"/>
          </a:xfrm>
          <a:prstGeom prst="line">
            <a:avLst/>
          </a:prstGeom>
          <a:ln w="22225">
            <a:solidFill>
              <a:srgbClr val="7B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0400294" y="2577848"/>
            <a:ext cx="867410" cy="83097"/>
          </a:xfrm>
          <a:prstGeom prst="line">
            <a:avLst/>
          </a:prstGeom>
          <a:ln w="22225">
            <a:solidFill>
              <a:srgbClr val="7B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Freeform 45"/>
          <p:cNvSpPr/>
          <p:nvPr/>
        </p:nvSpPr>
        <p:spPr>
          <a:xfrm>
            <a:off x="1726203" y="2948589"/>
            <a:ext cx="9541501" cy="1297593"/>
          </a:xfrm>
          <a:custGeom>
            <a:avLst/>
            <a:gdLst/>
            <a:ahLst/>
            <a:cxnLst/>
            <a:rect l="l" t="t" r="r" b="b"/>
            <a:pathLst>
              <a:path w="9541501" h="1297593">
                <a:moveTo>
                  <a:pt x="0" y="786226"/>
                </a:moveTo>
                <a:lnTo>
                  <a:pt x="867409" y="703129"/>
                </a:lnTo>
                <a:lnTo>
                  <a:pt x="1734818" y="639208"/>
                </a:lnTo>
                <a:lnTo>
                  <a:pt x="2602227" y="568895"/>
                </a:lnTo>
                <a:lnTo>
                  <a:pt x="3469636" y="498582"/>
                </a:lnTo>
                <a:lnTo>
                  <a:pt x="4337045" y="415485"/>
                </a:lnTo>
                <a:lnTo>
                  <a:pt x="5204455" y="338780"/>
                </a:lnTo>
                <a:lnTo>
                  <a:pt x="6071864" y="268467"/>
                </a:lnTo>
                <a:lnTo>
                  <a:pt x="6939273" y="210938"/>
                </a:lnTo>
                <a:lnTo>
                  <a:pt x="7806682" y="127841"/>
                </a:lnTo>
                <a:lnTo>
                  <a:pt x="8674091" y="63920"/>
                </a:lnTo>
                <a:lnTo>
                  <a:pt x="9541501" y="0"/>
                </a:lnTo>
                <a:lnTo>
                  <a:pt x="9541501" y="338780"/>
                </a:lnTo>
                <a:lnTo>
                  <a:pt x="8674091" y="415485"/>
                </a:lnTo>
                <a:lnTo>
                  <a:pt x="7806682" y="498582"/>
                </a:lnTo>
                <a:lnTo>
                  <a:pt x="6939273" y="594463"/>
                </a:lnTo>
                <a:lnTo>
                  <a:pt x="6071864" y="671168"/>
                </a:lnTo>
                <a:lnTo>
                  <a:pt x="5204455" y="754266"/>
                </a:lnTo>
                <a:lnTo>
                  <a:pt x="4337045" y="850147"/>
                </a:lnTo>
                <a:lnTo>
                  <a:pt x="3469636" y="946028"/>
                </a:lnTo>
                <a:lnTo>
                  <a:pt x="2602227" y="1029125"/>
                </a:lnTo>
                <a:lnTo>
                  <a:pt x="1734818" y="1118614"/>
                </a:lnTo>
                <a:lnTo>
                  <a:pt x="867409" y="1201712"/>
                </a:lnTo>
                <a:lnTo>
                  <a:pt x="0" y="1297593"/>
                </a:lnTo>
                <a:close/>
              </a:path>
            </a:pathLst>
          </a:custGeom>
          <a:solidFill>
            <a:srgbClr val="9A6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 flipV="1">
            <a:off x="1726203" y="3651718"/>
            <a:ext cx="867409" cy="83097"/>
          </a:xfrm>
          <a:prstGeom prst="line">
            <a:avLst/>
          </a:prstGeom>
          <a:ln w="22225">
            <a:solidFill>
              <a:srgbClr val="9A6B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593612" y="3587797"/>
            <a:ext cx="867409" cy="63921"/>
          </a:xfrm>
          <a:prstGeom prst="line">
            <a:avLst/>
          </a:prstGeom>
          <a:ln w="22225">
            <a:solidFill>
              <a:srgbClr val="9A6B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3461021" y="3517484"/>
            <a:ext cx="867409" cy="70313"/>
          </a:xfrm>
          <a:prstGeom prst="line">
            <a:avLst/>
          </a:prstGeom>
          <a:ln w="22225">
            <a:solidFill>
              <a:srgbClr val="9A6B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328430" y="3447171"/>
            <a:ext cx="867409" cy="70313"/>
          </a:xfrm>
          <a:prstGeom prst="line">
            <a:avLst/>
          </a:prstGeom>
          <a:ln w="22225">
            <a:solidFill>
              <a:srgbClr val="9A6B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195839" y="3364074"/>
            <a:ext cx="867409" cy="83097"/>
          </a:xfrm>
          <a:prstGeom prst="line">
            <a:avLst/>
          </a:prstGeom>
          <a:ln w="22225">
            <a:solidFill>
              <a:srgbClr val="9A6B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6063248" y="3287369"/>
            <a:ext cx="867410" cy="76705"/>
          </a:xfrm>
          <a:prstGeom prst="line">
            <a:avLst/>
          </a:prstGeom>
          <a:ln w="22225">
            <a:solidFill>
              <a:srgbClr val="9A6B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6930658" y="3217056"/>
            <a:ext cx="867409" cy="70313"/>
          </a:xfrm>
          <a:prstGeom prst="line">
            <a:avLst/>
          </a:prstGeom>
          <a:ln w="22225">
            <a:solidFill>
              <a:srgbClr val="9A6B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7798067" y="3159527"/>
            <a:ext cx="867409" cy="57529"/>
          </a:xfrm>
          <a:prstGeom prst="line">
            <a:avLst/>
          </a:prstGeom>
          <a:ln w="22225">
            <a:solidFill>
              <a:srgbClr val="9A6B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8665476" y="3076430"/>
            <a:ext cx="867409" cy="83097"/>
          </a:xfrm>
          <a:prstGeom prst="line">
            <a:avLst/>
          </a:prstGeom>
          <a:ln w="22225">
            <a:solidFill>
              <a:srgbClr val="9A6B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9532885" y="3012509"/>
            <a:ext cx="867409" cy="63921"/>
          </a:xfrm>
          <a:prstGeom prst="line">
            <a:avLst/>
          </a:prstGeom>
          <a:ln w="22225">
            <a:solidFill>
              <a:srgbClr val="9A6B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0400294" y="2948589"/>
            <a:ext cx="867410" cy="63920"/>
          </a:xfrm>
          <a:prstGeom prst="line">
            <a:avLst/>
          </a:prstGeom>
          <a:ln w="22225">
            <a:solidFill>
              <a:srgbClr val="9A6B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Freeform 57"/>
          <p:cNvSpPr/>
          <p:nvPr/>
        </p:nvSpPr>
        <p:spPr>
          <a:xfrm>
            <a:off x="1726203" y="3287369"/>
            <a:ext cx="9541501" cy="1725863"/>
          </a:xfrm>
          <a:custGeom>
            <a:avLst/>
            <a:gdLst/>
            <a:ahLst/>
            <a:cxnLst/>
            <a:rect l="l" t="t" r="r" b="b"/>
            <a:pathLst>
              <a:path w="9541501" h="1725863">
                <a:moveTo>
                  <a:pt x="0" y="958813"/>
                </a:moveTo>
                <a:lnTo>
                  <a:pt x="867409" y="862932"/>
                </a:lnTo>
                <a:lnTo>
                  <a:pt x="1734818" y="779834"/>
                </a:lnTo>
                <a:lnTo>
                  <a:pt x="2602227" y="690345"/>
                </a:lnTo>
                <a:lnTo>
                  <a:pt x="3469636" y="607248"/>
                </a:lnTo>
                <a:lnTo>
                  <a:pt x="4337045" y="511367"/>
                </a:lnTo>
                <a:lnTo>
                  <a:pt x="5204455" y="415486"/>
                </a:lnTo>
                <a:lnTo>
                  <a:pt x="6071864" y="332388"/>
                </a:lnTo>
                <a:lnTo>
                  <a:pt x="6939273" y="255683"/>
                </a:lnTo>
                <a:lnTo>
                  <a:pt x="7806682" y="159802"/>
                </a:lnTo>
                <a:lnTo>
                  <a:pt x="8674091" y="76705"/>
                </a:lnTo>
                <a:lnTo>
                  <a:pt x="9541501" y="0"/>
                </a:lnTo>
                <a:lnTo>
                  <a:pt x="9541501" y="1725863"/>
                </a:lnTo>
                <a:lnTo>
                  <a:pt x="8674091" y="1725863"/>
                </a:lnTo>
                <a:lnTo>
                  <a:pt x="7806682" y="1725863"/>
                </a:lnTo>
                <a:lnTo>
                  <a:pt x="6939273" y="1725863"/>
                </a:lnTo>
                <a:lnTo>
                  <a:pt x="6071864" y="1725863"/>
                </a:lnTo>
                <a:lnTo>
                  <a:pt x="5204455" y="1725863"/>
                </a:lnTo>
                <a:lnTo>
                  <a:pt x="4337045" y="1725863"/>
                </a:lnTo>
                <a:lnTo>
                  <a:pt x="3469636" y="1725863"/>
                </a:lnTo>
                <a:lnTo>
                  <a:pt x="2602227" y="1725863"/>
                </a:lnTo>
                <a:lnTo>
                  <a:pt x="1734818" y="1725863"/>
                </a:lnTo>
                <a:lnTo>
                  <a:pt x="867409" y="1725863"/>
                </a:lnTo>
                <a:lnTo>
                  <a:pt x="0" y="1725863"/>
                </a:lnTo>
                <a:close/>
              </a:path>
            </a:pathLst>
          </a:custGeom>
          <a:solidFill>
            <a:srgbClr val="7C85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 flipV="1">
            <a:off x="1726203" y="4150301"/>
            <a:ext cx="867409" cy="95881"/>
          </a:xfrm>
          <a:prstGeom prst="line">
            <a:avLst/>
          </a:prstGeom>
          <a:ln w="22225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2593612" y="4067203"/>
            <a:ext cx="867409" cy="83098"/>
          </a:xfrm>
          <a:prstGeom prst="line">
            <a:avLst/>
          </a:prstGeom>
          <a:ln w="22225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461021" y="3977714"/>
            <a:ext cx="867409" cy="89489"/>
          </a:xfrm>
          <a:prstGeom prst="line">
            <a:avLst/>
          </a:prstGeom>
          <a:ln w="22225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4328430" y="3894617"/>
            <a:ext cx="867409" cy="83097"/>
          </a:xfrm>
          <a:prstGeom prst="line">
            <a:avLst/>
          </a:prstGeom>
          <a:ln w="22225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195839" y="3798736"/>
            <a:ext cx="867409" cy="95881"/>
          </a:xfrm>
          <a:prstGeom prst="line">
            <a:avLst/>
          </a:prstGeom>
          <a:ln w="22225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063248" y="3702855"/>
            <a:ext cx="867410" cy="95881"/>
          </a:xfrm>
          <a:prstGeom prst="line">
            <a:avLst/>
          </a:prstGeom>
          <a:ln w="22225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930658" y="3619757"/>
            <a:ext cx="867409" cy="83098"/>
          </a:xfrm>
          <a:prstGeom prst="line">
            <a:avLst/>
          </a:prstGeom>
          <a:ln w="22225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7798067" y="3543052"/>
            <a:ext cx="867409" cy="76705"/>
          </a:xfrm>
          <a:prstGeom prst="line">
            <a:avLst/>
          </a:prstGeom>
          <a:ln w="22225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8665476" y="3447171"/>
            <a:ext cx="867409" cy="95881"/>
          </a:xfrm>
          <a:prstGeom prst="line">
            <a:avLst/>
          </a:prstGeom>
          <a:ln w="22225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9532885" y="3364074"/>
            <a:ext cx="867409" cy="83097"/>
          </a:xfrm>
          <a:prstGeom prst="line">
            <a:avLst/>
          </a:prstGeom>
          <a:ln w="22225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0400294" y="3287369"/>
            <a:ext cx="867410" cy="76705"/>
          </a:xfrm>
          <a:prstGeom prst="line">
            <a:avLst/>
          </a:prstGeom>
          <a:ln w="22225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10764784" y="1512390"/>
            <a:ext cx="502920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22201C"/>
                </a:solidFill>
                <a:latin typeface="Instrument Sans"/>
              </a:rPr>
              <a:t>Tablet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10566664" y="1619070"/>
            <a:ext cx="137160" cy="0"/>
          </a:xfrm>
          <a:prstGeom prst="line">
            <a:avLst/>
          </a:prstGeom>
          <a:ln w="25400">
            <a:solidFill>
              <a:srgbClr val="7B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9858004" y="1512390"/>
            <a:ext cx="586740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22201C"/>
                </a:solidFill>
                <a:latin typeface="Instrument Sans"/>
              </a:rPr>
              <a:t>Desktop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9659884" y="1619070"/>
            <a:ext cx="137160" cy="0"/>
          </a:xfrm>
          <a:prstGeom prst="line">
            <a:avLst/>
          </a:prstGeom>
          <a:ln w="25400">
            <a:solidFill>
              <a:srgbClr val="9A6B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9035044" y="1512390"/>
            <a:ext cx="502920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2201C"/>
                </a:solidFill>
                <a:latin typeface="Instrument Sans"/>
              </a:rPr>
              <a:t>Mobile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8836924" y="1619070"/>
            <a:ext cx="137160" cy="0"/>
          </a:xfrm>
          <a:prstGeom prst="line">
            <a:avLst/>
          </a:prstGeom>
          <a:ln w="25400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