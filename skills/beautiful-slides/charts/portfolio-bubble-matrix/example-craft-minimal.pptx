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2201C"/>
                </a:solidFill>
                <a:latin typeface="Instrument Serif"/>
              </a:rPr>
              <a:t>Investment portfolio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8626" y="1654733"/>
            <a:ext cx="2993569" cy="1316253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2195" y="1654733"/>
            <a:ext cx="2993569" cy="1316253"/>
          </a:xfrm>
          <a:prstGeom prst="rect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92195" y="1654733"/>
            <a:ext cx="2993569" cy="1316253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85764" y="1654733"/>
            <a:ext cx="2993569" cy="1316253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98626" y="2970986"/>
            <a:ext cx="2993569" cy="1316253"/>
          </a:xfrm>
          <a:prstGeom prst="rect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8626" y="2970986"/>
            <a:ext cx="2993569" cy="1316253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92195" y="2970986"/>
            <a:ext cx="2993569" cy="1316253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85764" y="2970986"/>
            <a:ext cx="2993569" cy="1316253"/>
          </a:xfrm>
          <a:prstGeom prst="rect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85764" y="2970986"/>
            <a:ext cx="2993569" cy="1316253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98626" y="4287240"/>
            <a:ext cx="2993569" cy="1316253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2195" y="4287240"/>
            <a:ext cx="2993569" cy="1316253"/>
          </a:xfrm>
          <a:prstGeom prst="rect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2195" y="4287240"/>
            <a:ext cx="2993569" cy="1316253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85764" y="4287240"/>
            <a:ext cx="2993569" cy="1316253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198626" y="1654733"/>
            <a:ext cx="0" cy="3948761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92195" y="1654733"/>
            <a:ext cx="0" cy="3948761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85764" y="1654733"/>
            <a:ext cx="0" cy="3948761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79333" y="1654733"/>
            <a:ext cx="0" cy="3948761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98626" y="1654733"/>
            <a:ext cx="8980707" cy="0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98626" y="2970986"/>
            <a:ext cx="8980707" cy="0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8626" y="4287240"/>
            <a:ext cx="8980707" cy="0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98626" y="5603494"/>
            <a:ext cx="8980707" cy="0"/>
          </a:xfrm>
          <a:prstGeom prst="line">
            <a:avLst/>
          </a:prstGeom>
          <a:ln w="1270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98626" y="5634697"/>
            <a:ext cx="299356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Conservative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2195" y="5634697"/>
            <a:ext cx="299356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Moderate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5764" y="5634697"/>
            <a:ext cx="299356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Aggressive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226" y="1654733"/>
            <a:ext cx="470993" cy="13162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226" y="2970986"/>
            <a:ext cx="470993" cy="13162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226" y="4287240"/>
            <a:ext cx="470993" cy="13162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8626" y="5888939"/>
            <a:ext cx="8980707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2201C"/>
                </a:solidFill>
                <a:latin typeface="Instrument Sans"/>
              </a:rPr>
              <a:t>Risk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8626" y="1349451"/>
            <a:ext cx="8980707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Expected return</a:t>
            </a:r>
          </a:p>
        </p:txBody>
      </p:sp>
      <p:sp>
        <p:nvSpPr>
          <p:cNvPr id="33" name="Oval 32"/>
          <p:cNvSpPr/>
          <p:nvPr/>
        </p:nvSpPr>
        <p:spPr>
          <a:xfrm>
            <a:off x="1741096" y="3865827"/>
            <a:ext cx="711200" cy="711200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04609" y="4123637"/>
            <a:ext cx="38417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CFBF8"/>
                </a:solidFill>
                <a:latin typeface="Instrument Sans"/>
              </a:rPr>
              <a:t>Bonds</a:t>
            </a:r>
          </a:p>
        </p:txBody>
      </p:sp>
      <p:sp>
        <p:nvSpPr>
          <p:cNvPr id="35" name="Oval 34"/>
          <p:cNvSpPr/>
          <p:nvPr/>
        </p:nvSpPr>
        <p:spPr>
          <a:xfrm>
            <a:off x="4075849" y="3165651"/>
            <a:ext cx="532048" cy="532048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3297" y="3333885"/>
            <a:ext cx="69151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Blue chip</a:t>
            </a:r>
          </a:p>
        </p:txBody>
      </p:sp>
      <p:sp>
        <p:nvSpPr>
          <p:cNvPr id="37" name="Oval 36"/>
          <p:cNvSpPr/>
          <p:nvPr/>
        </p:nvSpPr>
        <p:spPr>
          <a:xfrm>
            <a:off x="5930824" y="2632171"/>
            <a:ext cx="414380" cy="414380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0604" y="2741571"/>
            <a:ext cx="99885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Growth equity</a:t>
            </a:r>
          </a:p>
        </p:txBody>
      </p:sp>
      <p:sp>
        <p:nvSpPr>
          <p:cNvPr id="39" name="Oval 38"/>
          <p:cNvSpPr/>
          <p:nvPr/>
        </p:nvSpPr>
        <p:spPr>
          <a:xfrm>
            <a:off x="5069629" y="4445988"/>
            <a:ext cx="340630" cy="340630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35659" y="4518513"/>
            <a:ext cx="84518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Real estate</a:t>
            </a:r>
          </a:p>
        </p:txBody>
      </p:sp>
      <p:sp>
        <p:nvSpPr>
          <p:cNvPr id="41" name="Oval 40"/>
          <p:cNvSpPr/>
          <p:nvPr/>
        </p:nvSpPr>
        <p:spPr>
          <a:xfrm>
            <a:off x="7344668" y="3883537"/>
            <a:ext cx="280904" cy="280904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0972" y="3926199"/>
            <a:ext cx="107569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Private equity</a:t>
            </a:r>
          </a:p>
        </p:txBody>
      </p:sp>
      <p:sp>
        <p:nvSpPr>
          <p:cNvPr id="43" name="Oval 42"/>
          <p:cNvSpPr/>
          <p:nvPr/>
        </p:nvSpPr>
        <p:spPr>
          <a:xfrm>
            <a:off x="8260363" y="2124219"/>
            <a:ext cx="245656" cy="245656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419" y="2149257"/>
            <a:ext cx="53784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Venture</a:t>
            </a:r>
          </a:p>
        </p:txBody>
      </p:sp>
      <p:sp>
        <p:nvSpPr>
          <p:cNvPr id="45" name="Oval 44"/>
          <p:cNvSpPr/>
          <p:nvPr/>
        </p:nvSpPr>
        <p:spPr>
          <a:xfrm>
            <a:off x="9205062" y="3552913"/>
            <a:ext cx="152400" cy="152400"/>
          </a:xfrm>
          <a:prstGeom prst="ellipse">
            <a:avLst/>
          </a:prstGeom>
          <a:solidFill>
            <a:srgbClr val="7C8571"/>
          </a:solidFill>
          <a:ln w="12700">
            <a:solidFill>
              <a:srgbClr val="FCFB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82862" y="3531323"/>
            <a:ext cx="46101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01C"/>
                </a:solidFill>
                <a:latin typeface="Instrument Sans"/>
              </a:rPr>
              <a:t>Crypto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3346" y="2049609"/>
            <a:ext cx="1090723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01C"/>
                </a:solidFill>
                <a:latin typeface="Instrument Sans"/>
              </a:rPr>
              <a:t>AUM ($B)</a:t>
            </a:r>
          </a:p>
        </p:txBody>
      </p:sp>
      <p:sp>
        <p:nvSpPr>
          <p:cNvPr id="48" name="Oval 47"/>
          <p:cNvSpPr/>
          <p:nvPr/>
        </p:nvSpPr>
        <p:spPr>
          <a:xfrm>
            <a:off x="10304148" y="2397462"/>
            <a:ext cx="152400" cy="152400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07348" y="2366982"/>
            <a:ext cx="866721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40</a:t>
            </a:r>
          </a:p>
        </p:txBody>
      </p:sp>
      <p:sp>
        <p:nvSpPr>
          <p:cNvPr id="50" name="Oval 49"/>
          <p:cNvSpPr/>
          <p:nvPr/>
        </p:nvSpPr>
        <p:spPr>
          <a:xfrm>
            <a:off x="10304148" y="2695480"/>
            <a:ext cx="479918" cy="479918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34866" y="2828759"/>
            <a:ext cx="539203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170</a:t>
            </a:r>
          </a:p>
        </p:txBody>
      </p:sp>
      <p:sp>
        <p:nvSpPr>
          <p:cNvPr id="52" name="Oval 51"/>
          <p:cNvSpPr/>
          <p:nvPr/>
        </p:nvSpPr>
        <p:spPr>
          <a:xfrm>
            <a:off x="10304148" y="3321016"/>
            <a:ext cx="479918" cy="479918"/>
          </a:xfrm>
          <a:prstGeom prst="ellipse">
            <a:avLst/>
          </a:prstGeom>
          <a:solidFill>
            <a:srgbClr val="7B7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34866" y="3454295"/>
            <a:ext cx="539203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300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