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Public Sans"/>
              </a:rPr>
              <a:t>GE/McKinsey portfolio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9726" y="1535353"/>
            <a:ext cx="3031669" cy="13865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41395" y="1535353"/>
            <a:ext cx="3031669" cy="1386527"/>
          </a:xfrm>
          <a:prstGeom prst="rect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41395" y="1535353"/>
            <a:ext cx="3031669" cy="13865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73064" y="1535353"/>
            <a:ext cx="3031669" cy="13865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9726" y="2921880"/>
            <a:ext cx="3031669" cy="1386527"/>
          </a:xfrm>
          <a:prstGeom prst="rect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9726" y="2921880"/>
            <a:ext cx="3031669" cy="13865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41395" y="2921880"/>
            <a:ext cx="3031669" cy="13865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3064" y="2921880"/>
            <a:ext cx="3031669" cy="1386527"/>
          </a:xfrm>
          <a:prstGeom prst="rect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73064" y="2921880"/>
            <a:ext cx="3031669" cy="13865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09726" y="4308407"/>
            <a:ext cx="3031669" cy="13865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41395" y="4308407"/>
            <a:ext cx="3031669" cy="1386527"/>
          </a:xfrm>
          <a:prstGeom prst="rect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41395" y="4308407"/>
            <a:ext cx="3031669" cy="13865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3064" y="4308407"/>
            <a:ext cx="3031669" cy="13865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109726" y="1535353"/>
            <a:ext cx="0" cy="4159581"/>
          </a:xfrm>
          <a:prstGeom prst="line">
            <a:avLst/>
          </a:prstGeom>
          <a:ln w="1270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141395" y="1535353"/>
            <a:ext cx="0" cy="4159581"/>
          </a:xfrm>
          <a:prstGeom prst="line">
            <a:avLst/>
          </a:prstGeom>
          <a:ln w="1270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73064" y="1535353"/>
            <a:ext cx="0" cy="4159581"/>
          </a:xfrm>
          <a:prstGeom prst="line">
            <a:avLst/>
          </a:prstGeom>
          <a:ln w="1270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204733" y="1535353"/>
            <a:ext cx="0" cy="4159581"/>
          </a:xfrm>
          <a:prstGeom prst="line">
            <a:avLst/>
          </a:prstGeom>
          <a:ln w="1270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09726" y="1535353"/>
            <a:ext cx="9095007" cy="0"/>
          </a:xfrm>
          <a:prstGeom prst="line">
            <a:avLst/>
          </a:prstGeom>
          <a:ln w="1270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09726" y="2921880"/>
            <a:ext cx="9095007" cy="0"/>
          </a:xfrm>
          <a:prstGeom prst="line">
            <a:avLst/>
          </a:prstGeom>
          <a:ln w="1270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09726" y="4308407"/>
            <a:ext cx="9095007" cy="0"/>
          </a:xfrm>
          <a:prstGeom prst="line">
            <a:avLst/>
          </a:prstGeom>
          <a:ln w="1270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09726" y="5694934"/>
            <a:ext cx="9095007" cy="0"/>
          </a:xfrm>
          <a:prstGeom prst="line">
            <a:avLst/>
          </a:prstGeom>
          <a:ln w="1270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261309" y="1604679"/>
            <a:ext cx="27285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Selective 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2978" y="1604679"/>
            <a:ext cx="27285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Invest/grow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4647" y="1604679"/>
            <a:ext cx="27285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Invest/grow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309" y="2991206"/>
            <a:ext cx="27285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Harvest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2978" y="2991206"/>
            <a:ext cx="27285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Selective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24647" y="2991206"/>
            <a:ext cx="27285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Selective growth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1309" y="4377733"/>
            <a:ext cx="27285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Divest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2978" y="4377733"/>
            <a:ext cx="27285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Harvest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24647" y="4377733"/>
            <a:ext cx="272850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Public Sans"/>
              </a:rPr>
              <a:t>Selective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726" y="5726137"/>
            <a:ext cx="303166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41395" y="5726137"/>
            <a:ext cx="303166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3064" y="5726137"/>
            <a:ext cx="303166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High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5226" y="1535353"/>
            <a:ext cx="382093" cy="13865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226" y="2921880"/>
            <a:ext cx="382093" cy="13865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226" y="4308407"/>
            <a:ext cx="382093" cy="13865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726" y="5939739"/>
            <a:ext cx="9095007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01828"/>
                </a:solidFill>
                <a:latin typeface="Public Sans"/>
              </a:rPr>
              <a:t>Competitive strength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9726" y="1270711"/>
            <a:ext cx="9095007" cy="2438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Public Sans"/>
              </a:rPr>
              <a:t>Market attractiveness</a:t>
            </a:r>
          </a:p>
        </p:txBody>
      </p:sp>
      <p:sp>
        <p:nvSpPr>
          <p:cNvPr id="42" name="Oval 41"/>
          <p:cNvSpPr/>
          <p:nvPr/>
        </p:nvSpPr>
        <p:spPr>
          <a:xfrm>
            <a:off x="8484881" y="1595711"/>
            <a:ext cx="711200" cy="71120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21481" y="1871301"/>
            <a:ext cx="880110" cy="1600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Cloud Platform</a:t>
            </a:r>
          </a:p>
        </p:txBody>
      </p:sp>
      <p:sp>
        <p:nvSpPr>
          <p:cNvPr id="44" name="Oval 43"/>
          <p:cNvSpPr/>
          <p:nvPr/>
        </p:nvSpPr>
        <p:spPr>
          <a:xfrm>
            <a:off x="7178321" y="2277339"/>
            <a:ext cx="595818" cy="595818"/>
          </a:xfrm>
          <a:prstGeom prst="ellipse">
            <a:avLst/>
          </a:prstGeom>
          <a:solidFill>
            <a:srgbClr val="0F4C8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99539" y="2495238"/>
            <a:ext cx="565785" cy="1600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Analytics</a:t>
            </a:r>
          </a:p>
        </p:txBody>
      </p:sp>
      <p:sp>
        <p:nvSpPr>
          <p:cNvPr id="46" name="Oval 45"/>
          <p:cNvSpPr/>
          <p:nvPr/>
        </p:nvSpPr>
        <p:spPr>
          <a:xfrm>
            <a:off x="5431291" y="3181226"/>
            <a:ext cx="451876" cy="451876"/>
          </a:xfrm>
          <a:prstGeom prst="ellipse">
            <a:avLst/>
          </a:prstGeom>
          <a:solidFill>
            <a:srgbClr val="0F4C8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08567" y="3327154"/>
            <a:ext cx="628650" cy="1600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Mobile App</a:t>
            </a:r>
          </a:p>
        </p:txBody>
      </p:sp>
      <p:sp>
        <p:nvSpPr>
          <p:cNvPr id="48" name="Oval 47"/>
          <p:cNvSpPr/>
          <p:nvPr/>
        </p:nvSpPr>
        <p:spPr>
          <a:xfrm>
            <a:off x="2284326" y="4673366"/>
            <a:ext cx="379302" cy="379302"/>
          </a:xfrm>
          <a:prstGeom prst="ellipse">
            <a:avLst/>
          </a:prstGeom>
          <a:solidFill>
            <a:srgbClr val="0F4C8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89028" y="4783007"/>
            <a:ext cx="628650" cy="1600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Legacy ERP</a:t>
            </a:r>
          </a:p>
        </p:txBody>
      </p:sp>
      <p:sp>
        <p:nvSpPr>
          <p:cNvPr id="50" name="Oval 49"/>
          <p:cNvSpPr/>
          <p:nvPr/>
        </p:nvSpPr>
        <p:spPr>
          <a:xfrm>
            <a:off x="3693705" y="3886578"/>
            <a:ext cx="289046" cy="289046"/>
          </a:xfrm>
          <a:prstGeom prst="ellipse">
            <a:avLst/>
          </a:prstGeom>
          <a:solidFill>
            <a:srgbClr val="0F4C8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08151" y="3951091"/>
            <a:ext cx="817245" cy="1600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Desktop Suite</a:t>
            </a:r>
          </a:p>
        </p:txBody>
      </p:sp>
      <p:sp>
        <p:nvSpPr>
          <p:cNvPr id="52" name="Oval 51"/>
          <p:cNvSpPr/>
          <p:nvPr/>
        </p:nvSpPr>
        <p:spPr>
          <a:xfrm>
            <a:off x="6490530" y="4370859"/>
            <a:ext cx="152400" cy="15240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20972" y="4185439"/>
            <a:ext cx="691515" cy="1600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IoT Sensors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08746" y="1951311"/>
            <a:ext cx="1090723" cy="223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Public Sans"/>
              </a:rPr>
              <a:t>Revenue ($M)</a:t>
            </a:r>
          </a:p>
        </p:txBody>
      </p:sp>
      <p:sp>
        <p:nvSpPr>
          <p:cNvPr id="55" name="Oval 54"/>
          <p:cNvSpPr/>
          <p:nvPr/>
        </p:nvSpPr>
        <p:spPr>
          <a:xfrm>
            <a:off x="10329548" y="2278844"/>
            <a:ext cx="152400" cy="152400"/>
          </a:xfrm>
          <a:prstGeom prst="ellipse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532748" y="2257254"/>
            <a:ext cx="866721" cy="1955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40</a:t>
            </a:r>
          </a:p>
        </p:txBody>
      </p:sp>
      <p:sp>
        <p:nvSpPr>
          <p:cNvPr id="57" name="Oval 56"/>
          <p:cNvSpPr/>
          <p:nvPr/>
        </p:nvSpPr>
        <p:spPr>
          <a:xfrm>
            <a:off x="10329548" y="2576862"/>
            <a:ext cx="479918" cy="479918"/>
          </a:xfrm>
          <a:prstGeom prst="ellipse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60266" y="2719031"/>
            <a:ext cx="539203" cy="1955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120</a:t>
            </a:r>
          </a:p>
        </p:txBody>
      </p:sp>
      <p:sp>
        <p:nvSpPr>
          <p:cNvPr id="59" name="Oval 58"/>
          <p:cNvSpPr/>
          <p:nvPr/>
        </p:nvSpPr>
        <p:spPr>
          <a:xfrm>
            <a:off x="10329548" y="3202398"/>
            <a:ext cx="479918" cy="479918"/>
          </a:xfrm>
          <a:prstGeom prst="ellipse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60266" y="3344567"/>
            <a:ext cx="539203" cy="1955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200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