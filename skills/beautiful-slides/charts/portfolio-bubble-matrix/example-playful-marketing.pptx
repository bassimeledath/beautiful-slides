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1B1F"/>
                </a:solidFill>
                <a:latin typeface="Bricolage Grotesque"/>
              </a:rPr>
              <a:t>Product strategy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7526" y="1774113"/>
            <a:ext cx="4433203" cy="186897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20729" y="1774113"/>
            <a:ext cx="4433203" cy="1868970"/>
          </a:xfrm>
          <a:prstGeom prst="rect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20729" y="1774113"/>
            <a:ext cx="4433203" cy="186897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7526" y="3643083"/>
            <a:ext cx="4433203" cy="1868970"/>
          </a:xfrm>
          <a:prstGeom prst="rect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7526" y="3643083"/>
            <a:ext cx="4433203" cy="186897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20729" y="3643083"/>
            <a:ext cx="4433203" cy="186897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287526" y="1774113"/>
            <a:ext cx="0" cy="3737941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20729" y="1774113"/>
            <a:ext cx="0" cy="3737941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53933" y="1774113"/>
            <a:ext cx="0" cy="3737941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87526" y="1774113"/>
            <a:ext cx="8866407" cy="0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87526" y="3643083"/>
            <a:ext cx="8866407" cy="0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7526" y="5512054"/>
            <a:ext cx="8866407" cy="0"/>
          </a:xfrm>
          <a:prstGeom prst="line">
            <a:avLst/>
          </a:prstGeom>
          <a:ln w="1270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09186" y="1867561"/>
            <a:ext cx="39898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Plus Jakarta Sans"/>
              </a:rPr>
              <a:t>Invest &amp;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2389" y="1867561"/>
            <a:ext cx="39898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Plus Jakarta Sans"/>
              </a:rPr>
              <a:t>Priority builds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9186" y="3736531"/>
            <a:ext cx="39898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Plus Jakarta Sans"/>
              </a:rPr>
              <a:t>Deprioritize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2389" y="3736531"/>
            <a:ext cx="39898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Plus Jakarta Sans"/>
              </a:rPr>
              <a:t>Quick wins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7526" y="5543257"/>
            <a:ext cx="4433203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20729" y="5543257"/>
            <a:ext cx="4433203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226" y="1774113"/>
            <a:ext cx="559893" cy="18689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Plus Jakarta Sans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226" y="3643083"/>
            <a:ext cx="559893" cy="18689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Plus Jakarta Sans"/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7526" y="5838139"/>
            <a:ext cx="8866407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Plus Jakarta Sans"/>
              </a:rPr>
              <a:t>Technical feasibility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7526" y="1428191"/>
            <a:ext cx="8866407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Business value</a:t>
            </a:r>
          </a:p>
        </p:txBody>
      </p:sp>
      <p:sp>
        <p:nvSpPr>
          <p:cNvPr id="26" name="Oval 25"/>
          <p:cNvSpPr/>
          <p:nvPr/>
        </p:nvSpPr>
        <p:spPr>
          <a:xfrm>
            <a:off x="7581731" y="2166101"/>
            <a:ext cx="711200" cy="71120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8331" y="2415021"/>
            <a:ext cx="7543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Feature A</a:t>
            </a:r>
          </a:p>
        </p:txBody>
      </p:sp>
      <p:sp>
        <p:nvSpPr>
          <p:cNvPr id="28" name="Oval 27"/>
          <p:cNvSpPr/>
          <p:nvPr/>
        </p:nvSpPr>
        <p:spPr>
          <a:xfrm>
            <a:off x="5860765" y="2966005"/>
            <a:ext cx="606568" cy="606568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733" y="3162609"/>
            <a:ext cx="7543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Feature E</a:t>
            </a:r>
          </a:p>
        </p:txBody>
      </p:sp>
      <p:sp>
        <p:nvSpPr>
          <p:cNvPr id="30" name="Oval 29"/>
          <p:cNvSpPr/>
          <p:nvPr/>
        </p:nvSpPr>
        <p:spPr>
          <a:xfrm>
            <a:off x="3264312" y="2094989"/>
            <a:ext cx="479630" cy="47963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9342" y="2228124"/>
            <a:ext cx="7543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Feature B</a:t>
            </a:r>
          </a:p>
        </p:txBody>
      </p:sp>
      <p:sp>
        <p:nvSpPr>
          <p:cNvPr id="32" name="Oval 31"/>
          <p:cNvSpPr/>
          <p:nvPr/>
        </p:nvSpPr>
        <p:spPr>
          <a:xfrm>
            <a:off x="8228857" y="4425774"/>
            <a:ext cx="303588" cy="303588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7845" y="4470888"/>
            <a:ext cx="7543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Feature C</a:t>
            </a:r>
          </a:p>
        </p:txBody>
      </p:sp>
      <p:sp>
        <p:nvSpPr>
          <p:cNvPr id="34" name="Oval 33"/>
          <p:cNvSpPr/>
          <p:nvPr/>
        </p:nvSpPr>
        <p:spPr>
          <a:xfrm>
            <a:off x="2984607" y="4688265"/>
            <a:ext cx="152400" cy="15240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62407" y="4657785"/>
            <a:ext cx="7543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B1B1F"/>
                </a:solidFill>
                <a:latin typeface="Plus Jakarta Sans"/>
              </a:rPr>
              <a:t>Feature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7946" y="2147907"/>
            <a:ext cx="1090723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1B1F"/>
                </a:solidFill>
                <a:latin typeface="Plus Jakarta Sans"/>
              </a:rPr>
              <a:t>Team size</a:t>
            </a:r>
          </a:p>
        </p:txBody>
      </p:sp>
      <p:sp>
        <p:nvSpPr>
          <p:cNvPr id="37" name="Oval 36"/>
          <p:cNvSpPr/>
          <p:nvPr/>
        </p:nvSpPr>
        <p:spPr>
          <a:xfrm>
            <a:off x="10278748" y="2536400"/>
            <a:ext cx="152400" cy="152400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81948" y="2488140"/>
            <a:ext cx="866721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15</a:t>
            </a:r>
          </a:p>
        </p:txBody>
      </p:sp>
      <p:sp>
        <p:nvSpPr>
          <p:cNvPr id="39" name="Oval 38"/>
          <p:cNvSpPr/>
          <p:nvPr/>
        </p:nvSpPr>
        <p:spPr>
          <a:xfrm>
            <a:off x="10278748" y="2834418"/>
            <a:ext cx="479918" cy="479918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09466" y="2949917"/>
            <a:ext cx="53920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32.5</a:t>
            </a:r>
          </a:p>
        </p:txBody>
      </p:sp>
      <p:sp>
        <p:nvSpPr>
          <p:cNvPr id="41" name="Oval 40"/>
          <p:cNvSpPr/>
          <p:nvPr/>
        </p:nvSpPr>
        <p:spPr>
          <a:xfrm>
            <a:off x="10278748" y="3459954"/>
            <a:ext cx="479918" cy="479918"/>
          </a:xfrm>
          <a:prstGeom prst="ellipse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09466" y="3575453"/>
            <a:ext cx="539203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Recursive Mono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