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5226" y="665226"/>
            <a:ext cx="108612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Manrope"/>
              </a:rPr>
              <a:t>GE/McKinsey portfolio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7526" y="1774113"/>
            <a:ext cx="2955469" cy="124598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42995" y="1774113"/>
            <a:ext cx="2955469" cy="1245980"/>
          </a:xfrm>
          <a:prstGeom prst="rect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42995" y="1774113"/>
            <a:ext cx="2955469" cy="124598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98464" y="1774113"/>
            <a:ext cx="2955469" cy="124598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87526" y="3020093"/>
            <a:ext cx="2955469" cy="1245980"/>
          </a:xfrm>
          <a:prstGeom prst="rect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87526" y="3020093"/>
            <a:ext cx="2955469" cy="124598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42995" y="3020093"/>
            <a:ext cx="2955469" cy="124598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98464" y="3020093"/>
            <a:ext cx="2955469" cy="1245980"/>
          </a:xfrm>
          <a:prstGeom prst="rect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98464" y="3020093"/>
            <a:ext cx="2955469" cy="124598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87526" y="4266073"/>
            <a:ext cx="2955469" cy="124598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42995" y="4266073"/>
            <a:ext cx="2955469" cy="1245980"/>
          </a:xfrm>
          <a:prstGeom prst="rect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42995" y="4266073"/>
            <a:ext cx="2955469" cy="124598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98464" y="4266073"/>
            <a:ext cx="2955469" cy="124598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287526" y="1774113"/>
            <a:ext cx="0" cy="3737941"/>
          </a:xfrm>
          <a:prstGeom prst="line">
            <a:avLst/>
          </a:prstGeom>
          <a:ln w="1270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242995" y="1774113"/>
            <a:ext cx="0" cy="3737941"/>
          </a:xfrm>
          <a:prstGeom prst="line">
            <a:avLst/>
          </a:prstGeom>
          <a:ln w="1270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198464" y="1774113"/>
            <a:ext cx="0" cy="3737941"/>
          </a:xfrm>
          <a:prstGeom prst="line">
            <a:avLst/>
          </a:prstGeom>
          <a:ln w="1270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153933" y="1774113"/>
            <a:ext cx="0" cy="3737941"/>
          </a:xfrm>
          <a:prstGeom prst="line">
            <a:avLst/>
          </a:prstGeom>
          <a:ln w="1270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287526" y="1774113"/>
            <a:ext cx="8866407" cy="0"/>
          </a:xfrm>
          <a:prstGeom prst="line">
            <a:avLst/>
          </a:prstGeom>
          <a:ln w="1270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87526" y="3020093"/>
            <a:ext cx="8866407" cy="0"/>
          </a:xfrm>
          <a:prstGeom prst="line">
            <a:avLst/>
          </a:prstGeom>
          <a:ln w="1270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287526" y="4266073"/>
            <a:ext cx="8866407" cy="0"/>
          </a:xfrm>
          <a:prstGeom prst="line">
            <a:avLst/>
          </a:prstGeom>
          <a:ln w="1270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87526" y="5512054"/>
            <a:ext cx="8866407" cy="0"/>
          </a:xfrm>
          <a:prstGeom prst="line">
            <a:avLst/>
          </a:prstGeom>
          <a:ln w="1270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435299" y="1836412"/>
            <a:ext cx="265992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anrope"/>
              </a:rPr>
              <a:t>Selective growth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90768" y="1836412"/>
            <a:ext cx="265992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anrope"/>
              </a:rPr>
              <a:t>Invest/grow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46237" y="1836412"/>
            <a:ext cx="265992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anrope"/>
              </a:rPr>
              <a:t>Invest/grow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35299" y="3082392"/>
            <a:ext cx="265992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anrope"/>
              </a:rPr>
              <a:t>Harvest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0768" y="3082392"/>
            <a:ext cx="265992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anrope"/>
              </a:rPr>
              <a:t>Selective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46237" y="3082392"/>
            <a:ext cx="265992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anrope"/>
              </a:rPr>
              <a:t>Selective growth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35299" y="4328372"/>
            <a:ext cx="265992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anrope"/>
              </a:rPr>
              <a:t>Divest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90768" y="4328372"/>
            <a:ext cx="265992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anrope"/>
              </a:rPr>
              <a:t>Harvest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46237" y="4328372"/>
            <a:ext cx="265992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anrope"/>
              </a:rPr>
              <a:t>Selective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7526" y="5543257"/>
            <a:ext cx="2955469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42995" y="5543257"/>
            <a:ext cx="2955469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Medium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98464" y="5543257"/>
            <a:ext cx="2955469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High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5226" y="1774113"/>
            <a:ext cx="559893" cy="12459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Manrope"/>
              </a:rPr>
              <a:t>High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5226" y="3020093"/>
            <a:ext cx="559893" cy="12459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Manrope"/>
              </a:rPr>
              <a:t>Medium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5226" y="4266073"/>
            <a:ext cx="559893" cy="12459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5F7FA"/>
                </a:solidFill>
                <a:latin typeface="Manrope"/>
              </a:rPr>
              <a:t>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7526" y="5838139"/>
            <a:ext cx="8866407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  <a:latin typeface="Manrope"/>
              </a:rPr>
              <a:t>Competitive strength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87526" y="1428191"/>
            <a:ext cx="8866407" cy="325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Manrope"/>
              </a:rPr>
              <a:t>Market attractiveness</a:t>
            </a:r>
          </a:p>
        </p:txBody>
      </p:sp>
      <p:sp>
        <p:nvSpPr>
          <p:cNvPr id="42" name="Oval 41"/>
          <p:cNvSpPr/>
          <p:nvPr/>
        </p:nvSpPr>
        <p:spPr>
          <a:xfrm>
            <a:off x="8468371" y="1792307"/>
            <a:ext cx="711200" cy="711200"/>
          </a:xfrm>
          <a:prstGeom prst="ellipse">
            <a:avLst/>
          </a:prstGeom>
          <a:solidFill>
            <a:srgbClr val="21D4FD"/>
          </a:solidFill>
          <a:ln w="12700">
            <a:solidFill>
              <a:srgbClr val="0507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37231" y="2528907"/>
            <a:ext cx="117348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Manrope"/>
              </a:rPr>
              <a:t>Cloud Platform</a:t>
            </a:r>
          </a:p>
        </p:txBody>
      </p:sp>
      <p:sp>
        <p:nvSpPr>
          <p:cNvPr id="44" name="Oval 43"/>
          <p:cNvSpPr/>
          <p:nvPr/>
        </p:nvSpPr>
        <p:spPr>
          <a:xfrm>
            <a:off x="7196101" y="2410689"/>
            <a:ext cx="595818" cy="595818"/>
          </a:xfrm>
          <a:prstGeom prst="ellipse">
            <a:avLst/>
          </a:prstGeom>
          <a:solidFill>
            <a:srgbClr val="21D4FD"/>
          </a:solidFill>
          <a:ln w="12700">
            <a:solidFill>
              <a:srgbClr val="0507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16321" y="2601918"/>
            <a:ext cx="75438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Manrope"/>
              </a:rPr>
              <a:t>Analytics</a:t>
            </a:r>
          </a:p>
        </p:txBody>
      </p:sp>
      <p:sp>
        <p:nvSpPr>
          <p:cNvPr id="46" name="Oval 45"/>
          <p:cNvSpPr/>
          <p:nvPr/>
        </p:nvSpPr>
        <p:spPr>
          <a:xfrm>
            <a:off x="5494791" y="3230248"/>
            <a:ext cx="451876" cy="451876"/>
          </a:xfrm>
          <a:prstGeom prst="ellipse">
            <a:avLst/>
          </a:prstGeom>
          <a:solidFill>
            <a:srgbClr val="21D4FD"/>
          </a:solidFill>
          <a:ln w="12700">
            <a:solidFill>
              <a:srgbClr val="0507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01629" y="3707524"/>
            <a:ext cx="83820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Manrope"/>
              </a:rPr>
              <a:t>Mobile App</a:t>
            </a:r>
          </a:p>
        </p:txBody>
      </p:sp>
      <p:sp>
        <p:nvSpPr>
          <p:cNvPr id="48" name="Oval 47"/>
          <p:cNvSpPr/>
          <p:nvPr/>
        </p:nvSpPr>
        <p:spPr>
          <a:xfrm>
            <a:off x="2427836" y="4574814"/>
            <a:ext cx="379302" cy="379302"/>
          </a:xfrm>
          <a:prstGeom prst="ellipse">
            <a:avLst/>
          </a:prstGeom>
          <a:solidFill>
            <a:srgbClr val="21D4FD"/>
          </a:solidFill>
          <a:ln w="12700">
            <a:solidFill>
              <a:srgbClr val="0507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32538" y="4657785"/>
            <a:ext cx="83820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Manrope"/>
              </a:rPr>
              <a:t>Legacy ERP</a:t>
            </a:r>
          </a:p>
        </p:txBody>
      </p:sp>
      <p:sp>
        <p:nvSpPr>
          <p:cNvPr id="50" name="Oval 49"/>
          <p:cNvSpPr/>
          <p:nvPr/>
        </p:nvSpPr>
        <p:spPr>
          <a:xfrm>
            <a:off x="3802925" y="3872354"/>
            <a:ext cx="289046" cy="289046"/>
          </a:xfrm>
          <a:prstGeom prst="ellipse">
            <a:avLst/>
          </a:prstGeom>
          <a:solidFill>
            <a:srgbClr val="21D4FD"/>
          </a:solidFill>
          <a:ln w="12700">
            <a:solidFill>
              <a:srgbClr val="0507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7371" y="3910197"/>
            <a:ext cx="108966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Manrope"/>
              </a:rPr>
              <a:t>Desktop Suite</a:t>
            </a:r>
          </a:p>
        </p:txBody>
      </p:sp>
      <p:sp>
        <p:nvSpPr>
          <p:cNvPr id="52" name="Oval 51"/>
          <p:cNvSpPr/>
          <p:nvPr/>
        </p:nvSpPr>
        <p:spPr>
          <a:xfrm>
            <a:off x="6531170" y="4314471"/>
            <a:ext cx="152400" cy="152400"/>
          </a:xfrm>
          <a:prstGeom prst="ellipse">
            <a:avLst/>
          </a:prstGeom>
          <a:solidFill>
            <a:srgbClr val="21D4FD"/>
          </a:solidFill>
          <a:ln w="12700">
            <a:solidFill>
              <a:srgbClr val="0507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46360" y="4075711"/>
            <a:ext cx="92202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Manrope"/>
              </a:rPr>
              <a:t>IoT Sensors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57946" y="2147907"/>
            <a:ext cx="1090723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Manrope"/>
              </a:rPr>
              <a:t>Revenue ($M)</a:t>
            </a:r>
          </a:p>
        </p:txBody>
      </p:sp>
      <p:sp>
        <p:nvSpPr>
          <p:cNvPr id="55" name="Oval 54"/>
          <p:cNvSpPr/>
          <p:nvPr/>
        </p:nvSpPr>
        <p:spPr>
          <a:xfrm>
            <a:off x="10278748" y="2536400"/>
            <a:ext cx="152400" cy="152400"/>
          </a:xfrm>
          <a:prstGeom prst="ellipse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481948" y="2488140"/>
            <a:ext cx="866721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JetBrains Mono"/>
              </a:rPr>
              <a:t>40</a:t>
            </a:r>
          </a:p>
        </p:txBody>
      </p:sp>
      <p:sp>
        <p:nvSpPr>
          <p:cNvPr id="57" name="Oval 56"/>
          <p:cNvSpPr/>
          <p:nvPr/>
        </p:nvSpPr>
        <p:spPr>
          <a:xfrm>
            <a:off x="10278748" y="2834418"/>
            <a:ext cx="479918" cy="479918"/>
          </a:xfrm>
          <a:prstGeom prst="ellipse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809466" y="2949917"/>
            <a:ext cx="539203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JetBrains Mono"/>
              </a:rPr>
              <a:t>120</a:t>
            </a:r>
          </a:p>
        </p:txBody>
      </p:sp>
      <p:sp>
        <p:nvSpPr>
          <p:cNvPr id="59" name="Oval 58"/>
          <p:cNvSpPr/>
          <p:nvPr/>
        </p:nvSpPr>
        <p:spPr>
          <a:xfrm>
            <a:off x="10278748" y="3459954"/>
            <a:ext cx="479918" cy="479918"/>
          </a:xfrm>
          <a:prstGeom prst="ellipse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809466" y="3575453"/>
            <a:ext cx="539203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JetBrains Mono"/>
              </a:rPr>
              <a:t>200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