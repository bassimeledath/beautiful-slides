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11460175" cy="612648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0186" y="580186"/>
            <a:ext cx="11031323" cy="566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81514"/>
                </a:solidFill>
                <a:latin typeface="Fraunces"/>
              </a:rPr>
              <a:t>Revenue retention by cohort, first 12 months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0186" y="1211441"/>
            <a:ext cx="11031323" cy="276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F675F"/>
                </a:solidFill>
                <a:latin typeface="Newsreader"/>
              </a:rPr>
              <a:t>Revenue retention (%)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97000" y="5652441"/>
            <a:ext cx="8510085" cy="0"/>
          </a:xfrm>
          <a:prstGeom prst="line">
            <a:avLst/>
          </a:prstGeom>
          <a:ln w="6350">
            <a:solidFill>
              <a:srgbClr val="6F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497000" y="4828088"/>
            <a:ext cx="8510085" cy="0"/>
          </a:xfrm>
          <a:prstGeom prst="line">
            <a:avLst/>
          </a:prstGeom>
          <a:ln w="6350">
            <a:solidFill>
              <a:srgbClr val="6F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97000" y="4003735"/>
            <a:ext cx="8510085" cy="0"/>
          </a:xfrm>
          <a:prstGeom prst="line">
            <a:avLst/>
          </a:prstGeom>
          <a:ln w="6350">
            <a:solidFill>
              <a:srgbClr val="6F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97000" y="3179383"/>
            <a:ext cx="8510085" cy="0"/>
          </a:xfrm>
          <a:prstGeom prst="line">
            <a:avLst/>
          </a:prstGeom>
          <a:ln w="6350">
            <a:solidFill>
              <a:srgbClr val="6F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97000" y="2355030"/>
            <a:ext cx="8510085" cy="0"/>
          </a:xfrm>
          <a:prstGeom prst="line">
            <a:avLst/>
          </a:prstGeom>
          <a:ln w="6350">
            <a:solidFill>
              <a:srgbClr val="6F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497000" y="1530678"/>
            <a:ext cx="8510085" cy="0"/>
          </a:xfrm>
          <a:prstGeom prst="line">
            <a:avLst/>
          </a:prstGeom>
          <a:ln w="6350">
            <a:solidFill>
              <a:srgbClr val="6F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3864" y="5545761"/>
            <a:ext cx="870973" cy="213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181514"/>
                </a:solidFill>
                <a:latin typeface="IBM Plex Mono"/>
              </a:rPr>
              <a:t>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864" y="4721408"/>
            <a:ext cx="870973" cy="213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181514"/>
                </a:solidFill>
                <a:latin typeface="IBM Plex Mono"/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864" y="3897055"/>
            <a:ext cx="870973" cy="213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181514"/>
                </a:solidFill>
                <a:latin typeface="IBM Plex Mono"/>
              </a:rPr>
              <a:t>105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3864" y="3072703"/>
            <a:ext cx="870973" cy="213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181514"/>
                </a:solidFill>
                <a:latin typeface="IBM Plex Mono"/>
              </a:rPr>
              <a:t>110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3864" y="2248350"/>
            <a:ext cx="870973" cy="213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181514"/>
                </a:solidFill>
                <a:latin typeface="IBM Plex Mono"/>
              </a:rPr>
              <a:t>115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864" y="1423998"/>
            <a:ext cx="870973" cy="213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181514"/>
                </a:solidFill>
                <a:latin typeface="IBM Plex Mono"/>
              </a:rPr>
              <a:t>120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97000" y="1530678"/>
            <a:ext cx="0" cy="4121763"/>
          </a:xfrm>
          <a:prstGeom prst="line">
            <a:avLst/>
          </a:prstGeom>
          <a:ln w="9525">
            <a:solidFill>
              <a:srgbClr val="6F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97000" y="5652441"/>
            <a:ext cx="8510085" cy="0"/>
          </a:xfrm>
          <a:prstGeom prst="line">
            <a:avLst/>
          </a:prstGeom>
          <a:ln w="9525">
            <a:solidFill>
              <a:srgbClr val="6F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73302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81514"/>
                </a:solidFill>
                <a:latin typeface="Newsreader"/>
              </a:rPr>
              <a:t>M0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2476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81514"/>
                </a:solidFill>
                <a:latin typeface="Newsreader"/>
              </a:rPr>
              <a:t>M1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1650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81514"/>
                </a:solidFill>
                <a:latin typeface="Newsreader"/>
              </a:rPr>
              <a:t>M2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0823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81514"/>
                </a:solidFill>
                <a:latin typeface="Newsreader"/>
              </a:rPr>
              <a:t>M3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9997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81514"/>
                </a:solidFill>
                <a:latin typeface="Newsreader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9171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81514"/>
                </a:solidFill>
                <a:latin typeface="Newsreader"/>
              </a:rPr>
              <a:t>M5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8345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81514"/>
                </a:solidFill>
                <a:latin typeface="Newsreader"/>
              </a:rPr>
              <a:t>M6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37518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81514"/>
                </a:solidFill>
                <a:latin typeface="Newsreader"/>
              </a:rPr>
              <a:t>M7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6692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81514"/>
                </a:solidFill>
                <a:latin typeface="Newsreader"/>
              </a:rPr>
              <a:t>M8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55866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81514"/>
                </a:solidFill>
                <a:latin typeface="Newsreader"/>
              </a:rPr>
              <a:t>M9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40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81514"/>
                </a:solidFill>
                <a:latin typeface="Newsreader"/>
              </a:rPr>
              <a:t>M10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4213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81514"/>
                </a:solidFill>
                <a:latin typeface="Newsreader"/>
              </a:rPr>
              <a:t>M11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3387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81514"/>
                </a:solidFill>
                <a:latin typeface="Newsreader"/>
              </a:rPr>
              <a:t>M12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7000" y="5939166"/>
            <a:ext cx="8510085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F675F"/>
                </a:solidFill>
                <a:latin typeface="Newsreader"/>
              </a:rPr>
              <a:t>Months from cohort start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497000" y="4828088"/>
            <a:ext cx="709173" cy="329741"/>
          </a:xfrm>
          <a:prstGeom prst="line">
            <a:avLst/>
          </a:prstGeom>
          <a:ln w="15875">
            <a:solidFill>
              <a:srgbClr val="6F675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206173" y="5157829"/>
            <a:ext cx="709174" cy="164870"/>
          </a:xfrm>
          <a:prstGeom prst="line">
            <a:avLst/>
          </a:prstGeom>
          <a:ln w="15875">
            <a:solidFill>
              <a:srgbClr val="6F675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2915347" y="5157829"/>
            <a:ext cx="709174" cy="164870"/>
          </a:xfrm>
          <a:prstGeom prst="line">
            <a:avLst/>
          </a:prstGeom>
          <a:ln w="15875">
            <a:solidFill>
              <a:srgbClr val="6F675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624521" y="4828088"/>
            <a:ext cx="709174" cy="329741"/>
          </a:xfrm>
          <a:prstGeom prst="line">
            <a:avLst/>
          </a:prstGeom>
          <a:ln w="15875">
            <a:solidFill>
              <a:srgbClr val="6F675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333695" y="4663217"/>
            <a:ext cx="709173" cy="164871"/>
          </a:xfrm>
          <a:prstGeom prst="line">
            <a:avLst/>
          </a:prstGeom>
          <a:ln w="15875">
            <a:solidFill>
              <a:srgbClr val="6F675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042868" y="4498347"/>
            <a:ext cx="709174" cy="164870"/>
          </a:xfrm>
          <a:prstGeom prst="line">
            <a:avLst/>
          </a:prstGeom>
          <a:ln w="15875">
            <a:solidFill>
              <a:srgbClr val="6F675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752042" y="4333476"/>
            <a:ext cx="709174" cy="164871"/>
          </a:xfrm>
          <a:prstGeom prst="line">
            <a:avLst/>
          </a:prstGeom>
          <a:ln w="15875">
            <a:solidFill>
              <a:srgbClr val="6F675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461216" y="4168606"/>
            <a:ext cx="709174" cy="164870"/>
          </a:xfrm>
          <a:prstGeom prst="line">
            <a:avLst/>
          </a:prstGeom>
          <a:ln w="15875">
            <a:solidFill>
              <a:srgbClr val="6F675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170390" y="4168606"/>
            <a:ext cx="709173" cy="0"/>
          </a:xfrm>
          <a:prstGeom prst="line">
            <a:avLst/>
          </a:prstGeom>
          <a:ln w="15875">
            <a:solidFill>
              <a:srgbClr val="6F675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7879563" y="4003735"/>
            <a:ext cx="709174" cy="164871"/>
          </a:xfrm>
          <a:prstGeom prst="line">
            <a:avLst/>
          </a:prstGeom>
          <a:ln w="15875">
            <a:solidFill>
              <a:srgbClr val="6F675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588737" y="4003735"/>
            <a:ext cx="709174" cy="0"/>
          </a:xfrm>
          <a:prstGeom prst="line">
            <a:avLst/>
          </a:prstGeom>
          <a:ln w="15875">
            <a:solidFill>
              <a:srgbClr val="6F675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297911" y="3838865"/>
            <a:ext cx="709174" cy="164870"/>
          </a:xfrm>
          <a:prstGeom prst="line">
            <a:avLst/>
          </a:prstGeom>
          <a:ln w="15875">
            <a:solidFill>
              <a:srgbClr val="6F675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057885" y="3716945"/>
            <a:ext cx="1524202" cy="243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F675F"/>
                </a:solidFill>
                <a:latin typeface="Newsreader"/>
              </a:rPr>
              <a:t>Q1 '25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497000" y="4828088"/>
            <a:ext cx="709173" cy="164870"/>
          </a:xfrm>
          <a:prstGeom prst="line">
            <a:avLst/>
          </a:prstGeom>
          <a:ln w="15875">
            <a:solidFill>
              <a:srgbClr val="6F675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206173" y="4828088"/>
            <a:ext cx="709174" cy="164870"/>
          </a:xfrm>
          <a:prstGeom prst="line">
            <a:avLst/>
          </a:prstGeom>
          <a:ln w="15875">
            <a:solidFill>
              <a:srgbClr val="6F675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915347" y="4498347"/>
            <a:ext cx="709174" cy="329741"/>
          </a:xfrm>
          <a:prstGeom prst="line">
            <a:avLst/>
          </a:prstGeom>
          <a:ln w="15875">
            <a:solidFill>
              <a:srgbClr val="6F675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624521" y="4168606"/>
            <a:ext cx="709174" cy="329741"/>
          </a:xfrm>
          <a:prstGeom prst="line">
            <a:avLst/>
          </a:prstGeom>
          <a:ln w="15875">
            <a:solidFill>
              <a:srgbClr val="6F675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333695" y="4003735"/>
            <a:ext cx="709173" cy="164871"/>
          </a:xfrm>
          <a:prstGeom prst="line">
            <a:avLst/>
          </a:prstGeom>
          <a:ln w="15875">
            <a:solidFill>
              <a:srgbClr val="6F675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042868" y="3838865"/>
            <a:ext cx="709174" cy="164870"/>
          </a:xfrm>
          <a:prstGeom prst="line">
            <a:avLst/>
          </a:prstGeom>
          <a:ln w="15875">
            <a:solidFill>
              <a:srgbClr val="6F675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752042" y="3838865"/>
            <a:ext cx="709174" cy="0"/>
          </a:xfrm>
          <a:prstGeom prst="line">
            <a:avLst/>
          </a:prstGeom>
          <a:ln w="15875">
            <a:solidFill>
              <a:srgbClr val="6F675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6461216" y="3673994"/>
            <a:ext cx="709174" cy="164871"/>
          </a:xfrm>
          <a:prstGeom prst="line">
            <a:avLst/>
          </a:prstGeom>
          <a:ln w="15875">
            <a:solidFill>
              <a:srgbClr val="6F675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7170390" y="3509124"/>
            <a:ext cx="709173" cy="164870"/>
          </a:xfrm>
          <a:prstGeom prst="line">
            <a:avLst/>
          </a:prstGeom>
          <a:ln w="15875">
            <a:solidFill>
              <a:srgbClr val="6F675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879563" y="3344253"/>
            <a:ext cx="709174" cy="164871"/>
          </a:xfrm>
          <a:prstGeom prst="line">
            <a:avLst/>
          </a:prstGeom>
          <a:ln w="15875">
            <a:solidFill>
              <a:srgbClr val="6F675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8588737" y="3179383"/>
            <a:ext cx="709174" cy="164870"/>
          </a:xfrm>
          <a:prstGeom prst="line">
            <a:avLst/>
          </a:prstGeom>
          <a:ln w="15875">
            <a:solidFill>
              <a:srgbClr val="6F675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97911" y="3179383"/>
            <a:ext cx="709174" cy="0"/>
          </a:xfrm>
          <a:prstGeom prst="line">
            <a:avLst/>
          </a:prstGeom>
          <a:ln w="15875">
            <a:solidFill>
              <a:srgbClr val="6F675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0057885" y="3057463"/>
            <a:ext cx="1524202" cy="243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F675F"/>
                </a:solidFill>
                <a:latin typeface="Newsreader"/>
              </a:rPr>
              <a:t>Q2 '25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1497000" y="4498347"/>
            <a:ext cx="709173" cy="329741"/>
          </a:xfrm>
          <a:prstGeom prst="line">
            <a:avLst/>
          </a:prstGeom>
          <a:ln w="15875">
            <a:solidFill>
              <a:srgbClr val="6F675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206173" y="3838865"/>
            <a:ext cx="709174" cy="659482"/>
          </a:xfrm>
          <a:prstGeom prst="line">
            <a:avLst/>
          </a:prstGeom>
          <a:ln w="15875">
            <a:solidFill>
              <a:srgbClr val="6F675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915347" y="3344253"/>
            <a:ext cx="709174" cy="494612"/>
          </a:xfrm>
          <a:prstGeom prst="line">
            <a:avLst/>
          </a:prstGeom>
          <a:ln w="15875">
            <a:solidFill>
              <a:srgbClr val="6F675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624521" y="3179383"/>
            <a:ext cx="709174" cy="164870"/>
          </a:xfrm>
          <a:prstGeom prst="line">
            <a:avLst/>
          </a:prstGeom>
          <a:ln w="15875">
            <a:solidFill>
              <a:srgbClr val="6F675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333695" y="2849642"/>
            <a:ext cx="709173" cy="329741"/>
          </a:xfrm>
          <a:prstGeom prst="line">
            <a:avLst/>
          </a:prstGeom>
          <a:ln w="15875">
            <a:solidFill>
              <a:srgbClr val="6F675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042868" y="2849642"/>
            <a:ext cx="709174" cy="0"/>
          </a:xfrm>
          <a:prstGeom prst="line">
            <a:avLst/>
          </a:prstGeom>
          <a:ln w="15875">
            <a:solidFill>
              <a:srgbClr val="6F675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752042" y="2684771"/>
            <a:ext cx="709174" cy="164871"/>
          </a:xfrm>
          <a:prstGeom prst="line">
            <a:avLst/>
          </a:prstGeom>
          <a:ln w="15875">
            <a:solidFill>
              <a:srgbClr val="6F675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461216" y="2684771"/>
            <a:ext cx="709174" cy="0"/>
          </a:xfrm>
          <a:prstGeom prst="line">
            <a:avLst/>
          </a:prstGeom>
          <a:ln w="15875">
            <a:solidFill>
              <a:srgbClr val="6F675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221190" y="2562851"/>
            <a:ext cx="1524202" cy="243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F675F"/>
                </a:solidFill>
                <a:latin typeface="Newsreader"/>
              </a:rPr>
              <a:t>Q3 '25</a:t>
            </a:r>
          </a:p>
        </p:txBody>
      </p:sp>
      <p:cxnSp>
        <p:nvCxnSpPr>
          <p:cNvPr id="68" name="Connector 67"/>
          <p:cNvCxnSpPr/>
          <p:nvPr/>
        </p:nvCxnSpPr>
        <p:spPr>
          <a:xfrm flipV="1">
            <a:off x="1497000" y="4168606"/>
            <a:ext cx="709173" cy="659482"/>
          </a:xfrm>
          <a:prstGeom prst="line">
            <a:avLst/>
          </a:prstGeom>
          <a:ln w="31750">
            <a:solidFill>
              <a:srgbClr val="8C2F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206173" y="3014512"/>
            <a:ext cx="709174" cy="1154094"/>
          </a:xfrm>
          <a:prstGeom prst="line">
            <a:avLst/>
          </a:prstGeom>
          <a:ln w="31750">
            <a:solidFill>
              <a:srgbClr val="8C2F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915347" y="1860419"/>
            <a:ext cx="709174" cy="1154093"/>
          </a:xfrm>
          <a:prstGeom prst="line">
            <a:avLst/>
          </a:prstGeom>
          <a:ln w="31750">
            <a:solidFill>
              <a:srgbClr val="8C2F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3573721" y="1809619"/>
            <a:ext cx="101600" cy="101600"/>
          </a:xfrm>
          <a:prstGeom prst="ellipse">
            <a:avLst/>
          </a:prstGeom>
          <a:solidFill>
            <a:srgbClr val="9C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604201" y="1840099"/>
            <a:ext cx="40640" cy="40640"/>
          </a:xfrm>
          <a:prstGeom prst="ellipse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75321" y="1738499"/>
            <a:ext cx="1524202" cy="243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8C2F39"/>
                </a:solidFill>
                <a:latin typeface="Newsreader"/>
              </a:rPr>
              <a:t>Q4 '25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