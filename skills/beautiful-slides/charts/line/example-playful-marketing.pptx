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11460175" cy="6126480"/>
          </a:xfrm>
          <a:prstGeom prst="rect">
            <a:avLst/>
          </a:prstGeom>
          <a:solidFill>
            <a:srgbClr val="FF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0186" y="580186"/>
            <a:ext cx="11031323" cy="6377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B1B1F"/>
                </a:solidFill>
                <a:latin typeface="Bricolage Grotesque"/>
              </a:rPr>
              <a:t>Revenue retention by cohort, first 12 months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0186" y="1282307"/>
            <a:ext cx="11031323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E6A73"/>
                </a:solidFill>
                <a:latin typeface="Plus Jakarta Sans"/>
              </a:rPr>
              <a:t>Revenue retention (%)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97000" y="5566081"/>
            <a:ext cx="8510085" cy="0"/>
          </a:xfrm>
          <a:prstGeom prst="line">
            <a:avLst/>
          </a:prstGeom>
          <a:ln w="6350">
            <a:solidFill>
              <a:srgbClr val="6E6A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497000" y="4780082"/>
            <a:ext cx="8510085" cy="0"/>
          </a:xfrm>
          <a:prstGeom prst="line">
            <a:avLst/>
          </a:prstGeom>
          <a:ln w="6350">
            <a:solidFill>
              <a:srgbClr val="6E6A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497000" y="3994083"/>
            <a:ext cx="8510085" cy="0"/>
          </a:xfrm>
          <a:prstGeom prst="line">
            <a:avLst/>
          </a:prstGeom>
          <a:ln w="6350">
            <a:solidFill>
              <a:srgbClr val="6E6A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97000" y="3208085"/>
            <a:ext cx="8510085" cy="0"/>
          </a:xfrm>
          <a:prstGeom prst="line">
            <a:avLst/>
          </a:prstGeom>
          <a:ln w="6350">
            <a:solidFill>
              <a:srgbClr val="6E6A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97000" y="2422086"/>
            <a:ext cx="8510085" cy="0"/>
          </a:xfrm>
          <a:prstGeom prst="line">
            <a:avLst/>
          </a:prstGeom>
          <a:ln w="6350">
            <a:solidFill>
              <a:srgbClr val="6E6A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497000" y="1636088"/>
            <a:ext cx="8510085" cy="0"/>
          </a:xfrm>
          <a:prstGeom prst="line">
            <a:avLst/>
          </a:prstGeom>
          <a:ln w="6350">
            <a:solidFill>
              <a:srgbClr val="6E6A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3864" y="5441621"/>
            <a:ext cx="870973" cy="24891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B1B1F"/>
                </a:solidFill>
                <a:latin typeface="Recursive Mono"/>
              </a:rPr>
              <a:t>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864" y="4655622"/>
            <a:ext cx="870973" cy="24891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B1B1F"/>
                </a:solidFill>
                <a:latin typeface="Recursive Mono"/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864" y="3869624"/>
            <a:ext cx="870973" cy="24891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B1B1F"/>
                </a:solidFill>
                <a:latin typeface="Recursive Mono"/>
              </a:rPr>
              <a:t>105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3864" y="3083625"/>
            <a:ext cx="870973" cy="24891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B1B1F"/>
                </a:solidFill>
                <a:latin typeface="Recursive Mono"/>
              </a:rPr>
              <a:t>110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3864" y="2297627"/>
            <a:ext cx="870973" cy="24891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B1B1F"/>
                </a:solidFill>
                <a:latin typeface="Recursive Mono"/>
              </a:rPr>
              <a:t>115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864" y="1511628"/>
            <a:ext cx="870973" cy="24891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B1B1F"/>
                </a:solidFill>
                <a:latin typeface="Recursive Mono"/>
              </a:rPr>
              <a:t>120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97000" y="1636088"/>
            <a:ext cx="0" cy="3929993"/>
          </a:xfrm>
          <a:prstGeom prst="line">
            <a:avLst/>
          </a:prstGeom>
          <a:ln w="9525">
            <a:solidFill>
              <a:srgbClr val="6E6A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97000" y="5566081"/>
            <a:ext cx="8510085" cy="0"/>
          </a:xfrm>
          <a:prstGeom prst="line">
            <a:avLst/>
          </a:prstGeom>
          <a:ln w="9525">
            <a:solidFill>
              <a:srgbClr val="6E6A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73302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Plus Jakarta Sans"/>
              </a:rPr>
              <a:t>M0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2476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Plus Jakarta Sans"/>
              </a:rPr>
              <a:t>M1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91650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Plus Jakarta Sans"/>
              </a:rPr>
              <a:t>M2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0823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Plus Jakarta Sans"/>
              </a:rPr>
              <a:t>M3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9997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Plus Jakarta Sans"/>
              </a:rPr>
              <a:t>M4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9171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Plus Jakarta Sans"/>
              </a:rPr>
              <a:t>M5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28345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Plus Jakarta Sans"/>
              </a:rPr>
              <a:t>M6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37518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Plus Jakarta Sans"/>
              </a:rPr>
              <a:t>M7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6692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Plus Jakarta Sans"/>
              </a:rPr>
              <a:t>M8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55866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Plus Jakarta Sans"/>
              </a:rPr>
              <a:t>M9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40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Plus Jakarta Sans"/>
              </a:rPr>
              <a:t>M10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4213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Plus Jakarta Sans"/>
              </a:rPr>
              <a:t>M11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3387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Plus Jakarta Sans"/>
              </a:rPr>
              <a:t>M12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7000" y="5893446"/>
            <a:ext cx="8510085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6E6A73"/>
                </a:solidFill>
                <a:latin typeface="Plus Jakarta Sans"/>
              </a:rPr>
              <a:t>Months from cohort start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497000" y="4780082"/>
            <a:ext cx="709173" cy="314399"/>
          </a:xfrm>
          <a:prstGeom prst="line">
            <a:avLst/>
          </a:prstGeom>
          <a:ln w="15875">
            <a:solidFill>
              <a:srgbClr val="6E6A73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206173" y="5094481"/>
            <a:ext cx="709174" cy="157200"/>
          </a:xfrm>
          <a:prstGeom prst="line">
            <a:avLst/>
          </a:prstGeom>
          <a:ln w="15875">
            <a:solidFill>
              <a:srgbClr val="6E6A73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2915347" y="5094481"/>
            <a:ext cx="709174" cy="157200"/>
          </a:xfrm>
          <a:prstGeom prst="line">
            <a:avLst/>
          </a:prstGeom>
          <a:ln w="15875">
            <a:solidFill>
              <a:srgbClr val="6E6A73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624521" y="4780082"/>
            <a:ext cx="709174" cy="314399"/>
          </a:xfrm>
          <a:prstGeom prst="line">
            <a:avLst/>
          </a:prstGeom>
          <a:ln w="15875">
            <a:solidFill>
              <a:srgbClr val="6E6A73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333695" y="4622882"/>
            <a:ext cx="709173" cy="157200"/>
          </a:xfrm>
          <a:prstGeom prst="line">
            <a:avLst/>
          </a:prstGeom>
          <a:ln w="15875">
            <a:solidFill>
              <a:srgbClr val="6E6A73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042868" y="4465682"/>
            <a:ext cx="709174" cy="157200"/>
          </a:xfrm>
          <a:prstGeom prst="line">
            <a:avLst/>
          </a:prstGeom>
          <a:ln w="15875">
            <a:solidFill>
              <a:srgbClr val="6E6A73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752042" y="4308483"/>
            <a:ext cx="709174" cy="157199"/>
          </a:xfrm>
          <a:prstGeom prst="line">
            <a:avLst/>
          </a:prstGeom>
          <a:ln w="15875">
            <a:solidFill>
              <a:srgbClr val="6E6A73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461216" y="4151283"/>
            <a:ext cx="709174" cy="157200"/>
          </a:xfrm>
          <a:prstGeom prst="line">
            <a:avLst/>
          </a:prstGeom>
          <a:ln w="15875">
            <a:solidFill>
              <a:srgbClr val="6E6A73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170390" y="4151283"/>
            <a:ext cx="709173" cy="0"/>
          </a:xfrm>
          <a:prstGeom prst="line">
            <a:avLst/>
          </a:prstGeom>
          <a:ln w="15875">
            <a:solidFill>
              <a:srgbClr val="6E6A73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7879563" y="3994083"/>
            <a:ext cx="709174" cy="157200"/>
          </a:xfrm>
          <a:prstGeom prst="line">
            <a:avLst/>
          </a:prstGeom>
          <a:ln w="15875">
            <a:solidFill>
              <a:srgbClr val="6E6A73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588737" y="3994083"/>
            <a:ext cx="709174" cy="0"/>
          </a:xfrm>
          <a:prstGeom prst="line">
            <a:avLst/>
          </a:prstGeom>
          <a:ln w="15875">
            <a:solidFill>
              <a:srgbClr val="6E6A73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297911" y="3836884"/>
            <a:ext cx="709174" cy="157199"/>
          </a:xfrm>
          <a:prstGeom prst="line">
            <a:avLst/>
          </a:prstGeom>
          <a:ln w="15875">
            <a:solidFill>
              <a:srgbClr val="6E6A73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057885" y="3694644"/>
            <a:ext cx="1524202" cy="284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E6A73"/>
                </a:solidFill>
                <a:latin typeface="Plus Jakarta Sans"/>
              </a:rPr>
              <a:t>Q1 '25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497000" y="4780082"/>
            <a:ext cx="709173" cy="157200"/>
          </a:xfrm>
          <a:prstGeom prst="line">
            <a:avLst/>
          </a:prstGeom>
          <a:ln w="15875">
            <a:solidFill>
              <a:srgbClr val="6E6A73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206173" y="4780082"/>
            <a:ext cx="709174" cy="157200"/>
          </a:xfrm>
          <a:prstGeom prst="line">
            <a:avLst/>
          </a:prstGeom>
          <a:ln w="15875">
            <a:solidFill>
              <a:srgbClr val="6E6A73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915347" y="4465682"/>
            <a:ext cx="709174" cy="314400"/>
          </a:xfrm>
          <a:prstGeom prst="line">
            <a:avLst/>
          </a:prstGeom>
          <a:ln w="15875">
            <a:solidFill>
              <a:srgbClr val="6E6A73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624521" y="4151283"/>
            <a:ext cx="709174" cy="314399"/>
          </a:xfrm>
          <a:prstGeom prst="line">
            <a:avLst/>
          </a:prstGeom>
          <a:ln w="15875">
            <a:solidFill>
              <a:srgbClr val="6E6A73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333695" y="3994083"/>
            <a:ext cx="709173" cy="157200"/>
          </a:xfrm>
          <a:prstGeom prst="line">
            <a:avLst/>
          </a:prstGeom>
          <a:ln w="15875">
            <a:solidFill>
              <a:srgbClr val="6E6A73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042868" y="3836884"/>
            <a:ext cx="709174" cy="157199"/>
          </a:xfrm>
          <a:prstGeom prst="line">
            <a:avLst/>
          </a:prstGeom>
          <a:ln w="15875">
            <a:solidFill>
              <a:srgbClr val="6E6A73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752042" y="3836884"/>
            <a:ext cx="709174" cy="0"/>
          </a:xfrm>
          <a:prstGeom prst="line">
            <a:avLst/>
          </a:prstGeom>
          <a:ln w="15875">
            <a:solidFill>
              <a:srgbClr val="6E6A73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6461216" y="3679684"/>
            <a:ext cx="709174" cy="157200"/>
          </a:xfrm>
          <a:prstGeom prst="line">
            <a:avLst/>
          </a:prstGeom>
          <a:ln w="15875">
            <a:solidFill>
              <a:srgbClr val="6E6A73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7170390" y="3522484"/>
            <a:ext cx="709173" cy="157200"/>
          </a:xfrm>
          <a:prstGeom prst="line">
            <a:avLst/>
          </a:prstGeom>
          <a:ln w="15875">
            <a:solidFill>
              <a:srgbClr val="6E6A73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7879563" y="3365284"/>
            <a:ext cx="709174" cy="157200"/>
          </a:xfrm>
          <a:prstGeom prst="line">
            <a:avLst/>
          </a:prstGeom>
          <a:ln w="15875">
            <a:solidFill>
              <a:srgbClr val="6E6A73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8588737" y="3208085"/>
            <a:ext cx="709174" cy="157199"/>
          </a:xfrm>
          <a:prstGeom prst="line">
            <a:avLst/>
          </a:prstGeom>
          <a:ln w="15875">
            <a:solidFill>
              <a:srgbClr val="6E6A73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97911" y="3208085"/>
            <a:ext cx="709174" cy="0"/>
          </a:xfrm>
          <a:prstGeom prst="line">
            <a:avLst/>
          </a:prstGeom>
          <a:ln w="15875">
            <a:solidFill>
              <a:srgbClr val="6E6A73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0057885" y="3065845"/>
            <a:ext cx="1524202" cy="284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E6A73"/>
                </a:solidFill>
                <a:latin typeface="Plus Jakarta Sans"/>
              </a:rPr>
              <a:t>Q2 '25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1497000" y="4465682"/>
            <a:ext cx="709173" cy="314400"/>
          </a:xfrm>
          <a:prstGeom prst="line">
            <a:avLst/>
          </a:prstGeom>
          <a:ln w="15875">
            <a:solidFill>
              <a:srgbClr val="6E6A7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206173" y="3836884"/>
            <a:ext cx="709174" cy="628798"/>
          </a:xfrm>
          <a:prstGeom prst="line">
            <a:avLst/>
          </a:prstGeom>
          <a:ln w="15875">
            <a:solidFill>
              <a:srgbClr val="6E6A7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915347" y="3365284"/>
            <a:ext cx="709174" cy="471600"/>
          </a:xfrm>
          <a:prstGeom prst="line">
            <a:avLst/>
          </a:prstGeom>
          <a:ln w="15875">
            <a:solidFill>
              <a:srgbClr val="6E6A7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624521" y="3208085"/>
            <a:ext cx="709174" cy="157199"/>
          </a:xfrm>
          <a:prstGeom prst="line">
            <a:avLst/>
          </a:prstGeom>
          <a:ln w="15875">
            <a:solidFill>
              <a:srgbClr val="6E6A7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333695" y="2893685"/>
            <a:ext cx="709173" cy="314400"/>
          </a:xfrm>
          <a:prstGeom prst="line">
            <a:avLst/>
          </a:prstGeom>
          <a:ln w="15875">
            <a:solidFill>
              <a:srgbClr val="6E6A7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042868" y="2893685"/>
            <a:ext cx="709174" cy="0"/>
          </a:xfrm>
          <a:prstGeom prst="line">
            <a:avLst/>
          </a:prstGeom>
          <a:ln w="15875">
            <a:solidFill>
              <a:srgbClr val="6E6A7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752042" y="2736486"/>
            <a:ext cx="709174" cy="157199"/>
          </a:xfrm>
          <a:prstGeom prst="line">
            <a:avLst/>
          </a:prstGeom>
          <a:ln w="15875">
            <a:solidFill>
              <a:srgbClr val="6E6A7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461216" y="2736486"/>
            <a:ext cx="709174" cy="0"/>
          </a:xfrm>
          <a:prstGeom prst="line">
            <a:avLst/>
          </a:prstGeom>
          <a:ln w="15875">
            <a:solidFill>
              <a:srgbClr val="6E6A7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221190" y="2594246"/>
            <a:ext cx="1524202" cy="284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E6A73"/>
                </a:solidFill>
                <a:latin typeface="Plus Jakarta Sans"/>
              </a:rPr>
              <a:t>Q3 '25</a:t>
            </a:r>
          </a:p>
        </p:txBody>
      </p:sp>
      <p:cxnSp>
        <p:nvCxnSpPr>
          <p:cNvPr id="68" name="Connector 67"/>
          <p:cNvCxnSpPr/>
          <p:nvPr/>
        </p:nvCxnSpPr>
        <p:spPr>
          <a:xfrm flipV="1">
            <a:off x="1497000" y="4151283"/>
            <a:ext cx="709173" cy="628799"/>
          </a:xfrm>
          <a:prstGeom prst="line">
            <a:avLst/>
          </a:prstGeom>
          <a:ln w="31750">
            <a:solidFill>
              <a:srgbClr val="FF7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206173" y="3050885"/>
            <a:ext cx="709174" cy="1100398"/>
          </a:xfrm>
          <a:prstGeom prst="line">
            <a:avLst/>
          </a:prstGeom>
          <a:ln w="31750">
            <a:solidFill>
              <a:srgbClr val="FF7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915347" y="1950487"/>
            <a:ext cx="709174" cy="1100398"/>
          </a:xfrm>
          <a:prstGeom prst="line">
            <a:avLst/>
          </a:prstGeom>
          <a:ln w="31750">
            <a:solidFill>
              <a:srgbClr val="FF7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3573721" y="1899687"/>
            <a:ext cx="101600" cy="101600"/>
          </a:xfrm>
          <a:prstGeom prst="ellipse">
            <a:avLst/>
          </a:prstGeom>
          <a:solidFill>
            <a:srgbClr val="0AB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604201" y="1930167"/>
            <a:ext cx="40640" cy="40640"/>
          </a:xfrm>
          <a:prstGeom prst="ellipse">
            <a:avLst/>
          </a:prstGeom>
          <a:solidFill>
            <a:srgbClr val="FF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75321" y="1808247"/>
            <a:ext cx="1524202" cy="284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7A00"/>
                </a:solidFill>
                <a:latin typeface="Plus Jakarta Sans"/>
              </a:rPr>
              <a:t>Q4 '25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