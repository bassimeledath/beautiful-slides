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Platform Capability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15136"/>
            <a:ext cx="2085750" cy="50800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15136"/>
            <a:ext cx="2085750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6F1E8"/>
                </a:solidFill>
                <a:latin typeface="Fraunces"/>
              </a:rPr>
              <a:t>Customer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4096"/>
            <a:ext cx="2085750" cy="856284"/>
          </a:xfrm>
          <a:prstGeom prst="rect">
            <a:avLst/>
          </a:prstGeom>
          <a:solidFill>
            <a:srgbClr val="E9DAD3"/>
          </a:solidFill>
          <a:ln w="9525">
            <a:solidFill>
              <a:srgbClr val="D1A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4096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01340"/>
            <a:ext cx="2085750" cy="856284"/>
          </a:xfrm>
          <a:prstGeom prst="rect">
            <a:avLst/>
          </a:prstGeom>
          <a:solidFill>
            <a:srgbClr val="E9DAD3"/>
          </a:solidFill>
          <a:ln w="9525">
            <a:solidFill>
              <a:srgbClr val="D1A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01340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Identity &amp; Auth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18584"/>
            <a:ext cx="2085750" cy="856284"/>
          </a:xfrm>
          <a:prstGeom prst="rect">
            <a:avLst/>
          </a:prstGeom>
          <a:solidFill>
            <a:srgbClr val="E9DAD3"/>
          </a:solidFill>
          <a:ln w="9525">
            <a:solidFill>
              <a:srgbClr val="D1A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18584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35828"/>
            <a:ext cx="2085750" cy="856284"/>
          </a:xfrm>
          <a:prstGeom prst="rect">
            <a:avLst/>
          </a:prstGeom>
          <a:solidFill>
            <a:srgbClr val="E9DAD3"/>
          </a:solidFill>
          <a:ln w="9525">
            <a:solidFill>
              <a:srgbClr val="D1A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535828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Feedback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53072"/>
            <a:ext cx="2085750" cy="856284"/>
          </a:xfrm>
          <a:prstGeom prst="rect">
            <a:avLst/>
          </a:prstGeom>
          <a:solidFill>
            <a:srgbClr val="E9DAD3"/>
          </a:solidFill>
          <a:ln w="9525">
            <a:solidFill>
              <a:srgbClr val="D1A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453072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Loyalty &amp; Rewards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0806" y="1215136"/>
            <a:ext cx="2085750" cy="508000"/>
          </a:xfrm>
          <a:prstGeom prst="rect">
            <a:avLst/>
          </a:prstGeom>
          <a:solidFill>
            <a:srgbClr val="9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0806" y="1215136"/>
            <a:ext cx="2085750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6F1E8"/>
                </a:solidFill>
                <a:latin typeface="Fraunces"/>
              </a:rPr>
              <a:t>Product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00806" y="1784096"/>
            <a:ext cx="2085750" cy="856284"/>
          </a:xfrm>
          <a:prstGeom prst="rect">
            <a:avLst/>
          </a:prstGeom>
          <a:solidFill>
            <a:srgbClr val="EADBD1"/>
          </a:solidFill>
          <a:ln w="9525">
            <a:solidFill>
              <a:srgbClr val="D2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0806" y="1784096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Catalog Mgmt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00806" y="2701340"/>
            <a:ext cx="2085750" cy="856284"/>
          </a:xfrm>
          <a:prstGeom prst="rect">
            <a:avLst/>
          </a:prstGeom>
          <a:solidFill>
            <a:srgbClr val="EADBD1"/>
          </a:solidFill>
          <a:ln w="9525">
            <a:solidFill>
              <a:srgbClr val="D2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0806" y="2701340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Search &amp; Discovery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00806" y="3618584"/>
            <a:ext cx="2085750" cy="856284"/>
          </a:xfrm>
          <a:prstGeom prst="rect">
            <a:avLst/>
          </a:prstGeom>
          <a:solidFill>
            <a:srgbClr val="EADBD1"/>
          </a:solidFill>
          <a:ln w="9525">
            <a:solidFill>
              <a:srgbClr val="D2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0806" y="3618584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Recommendations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00806" y="4535828"/>
            <a:ext cx="2085750" cy="856284"/>
          </a:xfrm>
          <a:prstGeom prst="rect">
            <a:avLst/>
          </a:prstGeom>
          <a:solidFill>
            <a:srgbClr val="EADBD1"/>
          </a:solidFill>
          <a:ln w="9525">
            <a:solidFill>
              <a:srgbClr val="D2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0806" y="4535828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Pricing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52972" y="1215136"/>
            <a:ext cx="2085750" cy="508000"/>
          </a:xfrm>
          <a:prstGeom prst="rect">
            <a:avLst/>
          </a:prstGeom>
          <a:solidFill>
            <a:srgbClr val="944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52972" y="1215136"/>
            <a:ext cx="2085750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6F1E8"/>
                </a:solidFill>
                <a:latin typeface="Fraunces"/>
              </a:rPr>
              <a:t>Operations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52972" y="1784096"/>
            <a:ext cx="2085750" cy="856284"/>
          </a:xfrm>
          <a:prstGeom prst="rect">
            <a:avLst/>
          </a:prstGeom>
          <a:solidFill>
            <a:srgbClr val="EADCD0"/>
          </a:solidFill>
          <a:ln w="9525">
            <a:solidFill>
              <a:srgbClr val="D4B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2972" y="1784096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Order Fulfillment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52972" y="2701340"/>
            <a:ext cx="2085750" cy="856284"/>
          </a:xfrm>
          <a:prstGeom prst="rect">
            <a:avLst/>
          </a:prstGeom>
          <a:solidFill>
            <a:srgbClr val="EADCD0"/>
          </a:solidFill>
          <a:ln w="9525">
            <a:solidFill>
              <a:srgbClr val="D4B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52972" y="2701340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Inventory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52972" y="3618584"/>
            <a:ext cx="2085750" cy="856284"/>
          </a:xfrm>
          <a:prstGeom prst="rect">
            <a:avLst/>
          </a:prstGeom>
          <a:solidFill>
            <a:srgbClr val="EADCD0"/>
          </a:solidFill>
          <a:ln w="9525">
            <a:solidFill>
              <a:srgbClr val="D4B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52972" y="3618584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Logistics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52972" y="4535828"/>
            <a:ext cx="2085750" cy="856284"/>
          </a:xfrm>
          <a:prstGeom prst="rect">
            <a:avLst/>
          </a:prstGeom>
          <a:solidFill>
            <a:srgbClr val="EADCD0"/>
          </a:solidFill>
          <a:ln w="9525">
            <a:solidFill>
              <a:srgbClr val="D4B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2972" y="4535828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Returns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52972" y="5453072"/>
            <a:ext cx="2085750" cy="856284"/>
          </a:xfrm>
          <a:prstGeom prst="rect">
            <a:avLst/>
          </a:prstGeom>
          <a:solidFill>
            <a:srgbClr val="EADCD0"/>
          </a:solidFill>
          <a:ln w="9525">
            <a:solidFill>
              <a:srgbClr val="D4B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52972" y="5453072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Vendor Mgmt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05138" y="1215136"/>
            <a:ext cx="2085750" cy="508000"/>
          </a:xfrm>
          <a:prstGeom prst="rect">
            <a:avLst/>
          </a:prstGeom>
          <a:solidFill>
            <a:srgbClr val="98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05138" y="1215136"/>
            <a:ext cx="2085750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6F1E8"/>
                </a:solidFill>
                <a:latin typeface="Fraunces"/>
              </a:rPr>
              <a:t>Data &amp; Analytics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05138" y="1784096"/>
            <a:ext cx="2085750" cy="856284"/>
          </a:xfrm>
          <a:prstGeom prst="rect">
            <a:avLst/>
          </a:prstGeom>
          <a:solidFill>
            <a:srgbClr val="EBDECE"/>
          </a:solidFill>
          <a:ln w="9525">
            <a:solidFill>
              <a:srgbClr val="D5B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05138" y="1784096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Data Pipeline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05138" y="2701340"/>
            <a:ext cx="2085750" cy="856284"/>
          </a:xfrm>
          <a:prstGeom prst="rect">
            <a:avLst/>
          </a:prstGeom>
          <a:solidFill>
            <a:srgbClr val="EBDECE"/>
          </a:solidFill>
          <a:ln w="9525">
            <a:solidFill>
              <a:srgbClr val="D5B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05138" y="2701340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BI &amp; Reporting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05138" y="3618584"/>
            <a:ext cx="2085750" cy="856284"/>
          </a:xfrm>
          <a:prstGeom prst="rect">
            <a:avLst/>
          </a:prstGeom>
          <a:solidFill>
            <a:srgbClr val="EBDECE"/>
          </a:solidFill>
          <a:ln w="9525">
            <a:solidFill>
              <a:srgbClr val="D5B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05138" y="3618584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ML Platform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05138" y="4535828"/>
            <a:ext cx="2085750" cy="856284"/>
          </a:xfrm>
          <a:prstGeom prst="rect">
            <a:avLst/>
          </a:prstGeom>
          <a:solidFill>
            <a:srgbClr val="EBDECE"/>
          </a:solidFill>
          <a:ln w="9525">
            <a:solidFill>
              <a:srgbClr val="D5B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05138" y="4535828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Experimentation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57304" y="1215136"/>
            <a:ext cx="2085750" cy="508000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57304" y="1215136"/>
            <a:ext cx="2085750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6F1E8"/>
                </a:solidFill>
                <a:latin typeface="Fraunces"/>
              </a:rPr>
              <a:t>Platform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57304" y="1784096"/>
            <a:ext cx="2085750" cy="856284"/>
          </a:xfrm>
          <a:prstGeom prst="rect">
            <a:avLst/>
          </a:prstGeom>
          <a:solidFill>
            <a:srgbClr val="EBDFCC"/>
          </a:solidFill>
          <a:ln w="9525">
            <a:solidFill>
              <a:srgbClr val="D6B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57304" y="1784096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API Gateway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57304" y="2701340"/>
            <a:ext cx="2085750" cy="856284"/>
          </a:xfrm>
          <a:prstGeom prst="rect">
            <a:avLst/>
          </a:prstGeom>
          <a:solidFill>
            <a:srgbClr val="EBDFCC"/>
          </a:solidFill>
          <a:ln w="9525">
            <a:solidFill>
              <a:srgbClr val="D6B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57304" y="2701340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Auth &amp; Authz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57304" y="3618584"/>
            <a:ext cx="2085750" cy="856284"/>
          </a:xfrm>
          <a:prstGeom prst="rect">
            <a:avLst/>
          </a:prstGeom>
          <a:solidFill>
            <a:srgbClr val="EBDFCC"/>
          </a:solidFill>
          <a:ln w="9525">
            <a:solidFill>
              <a:srgbClr val="D6B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57304" y="3618584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Observability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57304" y="4535828"/>
            <a:ext cx="2085750" cy="856284"/>
          </a:xfrm>
          <a:prstGeom prst="rect">
            <a:avLst/>
          </a:prstGeom>
          <a:solidFill>
            <a:srgbClr val="EBDFCC"/>
          </a:solidFill>
          <a:ln w="9525">
            <a:solidFill>
              <a:srgbClr val="D6B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57304" y="4535828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Newsreader"/>
              </a:rPr>
              <a:t>CI/CD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