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12064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Platform Capability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31824"/>
            <a:ext cx="2085750" cy="4445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31824"/>
            <a:ext cx="2085750" cy="444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ublic Sans"/>
              </a:rPr>
              <a:t>Customer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29664"/>
            <a:ext cx="2085750" cy="891561"/>
          </a:xfrm>
          <a:prstGeom prst="rect">
            <a:avLst/>
          </a:prstGeom>
          <a:solidFill>
            <a:srgbClr val="E2EAF0"/>
          </a:solidFill>
          <a:ln w="9525">
            <a:solidFill>
              <a:srgbClr val="AB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29664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Onboarding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76697"/>
            <a:ext cx="2085750" cy="891561"/>
          </a:xfrm>
          <a:prstGeom prst="rect">
            <a:avLst/>
          </a:prstGeom>
          <a:solidFill>
            <a:srgbClr val="E2EAF0"/>
          </a:solidFill>
          <a:ln w="9525">
            <a:solidFill>
              <a:srgbClr val="AB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76697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Identity &amp; Auth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23730"/>
            <a:ext cx="2085750" cy="891561"/>
          </a:xfrm>
          <a:prstGeom prst="rect">
            <a:avLst/>
          </a:prstGeom>
          <a:solidFill>
            <a:srgbClr val="E2EAF0"/>
          </a:solidFill>
          <a:ln w="9525">
            <a:solidFill>
              <a:srgbClr val="AB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23730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70763"/>
            <a:ext cx="2085750" cy="891561"/>
          </a:xfrm>
          <a:prstGeom prst="rect">
            <a:avLst/>
          </a:prstGeom>
          <a:solidFill>
            <a:srgbClr val="E2EAF0"/>
          </a:solidFill>
          <a:ln w="9525">
            <a:solidFill>
              <a:srgbClr val="AB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470763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Feedback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17796"/>
            <a:ext cx="2085750" cy="891561"/>
          </a:xfrm>
          <a:prstGeom prst="rect">
            <a:avLst/>
          </a:prstGeom>
          <a:solidFill>
            <a:srgbClr val="E2EAF0"/>
          </a:solidFill>
          <a:ln w="9525">
            <a:solidFill>
              <a:srgbClr val="AB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417796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Loyalty &amp; Rewards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0806" y="1131824"/>
            <a:ext cx="2085750" cy="444500"/>
          </a:xfrm>
          <a:prstGeom prst="rect">
            <a:avLst/>
          </a:prstGeom>
          <a:solidFill>
            <a:srgbClr val="0C5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0806" y="1131824"/>
            <a:ext cx="2085750" cy="444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ublic Sans"/>
              </a:rPr>
              <a:t>Product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00806" y="1629664"/>
            <a:ext cx="2085750" cy="891561"/>
          </a:xfrm>
          <a:prstGeom prst="rect">
            <a:avLst/>
          </a:prstGeom>
          <a:solidFill>
            <a:srgbClr val="E2EAEE"/>
          </a:solidFill>
          <a:ln w="9525">
            <a:solidFill>
              <a:srgbClr val="AA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0806" y="1629664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Catalog Mgmt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00806" y="2576697"/>
            <a:ext cx="2085750" cy="891561"/>
          </a:xfrm>
          <a:prstGeom prst="rect">
            <a:avLst/>
          </a:prstGeom>
          <a:solidFill>
            <a:srgbClr val="E2EAEE"/>
          </a:solidFill>
          <a:ln w="9525">
            <a:solidFill>
              <a:srgbClr val="AA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0806" y="2576697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Search &amp; Discovery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00806" y="3523730"/>
            <a:ext cx="2085750" cy="891561"/>
          </a:xfrm>
          <a:prstGeom prst="rect">
            <a:avLst/>
          </a:prstGeom>
          <a:solidFill>
            <a:srgbClr val="E2EAEE"/>
          </a:solidFill>
          <a:ln w="9525">
            <a:solidFill>
              <a:srgbClr val="AA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0806" y="3523730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Recommendations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00806" y="4470763"/>
            <a:ext cx="2085750" cy="891561"/>
          </a:xfrm>
          <a:prstGeom prst="rect">
            <a:avLst/>
          </a:prstGeom>
          <a:solidFill>
            <a:srgbClr val="E2EAEE"/>
          </a:solidFill>
          <a:ln w="9525">
            <a:solidFill>
              <a:srgbClr val="AA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0806" y="4470763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Pricing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52972" y="1131824"/>
            <a:ext cx="2085750" cy="444500"/>
          </a:xfrm>
          <a:prstGeom prst="rect">
            <a:avLst/>
          </a:prstGeom>
          <a:solidFill>
            <a:srgbClr val="0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52972" y="1131824"/>
            <a:ext cx="2085750" cy="444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ublic Sans"/>
              </a:rPr>
              <a:t>Operations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52972" y="1629664"/>
            <a:ext cx="2085750" cy="891561"/>
          </a:xfrm>
          <a:prstGeom prst="rect">
            <a:avLst/>
          </a:prstGeom>
          <a:solidFill>
            <a:srgbClr val="E2EBEC"/>
          </a:solidFill>
          <a:ln w="9525">
            <a:solidFill>
              <a:srgbClr val="A9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2972" y="1629664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Order Fulfillment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52972" y="2576697"/>
            <a:ext cx="2085750" cy="891561"/>
          </a:xfrm>
          <a:prstGeom prst="rect">
            <a:avLst/>
          </a:prstGeom>
          <a:solidFill>
            <a:srgbClr val="E2EBEC"/>
          </a:solidFill>
          <a:ln w="9525">
            <a:solidFill>
              <a:srgbClr val="A9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52972" y="2576697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Inventory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52972" y="3523730"/>
            <a:ext cx="2085750" cy="891561"/>
          </a:xfrm>
          <a:prstGeom prst="rect">
            <a:avLst/>
          </a:prstGeom>
          <a:solidFill>
            <a:srgbClr val="E2EBEC"/>
          </a:solidFill>
          <a:ln w="9525">
            <a:solidFill>
              <a:srgbClr val="A9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52972" y="3523730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Logistics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52972" y="4470763"/>
            <a:ext cx="2085750" cy="891561"/>
          </a:xfrm>
          <a:prstGeom prst="rect">
            <a:avLst/>
          </a:prstGeom>
          <a:solidFill>
            <a:srgbClr val="E2EBEC"/>
          </a:solidFill>
          <a:ln w="9525">
            <a:solidFill>
              <a:srgbClr val="A9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2972" y="4470763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Returns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52972" y="5417796"/>
            <a:ext cx="2085750" cy="891561"/>
          </a:xfrm>
          <a:prstGeom prst="rect">
            <a:avLst/>
          </a:prstGeom>
          <a:solidFill>
            <a:srgbClr val="E2EBEC"/>
          </a:solidFill>
          <a:ln w="9525">
            <a:solidFill>
              <a:srgbClr val="A9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52972" y="5417796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Vendor Mgmt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05138" y="1131824"/>
            <a:ext cx="2085750" cy="444500"/>
          </a:xfrm>
          <a:prstGeom prst="rect">
            <a:avLst/>
          </a:prstGeom>
          <a:solidFill>
            <a:srgbClr val="08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05138" y="1131824"/>
            <a:ext cx="2085750" cy="444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ublic Sans"/>
              </a:rPr>
              <a:t>Data &amp; Analytics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05138" y="1629664"/>
            <a:ext cx="2085750" cy="891561"/>
          </a:xfrm>
          <a:prstGeom prst="rect">
            <a:avLst/>
          </a:prstGeom>
          <a:solidFill>
            <a:srgbClr val="E1EBEA"/>
          </a:solidFill>
          <a:ln w="9525">
            <a:solidFill>
              <a:srgbClr val="A9C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05138" y="1629664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Data Pipeline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05138" y="2576697"/>
            <a:ext cx="2085750" cy="891561"/>
          </a:xfrm>
          <a:prstGeom prst="rect">
            <a:avLst/>
          </a:prstGeom>
          <a:solidFill>
            <a:srgbClr val="E1EBEA"/>
          </a:solidFill>
          <a:ln w="9525">
            <a:solidFill>
              <a:srgbClr val="A9C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05138" y="2576697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BI &amp; Reporting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05138" y="3523730"/>
            <a:ext cx="2085750" cy="891561"/>
          </a:xfrm>
          <a:prstGeom prst="rect">
            <a:avLst/>
          </a:prstGeom>
          <a:solidFill>
            <a:srgbClr val="E1EBEA"/>
          </a:solidFill>
          <a:ln w="9525">
            <a:solidFill>
              <a:srgbClr val="A9C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05138" y="3523730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ML Platform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05138" y="4470763"/>
            <a:ext cx="2085750" cy="891561"/>
          </a:xfrm>
          <a:prstGeom prst="rect">
            <a:avLst/>
          </a:prstGeom>
          <a:solidFill>
            <a:srgbClr val="E1EBEA"/>
          </a:solidFill>
          <a:ln w="9525">
            <a:solidFill>
              <a:srgbClr val="A9C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05138" y="4470763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Experimentation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57304" y="1131824"/>
            <a:ext cx="2085750" cy="444500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57304" y="1131824"/>
            <a:ext cx="2085750" cy="444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ublic Sans"/>
              </a:rPr>
              <a:t>Platform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57304" y="1629664"/>
            <a:ext cx="2085750" cy="891561"/>
          </a:xfrm>
          <a:prstGeom prst="rect">
            <a:avLst/>
          </a:prstGeom>
          <a:solidFill>
            <a:srgbClr val="E1ECE7"/>
          </a:solidFill>
          <a:ln w="9525">
            <a:solidFill>
              <a:srgbClr val="A8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57304" y="1629664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API Gateway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57304" y="2576697"/>
            <a:ext cx="2085750" cy="891561"/>
          </a:xfrm>
          <a:prstGeom prst="rect">
            <a:avLst/>
          </a:prstGeom>
          <a:solidFill>
            <a:srgbClr val="E1ECE7"/>
          </a:solidFill>
          <a:ln w="9525">
            <a:solidFill>
              <a:srgbClr val="A8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57304" y="2576697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Auth &amp; Authz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57304" y="3523730"/>
            <a:ext cx="2085750" cy="891561"/>
          </a:xfrm>
          <a:prstGeom prst="rect">
            <a:avLst/>
          </a:prstGeom>
          <a:solidFill>
            <a:srgbClr val="E1ECE7"/>
          </a:solidFill>
          <a:ln w="9525">
            <a:solidFill>
              <a:srgbClr val="A8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57304" y="3523730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Observability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57304" y="4470763"/>
            <a:ext cx="2085750" cy="891561"/>
          </a:xfrm>
          <a:prstGeom prst="rect">
            <a:avLst/>
          </a:prstGeom>
          <a:solidFill>
            <a:srgbClr val="E1ECE7"/>
          </a:solidFill>
          <a:ln w="9525">
            <a:solidFill>
              <a:srgbClr val="A8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57304" y="4470763"/>
            <a:ext cx="2085750" cy="891561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CI/CD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