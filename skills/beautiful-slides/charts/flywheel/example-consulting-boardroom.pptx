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Growth flywheel</a:t>
            </a:r>
          </a:p>
        </p:txBody>
      </p:sp>
      <p:sp>
        <p:nvSpPr>
          <p:cNvPr id="3" name="Oval 2"/>
          <p:cNvSpPr/>
          <p:nvPr/>
        </p:nvSpPr>
        <p:spPr>
          <a:xfrm>
            <a:off x="5554795" y="3179540"/>
            <a:ext cx="1082104" cy="1082104"/>
          </a:xfrm>
          <a:prstGeom prst="ellipse">
            <a:avLst/>
          </a:prstGeom>
          <a:solidFill>
            <a:srgbClr val="E7EDF2"/>
          </a:solidFill>
          <a:ln w="12700">
            <a:solidFill>
              <a:srgbClr val="475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8901" y="3341856"/>
            <a:ext cx="973893" cy="75747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6883240" y="2844397"/>
            <a:ext cx="185570" cy="159272"/>
          </a:xfrm>
          <a:custGeom>
            <a:avLst/>
            <a:gdLst/>
            <a:ahLst/>
            <a:cxnLst/>
            <a:rect l="l" t="t" r="r" b="b"/>
            <a:pathLst>
              <a:path w="185570" h="159272">
                <a:moveTo>
                  <a:pt x="185570" y="159272"/>
                </a:moveTo>
                <a:lnTo>
                  <a:pt x="0" y="103563"/>
                </a:lnTo>
                <a:lnTo>
                  <a:pt x="75244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7237" y="2546481"/>
            <a:ext cx="483406" cy="376924"/>
          </a:xfrm>
          <a:custGeom>
            <a:avLst/>
            <a:gdLst/>
            <a:ahLst/>
            <a:cxnLst/>
            <a:rect l="l" t="t" r="r" b="b"/>
            <a:pathLst>
              <a:path w="483406" h="376924">
                <a:moveTo>
                  <a:pt x="0" y="54452"/>
                </a:moveTo>
                <a:lnTo>
                  <a:pt x="39562" y="0"/>
                </a:lnTo>
                <a:lnTo>
                  <a:pt x="483406" y="322471"/>
                </a:lnTo>
                <a:lnTo>
                  <a:pt x="443844" y="376924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073980" y="4230691"/>
            <a:ext cx="121746" cy="193702"/>
          </a:xfrm>
          <a:custGeom>
            <a:avLst/>
            <a:gdLst/>
            <a:ahLst/>
            <a:cxnLst/>
            <a:rect l="l" t="t" r="r" b="b"/>
            <a:pathLst>
              <a:path w="121746" h="193702">
                <a:moveTo>
                  <a:pt x="4362" y="193702"/>
                </a:moveTo>
                <a:lnTo>
                  <a:pt x="0" y="0"/>
                </a:lnTo>
                <a:lnTo>
                  <a:pt x="121746" y="39558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102847" y="3718301"/>
            <a:ext cx="233546" cy="542569"/>
          </a:xfrm>
          <a:custGeom>
            <a:avLst/>
            <a:gdLst/>
            <a:ahLst/>
            <a:cxnLst/>
            <a:rect l="l" t="t" r="r" b="b"/>
            <a:pathLst>
              <a:path w="233546" h="542569">
                <a:moveTo>
                  <a:pt x="169533" y="0"/>
                </a:moveTo>
                <a:lnTo>
                  <a:pt x="233546" y="20799"/>
                </a:lnTo>
                <a:lnTo>
                  <a:pt x="64013" y="542569"/>
                </a:lnTo>
                <a:lnTo>
                  <a:pt x="0" y="52177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30100" y="4808482"/>
            <a:ext cx="182873" cy="128011"/>
          </a:xfrm>
          <a:custGeom>
            <a:avLst/>
            <a:gdLst/>
            <a:ahLst/>
            <a:cxnLst/>
            <a:rect l="l" t="t" r="r" b="b"/>
            <a:pathLst>
              <a:path w="182873" h="128011">
                <a:moveTo>
                  <a:pt x="0" y="64006"/>
                </a:moveTo>
                <a:lnTo>
                  <a:pt x="182873" y="0"/>
                </a:lnTo>
                <a:lnTo>
                  <a:pt x="182873" y="128011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12973" y="4838834"/>
            <a:ext cx="548621" cy="67307"/>
          </a:xfrm>
          <a:custGeom>
            <a:avLst/>
            <a:gdLst/>
            <a:ahLst/>
            <a:cxnLst/>
            <a:rect l="l" t="t" r="r" b="b"/>
            <a:pathLst>
              <a:path w="548621" h="67307">
                <a:moveTo>
                  <a:pt x="548621" y="0"/>
                </a:moveTo>
                <a:lnTo>
                  <a:pt x="548621" y="67307"/>
                </a:lnTo>
                <a:lnTo>
                  <a:pt x="0" y="67307"/>
                </a:lnTo>
                <a:lnTo>
                  <a:pt x="0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882944" y="3728701"/>
            <a:ext cx="121746" cy="193702"/>
          </a:xfrm>
          <a:custGeom>
            <a:avLst/>
            <a:gdLst/>
            <a:ahLst/>
            <a:cxnLst/>
            <a:rect l="l" t="t" r="r" b="b"/>
            <a:pathLst>
              <a:path w="121746" h="193702">
                <a:moveTo>
                  <a:pt x="4362" y="0"/>
                </a:moveTo>
                <a:lnTo>
                  <a:pt x="121746" y="154144"/>
                </a:lnTo>
                <a:lnTo>
                  <a:pt x="0" y="193702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911811" y="3892224"/>
            <a:ext cx="233546" cy="542569"/>
          </a:xfrm>
          <a:custGeom>
            <a:avLst/>
            <a:gdLst/>
            <a:ahLst/>
            <a:cxnLst/>
            <a:rect l="l" t="t" r="r" b="b"/>
            <a:pathLst>
              <a:path w="233546" h="542569">
                <a:moveTo>
                  <a:pt x="233546" y="521770"/>
                </a:moveTo>
                <a:lnTo>
                  <a:pt x="169533" y="542569"/>
                </a:lnTo>
                <a:lnTo>
                  <a:pt x="0" y="20799"/>
                </a:lnTo>
                <a:lnTo>
                  <a:pt x="64013" y="0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529105" y="2573707"/>
            <a:ext cx="185570" cy="159272"/>
          </a:xfrm>
          <a:custGeom>
            <a:avLst/>
            <a:gdLst/>
            <a:ahLst/>
            <a:cxnLst/>
            <a:rect l="l" t="t" r="r" b="b"/>
            <a:pathLst>
              <a:path w="185570" h="159272">
                <a:moveTo>
                  <a:pt x="185570" y="0"/>
                </a:moveTo>
                <a:lnTo>
                  <a:pt x="75244" y="159272"/>
                </a:lnTo>
                <a:lnTo>
                  <a:pt x="0" y="55709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103102" y="2653971"/>
            <a:ext cx="483406" cy="376924"/>
          </a:xfrm>
          <a:custGeom>
            <a:avLst/>
            <a:gdLst/>
            <a:ahLst/>
            <a:cxnLst/>
            <a:rect l="l" t="t" r="r" b="b"/>
            <a:pathLst>
              <a:path w="483406" h="376924">
                <a:moveTo>
                  <a:pt x="39562" y="376924"/>
                </a:moveTo>
                <a:lnTo>
                  <a:pt x="0" y="322472"/>
                </a:lnTo>
                <a:lnTo>
                  <a:pt x="443844" y="0"/>
                </a:lnTo>
                <a:lnTo>
                  <a:pt x="483406" y="54453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59308" y="1960231"/>
            <a:ext cx="673078" cy="673078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9308" y="1960231"/>
            <a:ext cx="673078" cy="67307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2251" y="1275033"/>
            <a:ext cx="647192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01828"/>
                </a:solidFill>
                <a:latin typeface="Public Sans"/>
              </a:rPr>
              <a:t>Acquire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7113443" y="2944068"/>
            <a:ext cx="673078" cy="673078"/>
          </a:xfrm>
          <a:prstGeom prst="ellipse">
            <a:avLst/>
          </a:prstGeom>
          <a:solidFill>
            <a:srgbClr val="0C5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3443" y="2944068"/>
            <a:ext cx="673078" cy="67307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9017" y="2842017"/>
            <a:ext cx="647192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01828"/>
                </a:solidFill>
                <a:latin typeface="Public Sans"/>
              </a:rPr>
              <a:t>Deliver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596209" y="4535949"/>
            <a:ext cx="673078" cy="673078"/>
          </a:xfrm>
          <a:prstGeom prst="ellipse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6209" y="4535949"/>
            <a:ext cx="673078" cy="67307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205" y="5377447"/>
            <a:ext cx="647192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01828"/>
                </a:solidFill>
                <a:latin typeface="Public Sans"/>
              </a:rPr>
              <a:t>Retain &amp; engage</a:t>
            </a:r>
          </a:p>
        </p:txBody>
      </p:sp>
      <p:sp>
        <p:nvSpPr>
          <p:cNvPr id="24" name="Oval 23"/>
          <p:cNvSpPr/>
          <p:nvPr/>
        </p:nvSpPr>
        <p:spPr>
          <a:xfrm>
            <a:off x="4922407" y="4535949"/>
            <a:ext cx="673078" cy="673078"/>
          </a:xfrm>
          <a:prstGeom prst="ellipse">
            <a:avLst/>
          </a:prstGeom>
          <a:solidFill>
            <a:srgbClr val="08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2407" y="4535949"/>
            <a:ext cx="673078" cy="67307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9297" y="5377447"/>
            <a:ext cx="647192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01828"/>
                </a:solidFill>
                <a:latin typeface="Public Sans"/>
              </a:rPr>
              <a:t>Generate referrals</a:t>
            </a:r>
          </a:p>
        </p:txBody>
      </p:sp>
      <p:sp>
        <p:nvSpPr>
          <p:cNvPr id="27" name="Oval 26"/>
          <p:cNvSpPr/>
          <p:nvPr/>
        </p:nvSpPr>
        <p:spPr>
          <a:xfrm>
            <a:off x="4405173" y="2944068"/>
            <a:ext cx="673078" cy="673078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5173" y="2944068"/>
            <a:ext cx="673078" cy="67307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5485" y="2842017"/>
            <a:ext cx="647192" cy="355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101828"/>
                </a:solidFill>
                <a:latin typeface="Public Sans"/>
              </a:rPr>
              <a:t>Lower CAC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