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Growth flywheel</a:t>
            </a:r>
          </a:p>
        </p:txBody>
      </p:sp>
      <p:sp>
        <p:nvSpPr>
          <p:cNvPr id="3" name="Oval 2"/>
          <p:cNvSpPr/>
          <p:nvPr/>
        </p:nvSpPr>
        <p:spPr>
          <a:xfrm>
            <a:off x="5563501" y="3229902"/>
            <a:ext cx="1064692" cy="1064692"/>
          </a:xfrm>
          <a:prstGeom prst="ellipse">
            <a:avLst/>
          </a:prstGeom>
          <a:solidFill>
            <a:srgbClr val="EBDED6"/>
          </a:solidFill>
          <a:ln w="12700">
            <a:solidFill>
              <a:srgbClr val="6F6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16736" y="3389606"/>
            <a:ext cx="958222" cy="745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181514"/>
                </a:solidFill>
                <a:latin typeface="Fraunces"/>
              </a:rPr>
              <a:t>Growth</a:t>
            </a:r>
          </a:p>
        </p:txBody>
      </p:sp>
      <p:sp>
        <p:nvSpPr>
          <p:cNvPr id="5" name="Freeform 4"/>
          <p:cNvSpPr/>
          <p:nvPr/>
        </p:nvSpPr>
        <p:spPr>
          <a:xfrm>
            <a:off x="6870570" y="2900152"/>
            <a:ext cx="182583" cy="156709"/>
          </a:xfrm>
          <a:custGeom>
            <a:avLst/>
            <a:gdLst/>
            <a:ahLst/>
            <a:cxnLst/>
            <a:rect l="l" t="t" r="r" b="b"/>
            <a:pathLst>
              <a:path w="182583" h="156709">
                <a:moveTo>
                  <a:pt x="182583" y="156709"/>
                </a:moveTo>
                <a:lnTo>
                  <a:pt x="0" y="101897"/>
                </a:lnTo>
                <a:lnTo>
                  <a:pt x="74032" y="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1422" y="2607030"/>
            <a:ext cx="475627" cy="370858"/>
          </a:xfrm>
          <a:custGeom>
            <a:avLst/>
            <a:gdLst/>
            <a:ahLst/>
            <a:cxnLst/>
            <a:rect l="l" t="t" r="r" b="b"/>
            <a:pathLst>
              <a:path w="475627" h="370858">
                <a:moveTo>
                  <a:pt x="0" y="53576"/>
                </a:moveTo>
                <a:lnTo>
                  <a:pt x="38926" y="0"/>
                </a:lnTo>
                <a:lnTo>
                  <a:pt x="475627" y="317282"/>
                </a:lnTo>
                <a:lnTo>
                  <a:pt x="436701" y="370858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058241" y="4264139"/>
            <a:ext cx="119787" cy="190584"/>
          </a:xfrm>
          <a:custGeom>
            <a:avLst/>
            <a:gdLst/>
            <a:ahLst/>
            <a:cxnLst/>
            <a:rect l="l" t="t" r="r" b="b"/>
            <a:pathLst>
              <a:path w="119787" h="190584">
                <a:moveTo>
                  <a:pt x="4292" y="190584"/>
                </a:moveTo>
                <a:lnTo>
                  <a:pt x="0" y="0"/>
                </a:lnTo>
                <a:lnTo>
                  <a:pt x="119787" y="38921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086643" y="3759994"/>
            <a:ext cx="229788" cy="533837"/>
          </a:xfrm>
          <a:custGeom>
            <a:avLst/>
            <a:gdLst/>
            <a:ahLst/>
            <a:cxnLst/>
            <a:rect l="l" t="t" r="r" b="b"/>
            <a:pathLst>
              <a:path w="229788" h="533837">
                <a:moveTo>
                  <a:pt x="166805" y="0"/>
                </a:moveTo>
                <a:lnTo>
                  <a:pt x="229788" y="20465"/>
                </a:lnTo>
                <a:lnTo>
                  <a:pt x="62983" y="533837"/>
                </a:lnTo>
                <a:lnTo>
                  <a:pt x="0" y="513373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735986" y="4832632"/>
            <a:ext cx="179930" cy="125951"/>
          </a:xfrm>
          <a:custGeom>
            <a:avLst/>
            <a:gdLst/>
            <a:ahLst/>
            <a:cxnLst/>
            <a:rect l="l" t="t" r="r" b="b"/>
            <a:pathLst>
              <a:path w="179930" h="125951">
                <a:moveTo>
                  <a:pt x="0" y="62976"/>
                </a:moveTo>
                <a:lnTo>
                  <a:pt x="179930" y="0"/>
                </a:lnTo>
                <a:lnTo>
                  <a:pt x="179930" y="125951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915916" y="4862496"/>
            <a:ext cx="539792" cy="66224"/>
          </a:xfrm>
          <a:custGeom>
            <a:avLst/>
            <a:gdLst/>
            <a:ahLst/>
            <a:cxnLst/>
            <a:rect l="l" t="t" r="r" b="b"/>
            <a:pathLst>
              <a:path w="539792" h="66224">
                <a:moveTo>
                  <a:pt x="539792" y="0"/>
                </a:moveTo>
                <a:lnTo>
                  <a:pt x="539792" y="66224"/>
                </a:lnTo>
                <a:lnTo>
                  <a:pt x="0" y="66224"/>
                </a:lnTo>
                <a:lnTo>
                  <a:pt x="0" y="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902462" y="3770227"/>
            <a:ext cx="119787" cy="190584"/>
          </a:xfrm>
          <a:custGeom>
            <a:avLst/>
            <a:gdLst/>
            <a:ahLst/>
            <a:cxnLst/>
            <a:rect l="l" t="t" r="r" b="b"/>
            <a:pathLst>
              <a:path w="119787" h="190584">
                <a:moveTo>
                  <a:pt x="4292" y="0"/>
                </a:moveTo>
                <a:lnTo>
                  <a:pt x="119787" y="151663"/>
                </a:lnTo>
                <a:lnTo>
                  <a:pt x="0" y="190584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930864" y="3931119"/>
            <a:ext cx="229788" cy="533837"/>
          </a:xfrm>
          <a:custGeom>
            <a:avLst/>
            <a:gdLst/>
            <a:ahLst/>
            <a:cxnLst/>
            <a:rect l="l" t="t" r="r" b="b"/>
            <a:pathLst>
              <a:path w="229788" h="533837">
                <a:moveTo>
                  <a:pt x="229788" y="513372"/>
                </a:moveTo>
                <a:lnTo>
                  <a:pt x="166805" y="533837"/>
                </a:lnTo>
                <a:lnTo>
                  <a:pt x="0" y="20464"/>
                </a:lnTo>
                <a:lnTo>
                  <a:pt x="62983" y="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538225" y="2633818"/>
            <a:ext cx="182583" cy="156709"/>
          </a:xfrm>
          <a:custGeom>
            <a:avLst/>
            <a:gdLst/>
            <a:ahLst/>
            <a:cxnLst/>
            <a:rect l="l" t="t" r="r" b="b"/>
            <a:pathLst>
              <a:path w="182583" h="156709">
                <a:moveTo>
                  <a:pt x="182583" y="0"/>
                </a:moveTo>
                <a:lnTo>
                  <a:pt x="74032" y="156709"/>
                </a:lnTo>
                <a:lnTo>
                  <a:pt x="0" y="54812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119077" y="2712791"/>
            <a:ext cx="475627" cy="370858"/>
          </a:xfrm>
          <a:custGeom>
            <a:avLst/>
            <a:gdLst/>
            <a:ahLst/>
            <a:cxnLst/>
            <a:rect l="l" t="t" r="r" b="b"/>
            <a:pathLst>
              <a:path w="475627" h="370858">
                <a:moveTo>
                  <a:pt x="38926" y="370858"/>
                </a:moveTo>
                <a:lnTo>
                  <a:pt x="0" y="317282"/>
                </a:lnTo>
                <a:lnTo>
                  <a:pt x="436701" y="0"/>
                </a:lnTo>
                <a:lnTo>
                  <a:pt x="475627" y="53576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4723" y="2030213"/>
            <a:ext cx="662248" cy="662248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4723" y="2030213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6F1E8"/>
                </a:solidFill>
                <a:latin typeface="Newsread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7458" y="1327780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Acquire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7097068" y="2998219"/>
            <a:ext cx="662248" cy="662248"/>
          </a:xfrm>
          <a:prstGeom prst="ellipse">
            <a:avLst/>
          </a:prstGeom>
          <a:solidFill>
            <a:srgbClr val="9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7068" y="2998219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6F1E8"/>
                </a:solidFill>
                <a:latin typeface="Newsread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9519" y="2869549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Deliver value</a:t>
            </a:r>
          </a:p>
        </p:txBody>
      </p:sp>
      <p:sp>
        <p:nvSpPr>
          <p:cNvPr id="21" name="Oval 20"/>
          <p:cNvSpPr/>
          <p:nvPr/>
        </p:nvSpPr>
        <p:spPr>
          <a:xfrm>
            <a:off x="6588157" y="4564484"/>
            <a:ext cx="662248" cy="662248"/>
          </a:xfrm>
          <a:prstGeom prst="ellipse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8157" y="4564484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6F1E8"/>
                </a:solidFill>
                <a:latin typeface="Newsread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8963" y="5364180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Retain &amp; engage</a:t>
            </a:r>
          </a:p>
        </p:txBody>
      </p:sp>
      <p:sp>
        <p:nvSpPr>
          <p:cNvPr id="24" name="Oval 23"/>
          <p:cNvSpPr/>
          <p:nvPr/>
        </p:nvSpPr>
        <p:spPr>
          <a:xfrm>
            <a:off x="4941289" y="4564484"/>
            <a:ext cx="662248" cy="662248"/>
          </a:xfrm>
          <a:prstGeom prst="ellipse">
            <a:avLst/>
          </a:prstGeom>
          <a:solidFill>
            <a:srgbClr val="98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1289" y="4564484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6F1E8"/>
                </a:solidFill>
                <a:latin typeface="Newsread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5953" y="5364180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Generate referrals</a:t>
            </a:r>
          </a:p>
        </p:txBody>
      </p:sp>
      <p:sp>
        <p:nvSpPr>
          <p:cNvPr id="27" name="Oval 26"/>
          <p:cNvSpPr/>
          <p:nvPr/>
        </p:nvSpPr>
        <p:spPr>
          <a:xfrm>
            <a:off x="4432378" y="2998219"/>
            <a:ext cx="662248" cy="662248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2378" y="2998219"/>
            <a:ext cx="662248" cy="66224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6F1E8"/>
                </a:solidFill>
                <a:latin typeface="Newsreade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5397" y="2869549"/>
            <a:ext cx="636778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Lower CAC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