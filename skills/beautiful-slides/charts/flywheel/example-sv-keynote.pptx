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Growth flywheel</a:t>
            </a:r>
          </a:p>
        </p:txBody>
      </p:sp>
      <p:sp>
        <p:nvSpPr>
          <p:cNvPr id="3" name="Oval 2"/>
          <p:cNvSpPr/>
          <p:nvPr/>
        </p:nvSpPr>
        <p:spPr>
          <a:xfrm>
            <a:off x="5572207" y="3280264"/>
            <a:ext cx="1047280" cy="1047280"/>
          </a:xfrm>
          <a:prstGeom prst="ellipse">
            <a:avLst/>
          </a:prstGeom>
          <a:solidFill>
            <a:srgbClr val="081C22"/>
          </a:solidFill>
          <a:ln w="12700">
            <a:solidFill>
              <a:srgbClr val="9AA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24571" y="3437356"/>
            <a:ext cx="942552" cy="73309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Manrope"/>
              </a:rPr>
              <a:t>Growth</a:t>
            </a:r>
          </a:p>
        </p:txBody>
      </p:sp>
      <p:sp>
        <p:nvSpPr>
          <p:cNvPr id="5" name="Freeform 4"/>
          <p:cNvSpPr/>
          <p:nvPr/>
        </p:nvSpPr>
        <p:spPr>
          <a:xfrm>
            <a:off x="6857899" y="2955907"/>
            <a:ext cx="179597" cy="154146"/>
          </a:xfrm>
          <a:custGeom>
            <a:avLst/>
            <a:gdLst/>
            <a:ahLst/>
            <a:cxnLst/>
            <a:rect l="l" t="t" r="r" b="b"/>
            <a:pathLst>
              <a:path w="179597" h="154146">
                <a:moveTo>
                  <a:pt x="179597" y="154146"/>
                </a:moveTo>
                <a:lnTo>
                  <a:pt x="0" y="100230"/>
                </a:lnTo>
                <a:lnTo>
                  <a:pt x="72822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45607" y="2667579"/>
            <a:ext cx="467848" cy="364793"/>
          </a:xfrm>
          <a:custGeom>
            <a:avLst/>
            <a:gdLst/>
            <a:ahLst/>
            <a:cxnLst/>
            <a:rect l="l" t="t" r="r" b="b"/>
            <a:pathLst>
              <a:path w="467848" h="364793">
                <a:moveTo>
                  <a:pt x="0" y="52700"/>
                </a:moveTo>
                <a:lnTo>
                  <a:pt x="38289" y="0"/>
                </a:lnTo>
                <a:lnTo>
                  <a:pt x="467848" y="312093"/>
                </a:lnTo>
                <a:lnTo>
                  <a:pt x="429559" y="364793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042502" y="4297587"/>
            <a:ext cx="117828" cy="187467"/>
          </a:xfrm>
          <a:custGeom>
            <a:avLst/>
            <a:gdLst/>
            <a:ahLst/>
            <a:cxnLst/>
            <a:rect l="l" t="t" r="r" b="b"/>
            <a:pathLst>
              <a:path w="117828" h="187467">
                <a:moveTo>
                  <a:pt x="4222" y="187467"/>
                </a:moveTo>
                <a:lnTo>
                  <a:pt x="0" y="0"/>
                </a:lnTo>
                <a:lnTo>
                  <a:pt x="117828" y="38284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070439" y="3801688"/>
            <a:ext cx="226030" cy="525106"/>
          </a:xfrm>
          <a:custGeom>
            <a:avLst/>
            <a:gdLst/>
            <a:ahLst/>
            <a:cxnLst/>
            <a:rect l="l" t="t" r="r" b="b"/>
            <a:pathLst>
              <a:path w="226030" h="525106">
                <a:moveTo>
                  <a:pt x="164077" y="0"/>
                </a:moveTo>
                <a:lnTo>
                  <a:pt x="226030" y="20130"/>
                </a:lnTo>
                <a:lnTo>
                  <a:pt x="61953" y="525106"/>
                </a:lnTo>
                <a:lnTo>
                  <a:pt x="0" y="504976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41871" y="4856783"/>
            <a:ext cx="176988" cy="123891"/>
          </a:xfrm>
          <a:custGeom>
            <a:avLst/>
            <a:gdLst/>
            <a:ahLst/>
            <a:cxnLst/>
            <a:rect l="l" t="t" r="r" b="b"/>
            <a:pathLst>
              <a:path w="176988" h="123891">
                <a:moveTo>
                  <a:pt x="0" y="61946"/>
                </a:moveTo>
                <a:lnTo>
                  <a:pt x="176988" y="0"/>
                </a:lnTo>
                <a:lnTo>
                  <a:pt x="176988" y="123891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918859" y="4886158"/>
            <a:ext cx="530964" cy="65141"/>
          </a:xfrm>
          <a:custGeom>
            <a:avLst/>
            <a:gdLst/>
            <a:ahLst/>
            <a:cxnLst/>
            <a:rect l="l" t="t" r="r" b="b"/>
            <a:pathLst>
              <a:path w="530964" h="65141">
                <a:moveTo>
                  <a:pt x="530964" y="0"/>
                </a:moveTo>
                <a:lnTo>
                  <a:pt x="530964" y="65141"/>
                </a:lnTo>
                <a:lnTo>
                  <a:pt x="0" y="65141"/>
                </a:lnTo>
                <a:lnTo>
                  <a:pt x="0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921979" y="3811753"/>
            <a:ext cx="117828" cy="187467"/>
          </a:xfrm>
          <a:custGeom>
            <a:avLst/>
            <a:gdLst/>
            <a:ahLst/>
            <a:cxnLst/>
            <a:rect l="l" t="t" r="r" b="b"/>
            <a:pathLst>
              <a:path w="117828" h="187467">
                <a:moveTo>
                  <a:pt x="4222" y="0"/>
                </a:moveTo>
                <a:lnTo>
                  <a:pt x="117828" y="149183"/>
                </a:lnTo>
                <a:lnTo>
                  <a:pt x="0" y="187467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949916" y="3970013"/>
            <a:ext cx="226030" cy="525106"/>
          </a:xfrm>
          <a:custGeom>
            <a:avLst/>
            <a:gdLst/>
            <a:ahLst/>
            <a:cxnLst/>
            <a:rect l="l" t="t" r="r" b="b"/>
            <a:pathLst>
              <a:path w="226030" h="525106">
                <a:moveTo>
                  <a:pt x="226030" y="504976"/>
                </a:moveTo>
                <a:lnTo>
                  <a:pt x="164077" y="525106"/>
                </a:lnTo>
                <a:lnTo>
                  <a:pt x="0" y="20130"/>
                </a:lnTo>
                <a:lnTo>
                  <a:pt x="61953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547344" y="2693929"/>
            <a:ext cx="179597" cy="154146"/>
          </a:xfrm>
          <a:custGeom>
            <a:avLst/>
            <a:gdLst/>
            <a:ahLst/>
            <a:cxnLst/>
            <a:rect l="l" t="t" r="r" b="b"/>
            <a:pathLst>
              <a:path w="179597" h="154146">
                <a:moveTo>
                  <a:pt x="179597" y="0"/>
                </a:moveTo>
                <a:lnTo>
                  <a:pt x="72822" y="154146"/>
                </a:lnTo>
                <a:lnTo>
                  <a:pt x="0" y="53916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135052" y="2771610"/>
            <a:ext cx="467848" cy="364793"/>
          </a:xfrm>
          <a:custGeom>
            <a:avLst/>
            <a:gdLst/>
            <a:ahLst/>
            <a:cxnLst/>
            <a:rect l="l" t="t" r="r" b="b"/>
            <a:pathLst>
              <a:path w="467848" h="364793">
                <a:moveTo>
                  <a:pt x="38289" y="364793"/>
                </a:moveTo>
                <a:lnTo>
                  <a:pt x="0" y="312093"/>
                </a:lnTo>
                <a:lnTo>
                  <a:pt x="429559" y="0"/>
                </a:lnTo>
                <a:lnTo>
                  <a:pt x="467848" y="5270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0138" y="2100195"/>
            <a:ext cx="651418" cy="651418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0138" y="2100195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5070A"/>
                </a:solidFill>
                <a:latin typeface="Manrope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2665" y="1380527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Manrope"/>
              </a:rPr>
              <a:t>Acquire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7080693" y="3052370"/>
            <a:ext cx="651418" cy="651418"/>
          </a:xfrm>
          <a:prstGeom prst="ellipse">
            <a:avLst/>
          </a:prstGeom>
          <a:solidFill>
            <a:srgbClr val="1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0693" y="305237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5070A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0021" y="2897082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Manrope"/>
              </a:rPr>
              <a:t>Deliver value</a:t>
            </a:r>
          </a:p>
        </p:txBody>
      </p:sp>
      <p:sp>
        <p:nvSpPr>
          <p:cNvPr id="21" name="Oval 20"/>
          <p:cNvSpPr/>
          <p:nvPr/>
        </p:nvSpPr>
        <p:spPr>
          <a:xfrm>
            <a:off x="6580106" y="4593020"/>
            <a:ext cx="651418" cy="651418"/>
          </a:xfrm>
          <a:prstGeom prst="ellipse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106" y="459302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5070A"/>
                </a:solidFill>
                <a:latin typeface="Manrop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2722" y="5350915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Manrope"/>
              </a:rPr>
              <a:t>Retain &amp; engage</a:t>
            </a:r>
          </a:p>
        </p:txBody>
      </p:sp>
      <p:sp>
        <p:nvSpPr>
          <p:cNvPr id="24" name="Oval 23"/>
          <p:cNvSpPr/>
          <p:nvPr/>
        </p:nvSpPr>
        <p:spPr>
          <a:xfrm>
            <a:off x="4960170" y="4593020"/>
            <a:ext cx="651418" cy="651418"/>
          </a:xfrm>
          <a:prstGeom prst="ellipse">
            <a:avLst/>
          </a:prstGeom>
          <a:solidFill>
            <a:srgbClr val="1AB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0170" y="459302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5070A"/>
                </a:solidFill>
                <a:latin typeface="Manrop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2608" y="5350915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Manrope"/>
              </a:rPr>
              <a:t>Generate referrals</a:t>
            </a:r>
          </a:p>
        </p:txBody>
      </p:sp>
      <p:sp>
        <p:nvSpPr>
          <p:cNvPr id="27" name="Oval 26"/>
          <p:cNvSpPr/>
          <p:nvPr/>
        </p:nvSpPr>
        <p:spPr>
          <a:xfrm>
            <a:off x="4459583" y="3052370"/>
            <a:ext cx="651418" cy="651418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9583" y="305237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5070A"/>
                </a:solidFill>
                <a:latin typeface="Manrope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5309" y="2897082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Manrope"/>
              </a:rPr>
              <a:t>Lower CAC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