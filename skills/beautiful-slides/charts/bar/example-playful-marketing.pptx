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694944"/>
            <a:ext cx="10801807" cy="662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1B1B1F"/>
                </a:solidFill>
                <a:latin typeface="Bricolage Grotesque"/>
              </a:rPr>
              <a:t>Q1 actual vs. plan, by segment</a:t>
            </a:r>
          </a:p>
        </p:txBody>
      </p:sp>
      <p:sp>
        <p:nvSpPr>
          <p:cNvPr id="4" name="Oval 3"/>
          <p:cNvSpPr/>
          <p:nvPr/>
        </p:nvSpPr>
        <p:spPr>
          <a:xfrm>
            <a:off x="9725101" y="1599819"/>
            <a:ext cx="171450" cy="17145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72751" y="1495044"/>
            <a:ext cx="6286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B1B1F"/>
                </a:solidFill>
                <a:latin typeface="Plus Jakarta Sans"/>
              </a:rPr>
              <a:t>Actual</a:t>
            </a:r>
          </a:p>
        </p:txBody>
      </p:sp>
      <p:sp>
        <p:nvSpPr>
          <p:cNvPr id="6" name="Oval 5"/>
          <p:cNvSpPr/>
          <p:nvPr/>
        </p:nvSpPr>
        <p:spPr>
          <a:xfrm>
            <a:off x="10830001" y="1599819"/>
            <a:ext cx="171450" cy="171450"/>
          </a:xfrm>
          <a:prstGeom prst="ellipse">
            <a:avLst/>
          </a:prstGeom>
          <a:solidFill>
            <a:srgbClr val="0AB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77651" y="1495044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B1B1F"/>
                </a:solidFill>
                <a:latin typeface="Plus Jakarta Sans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591557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083630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41654" y="5208089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4944" y="4575703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41654" y="4700162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4944" y="4067775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41654" y="4192234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4944" y="3559848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41654" y="3684307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4944" y="3051920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41654" y="3176379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94944" y="2543993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1654" y="2668452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" y="2036065"/>
            <a:ext cx="29337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B1B1F"/>
                </a:solidFill>
                <a:latin typeface="Recursive Mono"/>
              </a:rPr>
              <a:t>14M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1654" y="2160524"/>
            <a:ext cx="10241737" cy="0"/>
          </a:xfrm>
          <a:prstGeom prst="line">
            <a:avLst/>
          </a:prstGeom>
          <a:ln w="4762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1654" y="5716016"/>
            <a:ext cx="10241737" cy="0"/>
          </a:xfrm>
          <a:prstGeom prst="line">
            <a:avLst/>
          </a:prstGeom>
          <a:ln w="9524">
            <a:solidFill>
              <a:srgbClr val="6E6A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1654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B1B1F"/>
                </a:solidFill>
                <a:latin typeface="Plus Jakarta Sans"/>
              </a:rPr>
              <a:t>Enterprise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02532" y="2566866"/>
            <a:ext cx="753791" cy="3149150"/>
          </a:xfrm>
          <a:prstGeom prst="roundRect">
            <a:avLst>
              <a:gd name="adj" fmla="val 7581"/>
            </a:avLst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02532" y="2317946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12.4M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7418" y="2922416"/>
            <a:ext cx="753791" cy="2793600"/>
          </a:xfrm>
          <a:prstGeom prst="roundRect">
            <a:avLst>
              <a:gd name="adj" fmla="val 7581"/>
            </a:avLst>
          </a:prstGeom>
          <a:solidFill>
            <a:srgbClr val="0AB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7418" y="2673496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11M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2088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B1B1F"/>
                </a:solidFill>
                <a:latin typeface="Plus Jakarta Sans"/>
              </a:rPr>
              <a:t>Mid-market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62966" y="3658910"/>
            <a:ext cx="753791" cy="2057106"/>
          </a:xfrm>
          <a:prstGeom prst="roundRect">
            <a:avLst>
              <a:gd name="adj" fmla="val 7581"/>
            </a:avLst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62966" y="3409990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8.1M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47852" y="3557325"/>
            <a:ext cx="753791" cy="2158691"/>
          </a:xfrm>
          <a:prstGeom prst="roundRect">
            <a:avLst>
              <a:gd name="adj" fmla="val 7581"/>
            </a:avLst>
          </a:prstGeom>
          <a:solidFill>
            <a:srgbClr val="0AB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47852" y="3308405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8.5M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2522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B1B1F"/>
                </a:solidFill>
                <a:latin typeface="Plus Jakarta Sans"/>
              </a:rPr>
              <a:t>SMB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23400" y="4623973"/>
            <a:ext cx="753791" cy="1092043"/>
          </a:xfrm>
          <a:prstGeom prst="roundRect">
            <a:avLst>
              <a:gd name="adj" fmla="val 7581"/>
            </a:avLst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3400" y="4375053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4.3M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08286" y="4446198"/>
            <a:ext cx="753791" cy="1269818"/>
          </a:xfrm>
          <a:prstGeom prst="roundRect">
            <a:avLst>
              <a:gd name="adj" fmla="val 7581"/>
            </a:avLst>
          </a:prstGeom>
          <a:solidFill>
            <a:srgbClr val="0AB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08286" y="4197278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5M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22956" y="5797296"/>
            <a:ext cx="2560434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B1B1F"/>
                </a:solidFill>
                <a:latin typeface="Plus Jakarta Sans"/>
              </a:rPr>
              <a:t>Startup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3834" y="5258882"/>
            <a:ext cx="753791" cy="457134"/>
          </a:xfrm>
          <a:prstGeom prst="roundRect">
            <a:avLst>
              <a:gd name="adj" fmla="val 12501"/>
            </a:avLst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3834" y="5009962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1.8M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68720" y="5208089"/>
            <a:ext cx="753791" cy="507927"/>
          </a:xfrm>
          <a:prstGeom prst="roundRect">
            <a:avLst>
              <a:gd name="adj" fmla="val 11251"/>
            </a:avLst>
          </a:prstGeom>
          <a:solidFill>
            <a:srgbClr val="0AB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68720" y="4959169"/>
            <a:ext cx="753791" cy="2311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400" b="0">
                <a:solidFill>
                  <a:srgbClr val="1B1B1F"/>
                </a:solidFill>
                <a:latin typeface="Recursive Mono"/>
              </a:rPr>
              <a:t>2M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