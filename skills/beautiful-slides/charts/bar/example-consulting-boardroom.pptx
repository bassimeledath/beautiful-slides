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Q1 actual vs. plan, by segment</a:t>
            </a:r>
          </a:p>
        </p:txBody>
      </p:sp>
      <p:sp>
        <p:nvSpPr>
          <p:cNvPr id="4" name="Oval 3"/>
          <p:cNvSpPr/>
          <p:nvPr/>
        </p:nvSpPr>
        <p:spPr>
          <a:xfrm>
            <a:off x="10197541" y="1381379"/>
            <a:ext cx="125730" cy="12573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9151" y="1304544"/>
            <a:ext cx="46101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Actual</a:t>
            </a:r>
          </a:p>
        </p:txBody>
      </p:sp>
      <p:sp>
        <p:nvSpPr>
          <p:cNvPr id="6" name="Oval 5"/>
          <p:cNvSpPr/>
          <p:nvPr/>
        </p:nvSpPr>
        <p:spPr>
          <a:xfrm>
            <a:off x="11007801" y="1381379"/>
            <a:ext cx="125730" cy="12573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9411" y="1304544"/>
            <a:ext cx="30734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738876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161643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2594" y="5250543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4584410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2594" y="4673310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4007177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2594" y="4096077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3429944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2594" y="3518844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2852711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2594" y="2941611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2275478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2594" y="2364378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1698244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14M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594" y="1787144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2594" y="5827776"/>
            <a:ext cx="10401757" cy="0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2594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Enterprise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0673" y="2248931"/>
            <a:ext cx="765569" cy="357884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0673" y="2071131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12.4M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09384" y="2652994"/>
            <a:ext cx="765569" cy="3174782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9384" y="2475194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3033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Mid-market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1112" y="3489982"/>
            <a:ext cx="765569" cy="233779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11112" y="3312182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8.1M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09824" y="3374536"/>
            <a:ext cx="765569" cy="2453240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9824" y="3196736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8.5M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3472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SMB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11551" y="4586725"/>
            <a:ext cx="765569" cy="124105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551" y="4408925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4.3M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10263" y="4384694"/>
            <a:ext cx="765569" cy="1443082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10263" y="4206894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3911" y="5888736"/>
            <a:ext cx="260043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Startup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1990" y="5308267"/>
            <a:ext cx="765569" cy="51950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1990" y="5130467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1.8M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10702" y="5250543"/>
            <a:ext cx="765569" cy="577233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10702" y="5072743"/>
            <a:ext cx="765569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2M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