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617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ARR forecast with confidence interval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5226" y="1344853"/>
            <a:ext cx="10861243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ARR ($M)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67409" y="5484241"/>
            <a:ext cx="9507969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67409" y="4852077"/>
            <a:ext cx="9507969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67409" y="4219913"/>
            <a:ext cx="9507969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67409" y="3587749"/>
            <a:ext cx="9507969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67409" y="2955585"/>
            <a:ext cx="9507969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67409" y="2323421"/>
            <a:ext cx="9507969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67409" y="1691258"/>
            <a:ext cx="9507969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9133" y="5359781"/>
            <a:ext cx="8570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133" y="4727617"/>
            <a:ext cx="8570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3" y="4095453"/>
            <a:ext cx="8570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133" y="3463290"/>
            <a:ext cx="8570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3" y="2831126"/>
            <a:ext cx="8570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133" y="2198962"/>
            <a:ext cx="8570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3" y="1566798"/>
            <a:ext cx="8570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140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67409" y="1691258"/>
            <a:ext cx="0" cy="3792983"/>
          </a:xfrm>
          <a:prstGeom prst="line">
            <a:avLst/>
          </a:prstGeom>
          <a:ln w="9525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67409" y="5484241"/>
            <a:ext cx="9507969" cy="0"/>
          </a:xfrm>
          <a:prstGeom prst="line">
            <a:avLst/>
          </a:prstGeom>
          <a:ln w="9525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6612" y="5515444"/>
            <a:ext cx="1901593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Q1'24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4893" y="5515444"/>
            <a:ext cx="1901593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Q2'24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3175" y="5515444"/>
            <a:ext cx="1901593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Q3'24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1456" y="5515444"/>
            <a:ext cx="1901593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Q4'24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9737" y="5515444"/>
            <a:ext cx="1901593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Q1'25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8018" y="5515444"/>
            <a:ext cx="1901593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Q2'25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6300" y="5515444"/>
            <a:ext cx="1901593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Q3'25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24581" y="5515444"/>
            <a:ext cx="1901593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Q4'25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67409" y="5810326"/>
            <a:ext cx="950796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Plus Jakarta Sans"/>
              </a:rPr>
              <a:t>Quarter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58815" y="1691258"/>
            <a:ext cx="0" cy="3792983"/>
          </a:xfrm>
          <a:prstGeom prst="line">
            <a:avLst/>
          </a:prstGeom>
          <a:ln w="9525">
            <a:solidFill>
              <a:srgbClr val="6E6A7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567409" y="4535995"/>
            <a:ext cx="1358281" cy="252865"/>
          </a:xfrm>
          <a:prstGeom prst="rect">
            <a:avLst/>
          </a:prstGeom>
          <a:solidFill>
            <a:srgbClr val="FF7A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25690" y="4314737"/>
            <a:ext cx="1358281" cy="347690"/>
          </a:xfrm>
          <a:prstGeom prst="rect">
            <a:avLst/>
          </a:prstGeom>
          <a:solidFill>
            <a:srgbClr val="FF7A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83971" y="3998655"/>
            <a:ext cx="1358281" cy="568947"/>
          </a:xfrm>
          <a:prstGeom prst="rect">
            <a:avLst/>
          </a:prstGeom>
          <a:solidFill>
            <a:srgbClr val="FF7A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42252" y="3745790"/>
            <a:ext cx="1358281" cy="632163"/>
          </a:xfrm>
          <a:prstGeom prst="rect">
            <a:avLst/>
          </a:prstGeom>
          <a:solidFill>
            <a:srgbClr val="FF7A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00534" y="3334883"/>
            <a:ext cx="1358281" cy="853421"/>
          </a:xfrm>
          <a:prstGeom prst="rect">
            <a:avLst/>
          </a:prstGeom>
          <a:solidFill>
            <a:srgbClr val="FF7A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58815" y="2892369"/>
            <a:ext cx="1358281" cy="1201111"/>
          </a:xfrm>
          <a:prstGeom prst="rect">
            <a:avLst/>
          </a:prstGeom>
          <a:solidFill>
            <a:srgbClr val="FF7A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17096" y="2386638"/>
            <a:ext cx="1358281" cy="1580409"/>
          </a:xfrm>
          <a:prstGeom prst="rect">
            <a:avLst/>
          </a:prstGeom>
          <a:solidFill>
            <a:srgbClr val="FF7A0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7000534" y="3714182"/>
            <a:ext cx="1358281" cy="252865"/>
          </a:xfrm>
          <a:prstGeom prst="line">
            <a:avLst/>
          </a:prstGeom>
          <a:ln w="25400">
            <a:solidFill>
              <a:srgbClr val="FF7A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358815" y="3429708"/>
            <a:ext cx="1358281" cy="284474"/>
          </a:xfrm>
          <a:prstGeom prst="line">
            <a:avLst/>
          </a:prstGeom>
          <a:ln w="25400">
            <a:solidFill>
              <a:srgbClr val="FF7A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717096" y="3113626"/>
            <a:ext cx="1358282" cy="316082"/>
          </a:xfrm>
          <a:prstGeom prst="line">
            <a:avLst/>
          </a:prstGeom>
          <a:ln w="25400">
            <a:solidFill>
              <a:srgbClr val="FF7A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567409" y="4599211"/>
            <a:ext cx="1358281" cy="189649"/>
          </a:xfrm>
          <a:prstGeom prst="line">
            <a:avLst/>
          </a:prstGeom>
          <a:ln w="317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25690" y="4441170"/>
            <a:ext cx="1358281" cy="158041"/>
          </a:xfrm>
          <a:prstGeom prst="line">
            <a:avLst/>
          </a:prstGeom>
          <a:ln w="317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283971" y="4188305"/>
            <a:ext cx="1358281" cy="252865"/>
          </a:xfrm>
          <a:prstGeom prst="line">
            <a:avLst/>
          </a:prstGeom>
          <a:ln w="317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642252" y="3967047"/>
            <a:ext cx="1358282" cy="221258"/>
          </a:xfrm>
          <a:prstGeom prst="line">
            <a:avLst/>
          </a:prstGeom>
          <a:ln w="317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949734" y="3916247"/>
            <a:ext cx="101600" cy="101600"/>
          </a:xfrm>
          <a:prstGeom prst="ellipse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980214" y="3946727"/>
            <a:ext cx="40640" cy="40640"/>
          </a:xfrm>
          <a:prstGeom prst="ellipse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88638" y="1424558"/>
            <a:ext cx="586740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Plus Jakarta Sans"/>
              </a:rPr>
              <a:t>90% CI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04158" y="1495677"/>
            <a:ext cx="213360" cy="106680"/>
          </a:xfrm>
          <a:prstGeom prst="rect">
            <a:avLst/>
          </a:prstGeom>
          <a:solidFill>
            <a:srgbClr val="FF7A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79598" y="1424558"/>
            <a:ext cx="782320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Plus Jakarta Sans"/>
              </a:rPr>
              <a:t>Forecast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995118" y="1549017"/>
            <a:ext cx="213360" cy="0"/>
          </a:xfrm>
          <a:prstGeom prst="line">
            <a:avLst/>
          </a:prstGeom>
          <a:ln w="25400">
            <a:solidFill>
              <a:srgbClr val="FF7A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168348" y="1424558"/>
            <a:ext cx="684530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B1B1F"/>
                </a:solidFill>
                <a:latin typeface="Plus Jakarta Sans"/>
              </a:rPr>
              <a:t>Actuals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883868" y="1549017"/>
            <a:ext cx="213360" cy="0"/>
          </a:xfrm>
          <a:prstGeom prst="line">
            <a:avLst/>
          </a:prstGeom>
          <a:ln w="317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