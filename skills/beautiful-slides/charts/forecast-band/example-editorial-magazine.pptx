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Monthly active users -- base vs.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226" y="1276273"/>
            <a:ext cx="10861243" cy="264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MAU (thousands)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67409" y="5844921"/>
            <a:ext cx="9507969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67409" y="5312060"/>
            <a:ext cx="9507969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67409" y="4779200"/>
            <a:ext cx="9507969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67409" y="4246339"/>
            <a:ext cx="9507969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67409" y="3713479"/>
            <a:ext cx="9507969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67409" y="3180619"/>
            <a:ext cx="9507969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67409" y="2647758"/>
            <a:ext cx="9507969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67409" y="2114898"/>
            <a:ext cx="9507969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67409" y="1582038"/>
            <a:ext cx="9507969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9133" y="5738241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3" y="5205380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1250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3" y="4672520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133" y="4139659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1750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3" y="3606799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2000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133" y="3073939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2250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3" y="2541078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2500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133" y="2008218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2750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3" y="1475358"/>
            <a:ext cx="85707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3000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67409" y="1582038"/>
            <a:ext cx="0" cy="4262883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567409" y="5844921"/>
            <a:ext cx="9507969" cy="0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3544" y="5876124"/>
            <a:ext cx="1267729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Jan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7905" y="5876124"/>
            <a:ext cx="1267729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62266" y="5876124"/>
            <a:ext cx="1267729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6626" y="5876124"/>
            <a:ext cx="1267729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Apr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0987" y="5876124"/>
            <a:ext cx="1267729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5348" y="5876124"/>
            <a:ext cx="1267729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Jun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19709" y="5876124"/>
            <a:ext cx="1267729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Jul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4070" y="5876124"/>
            <a:ext cx="1267729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Aug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8431" y="5876124"/>
            <a:ext cx="1267729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Sep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2791" y="5876124"/>
            <a:ext cx="1267729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Oct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7152" y="5876124"/>
            <a:ext cx="1267729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Nov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41513" y="5876124"/>
            <a:ext cx="1267729" cy="243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Dec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617934" y="1582038"/>
            <a:ext cx="0" cy="4262883"/>
          </a:xfrm>
          <a:prstGeom prst="line">
            <a:avLst/>
          </a:prstGeom>
          <a:ln w="9525">
            <a:solidFill>
              <a:srgbClr val="6F67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567409" y="5098916"/>
            <a:ext cx="864360" cy="319716"/>
          </a:xfrm>
          <a:prstGeom prst="rect">
            <a:avLst/>
          </a:prstGeom>
          <a:solidFill>
            <a:srgbClr val="8C2F3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31769" y="4736571"/>
            <a:ext cx="864360" cy="362345"/>
          </a:xfrm>
          <a:prstGeom prst="rect">
            <a:avLst/>
          </a:prstGeom>
          <a:solidFill>
            <a:srgbClr val="8C2F3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96130" y="4715257"/>
            <a:ext cx="864360" cy="213144"/>
          </a:xfrm>
          <a:prstGeom prst="rect">
            <a:avLst/>
          </a:prstGeom>
          <a:solidFill>
            <a:srgbClr val="8C2F3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60491" y="4523427"/>
            <a:ext cx="864360" cy="404973"/>
          </a:xfrm>
          <a:prstGeom prst="rect">
            <a:avLst/>
          </a:prstGeom>
          <a:solidFill>
            <a:srgbClr val="8C2F3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4852" y="4139767"/>
            <a:ext cx="864360" cy="682061"/>
          </a:xfrm>
          <a:prstGeom prst="rect">
            <a:avLst/>
          </a:prstGeom>
          <a:solidFill>
            <a:srgbClr val="8C2F3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89213" y="3926623"/>
            <a:ext cx="864360" cy="639432"/>
          </a:xfrm>
          <a:prstGeom prst="rect">
            <a:avLst/>
          </a:prstGeom>
          <a:solidFill>
            <a:srgbClr val="8C2F3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53573" y="3606907"/>
            <a:ext cx="864360" cy="980463"/>
          </a:xfrm>
          <a:prstGeom prst="rect">
            <a:avLst/>
          </a:prstGeom>
          <a:solidFill>
            <a:srgbClr val="8C2F3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17934" y="3244562"/>
            <a:ext cx="864360" cy="1364122"/>
          </a:xfrm>
          <a:prstGeom prst="rect">
            <a:avLst/>
          </a:prstGeom>
          <a:solidFill>
            <a:srgbClr val="8C2F3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82295" y="2860902"/>
            <a:ext cx="864360" cy="1790410"/>
          </a:xfrm>
          <a:prstGeom prst="rect">
            <a:avLst/>
          </a:prstGeom>
          <a:solidFill>
            <a:srgbClr val="8C2F3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46656" y="2477243"/>
            <a:ext cx="864360" cy="2259327"/>
          </a:xfrm>
          <a:prstGeom prst="rect">
            <a:avLst/>
          </a:prstGeom>
          <a:solidFill>
            <a:srgbClr val="8C2F3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211017" y="2093583"/>
            <a:ext cx="864360" cy="2728245"/>
          </a:xfrm>
          <a:prstGeom prst="rect">
            <a:avLst/>
          </a:prstGeom>
          <a:solidFill>
            <a:srgbClr val="8C2F3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6753573" y="4097138"/>
            <a:ext cx="864361" cy="149201"/>
          </a:xfrm>
          <a:prstGeom prst="line">
            <a:avLst/>
          </a:prstGeom>
          <a:ln w="25400">
            <a:solidFill>
              <a:srgbClr val="8C2F3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617934" y="3926623"/>
            <a:ext cx="864361" cy="170515"/>
          </a:xfrm>
          <a:prstGeom prst="line">
            <a:avLst/>
          </a:prstGeom>
          <a:ln w="25400">
            <a:solidFill>
              <a:srgbClr val="8C2F3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482295" y="3756108"/>
            <a:ext cx="864361" cy="170515"/>
          </a:xfrm>
          <a:prstGeom prst="line">
            <a:avLst/>
          </a:prstGeom>
          <a:ln w="25400">
            <a:solidFill>
              <a:srgbClr val="8C2F3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346656" y="3606907"/>
            <a:ext cx="864361" cy="149201"/>
          </a:xfrm>
          <a:prstGeom prst="line">
            <a:avLst/>
          </a:prstGeom>
          <a:ln w="25400">
            <a:solidFill>
              <a:srgbClr val="8C2F3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211017" y="3457706"/>
            <a:ext cx="864361" cy="149201"/>
          </a:xfrm>
          <a:prstGeom prst="line">
            <a:avLst/>
          </a:prstGeom>
          <a:ln w="25400">
            <a:solidFill>
              <a:srgbClr val="8C2F3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567409" y="5098916"/>
            <a:ext cx="864360" cy="319716"/>
          </a:xfrm>
          <a:prstGeom prst="line">
            <a:avLst/>
          </a:prstGeom>
          <a:ln w="317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431769" y="4779200"/>
            <a:ext cx="864361" cy="319716"/>
          </a:xfrm>
          <a:prstGeom prst="line">
            <a:avLst/>
          </a:prstGeom>
          <a:ln w="317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296130" y="4779200"/>
            <a:ext cx="864361" cy="42629"/>
          </a:xfrm>
          <a:prstGeom prst="line">
            <a:avLst/>
          </a:prstGeom>
          <a:ln w="317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160491" y="4672628"/>
            <a:ext cx="864361" cy="149201"/>
          </a:xfrm>
          <a:prstGeom prst="line">
            <a:avLst/>
          </a:prstGeom>
          <a:ln w="317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024852" y="4352911"/>
            <a:ext cx="864361" cy="319717"/>
          </a:xfrm>
          <a:prstGeom prst="line">
            <a:avLst/>
          </a:prstGeom>
          <a:ln w="317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89213" y="4246339"/>
            <a:ext cx="864360" cy="106572"/>
          </a:xfrm>
          <a:prstGeom prst="line">
            <a:avLst/>
          </a:prstGeom>
          <a:ln w="317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702773" y="4195539"/>
            <a:ext cx="101600" cy="101600"/>
          </a:xfrm>
          <a:prstGeom prst="ellipse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33253" y="4226019"/>
            <a:ext cx="40640" cy="40640"/>
          </a:xfrm>
          <a:prstGeom prst="ellipse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01898" y="1353438"/>
            <a:ext cx="117348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Newsreader"/>
              </a:rPr>
              <a:t>Scenario range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58058" y="1414398"/>
            <a:ext cx="182880" cy="91440"/>
          </a:xfrm>
          <a:prstGeom prst="rect">
            <a:avLst/>
          </a:prstGeom>
          <a:solidFill>
            <a:srgbClr val="8C2F3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65578" y="1353438"/>
            <a:ext cx="67056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Newsreader"/>
              </a:rPr>
              <a:t>Forecast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621738" y="1460118"/>
            <a:ext cx="182880" cy="0"/>
          </a:xfrm>
          <a:prstGeom prst="line">
            <a:avLst/>
          </a:prstGeom>
          <a:ln w="25400">
            <a:solidFill>
              <a:srgbClr val="8C2F3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913078" y="1353438"/>
            <a:ext cx="586740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81514"/>
                </a:solidFill>
                <a:latin typeface="Newsreader"/>
              </a:rPr>
              <a:t>Actuals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669238" y="1460118"/>
            <a:ext cx="182880" cy="0"/>
          </a:xfrm>
          <a:prstGeom prst="line">
            <a:avLst/>
          </a:prstGeom>
          <a:ln w="31750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