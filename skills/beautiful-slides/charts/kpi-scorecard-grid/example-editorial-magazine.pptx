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81514"/>
                </a:solidFill>
                <a:latin typeface="Fraunces"/>
              </a:rPr>
              <a:t>Q1 2025 Executive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513231" cy="254569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4566" y="123495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4566" y="153467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81514"/>
                </a:solidFill>
                <a:latin typeface="Fraunces"/>
              </a:rPr>
              <a:t>$47.2M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566" y="225603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5B00"/>
                </a:solidFill>
                <a:latin typeface="IBM Plex Mono"/>
              </a:rPr>
              <a:t>▲ +12.4% vs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566" y="312683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Source: NetSuite, Apr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9231" y="1005840"/>
            <a:ext cx="3513231" cy="254569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5157" y="123495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GROSS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157" y="153467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81514"/>
                </a:solidFill>
                <a:latin typeface="Fraunces"/>
              </a:rPr>
              <a:t>72.8%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57" y="225603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C2F39"/>
                </a:solidFill>
                <a:latin typeface="IBM Plex Mono"/>
              </a:rPr>
              <a:t>▼ -1.1 pts QoQ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57" y="312683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Non-GAAP, ex. one-time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822" y="1005840"/>
            <a:ext cx="3513231" cy="254569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748" y="123495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748" y="153467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81514"/>
                </a:solidFill>
                <a:latin typeface="Fraunces"/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748" y="225603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5B00"/>
                </a:solidFill>
                <a:latin typeface="IBM Plex Mono"/>
              </a:rPr>
              <a:t>▲ +6 vs 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8" y="312683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n=1,842, mixed segment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63670"/>
            <a:ext cx="3513231" cy="254569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66" y="399278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BURN MULTIPLE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66" y="429250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81514"/>
                </a:solidFill>
                <a:latin typeface="Fraunces"/>
              </a:rPr>
              <a:t>1.2x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566" y="501386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C2F39"/>
                </a:solidFill>
                <a:latin typeface="IBM Plex Mono"/>
              </a:rPr>
              <a:t>▼ -0.3x QoQ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66" y="588466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Net burn / net new ARR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9231" y="3763670"/>
            <a:ext cx="3513231" cy="254569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5157" y="399278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HEADCOUNT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157" y="429250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81514"/>
                </a:solidFill>
                <a:latin typeface="Fraunces"/>
              </a:rPr>
              <a:t>284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5157" y="501386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5B00"/>
                </a:solidFill>
                <a:latin typeface="IBM Plex Mono"/>
              </a:rPr>
              <a:t>▲ +18 hires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5157" y="588466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Eng: 142, GTM: 89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822" y="3763670"/>
            <a:ext cx="3513231" cy="254569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748" y="399278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675F"/>
                </a:solidFill>
                <a:latin typeface="Newsreader"/>
              </a:rPr>
              <a:t>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748" y="429250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81514"/>
                </a:solidFill>
                <a:latin typeface="Fraunces"/>
              </a:rPr>
              <a:t>$12.8M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748" y="501386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5B00"/>
                </a:solidFill>
                <a:latin typeface="IBM Plex Mono"/>
              </a:rPr>
              <a:t>▲ +34% QoQ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748" y="588466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F675F"/>
                </a:solidFill>
                <a:latin typeface="Newsreader"/>
              </a:rPr>
              <a:t>Stage 2+ weighted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