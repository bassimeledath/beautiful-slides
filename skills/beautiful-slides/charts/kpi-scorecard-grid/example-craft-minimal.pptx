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22201C"/>
                </a:solidFill>
                <a:latin typeface="Instrument Serif"/>
              </a:rPr>
              <a:t>Q1 2025 Executive Scorecard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05840"/>
            <a:ext cx="3513231" cy="2545690"/>
          </a:xfrm>
          <a:prstGeom prst="roundRect">
            <a:avLst>
              <a:gd name="adj" fmla="val 748"/>
            </a:avLst>
          </a:prstGeom>
          <a:solidFill>
            <a:srgbClr val="FCFBF8"/>
          </a:solidFill>
          <a:ln w="6350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4566" y="1234952"/>
            <a:ext cx="302137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B776F"/>
                </a:solidFill>
                <a:latin typeface="Instrument Sans"/>
              </a:rPr>
              <a:t>ARR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4566" y="1534672"/>
            <a:ext cx="3021379" cy="67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22201C"/>
                </a:solidFill>
                <a:latin typeface="Instrument Serif"/>
              </a:rPr>
              <a:t>$47.2M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4566" y="2256032"/>
            <a:ext cx="3021379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9A6B39"/>
                </a:solidFill>
                <a:latin typeface="Instrument Sans"/>
              </a:rPr>
              <a:t>▲ +12.4% vs plan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4566" y="3126838"/>
            <a:ext cx="3021379" cy="195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B776F"/>
                </a:solidFill>
                <a:latin typeface="Instrument Sans"/>
              </a:rPr>
              <a:t>Source: NetSuite, Apr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9231" y="1005840"/>
            <a:ext cx="3513231" cy="2545690"/>
          </a:xfrm>
          <a:prstGeom prst="roundRect">
            <a:avLst>
              <a:gd name="adj" fmla="val 748"/>
            </a:avLst>
          </a:prstGeom>
          <a:solidFill>
            <a:srgbClr val="FCFBF8"/>
          </a:solidFill>
          <a:ln w="6350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85157" y="1234952"/>
            <a:ext cx="302137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B776F"/>
                </a:solidFill>
                <a:latin typeface="Instrument Sans"/>
              </a:rPr>
              <a:t>GROSS MARGIN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85157" y="1534672"/>
            <a:ext cx="3021379" cy="67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22201C"/>
                </a:solidFill>
                <a:latin typeface="Instrument Serif"/>
              </a:rPr>
              <a:t>72.8%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5157" y="2256032"/>
            <a:ext cx="3021379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7C8571"/>
                </a:solidFill>
                <a:latin typeface="Instrument Sans"/>
              </a:rPr>
              <a:t>▼ -1.1 pts QoQ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5157" y="3126838"/>
            <a:ext cx="3021379" cy="195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B776F"/>
                </a:solidFill>
                <a:latin typeface="Instrument Sans"/>
              </a:rPr>
              <a:t>Non-GAAP, ex. one-time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9822" y="1005840"/>
            <a:ext cx="3513231" cy="2545690"/>
          </a:xfrm>
          <a:prstGeom prst="roundRect">
            <a:avLst>
              <a:gd name="adj" fmla="val 748"/>
            </a:avLst>
          </a:prstGeom>
          <a:solidFill>
            <a:srgbClr val="FCFBF8"/>
          </a:solidFill>
          <a:ln w="6350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75748" y="1234952"/>
            <a:ext cx="302137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B776F"/>
                </a:solidFill>
                <a:latin typeface="Instrument Sans"/>
              </a:rPr>
              <a:t>NPS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75748" y="1534672"/>
            <a:ext cx="3021379" cy="67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22201C"/>
                </a:solidFill>
                <a:latin typeface="Instrument Serif"/>
              </a:rPr>
              <a:t>64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75748" y="2256032"/>
            <a:ext cx="3021379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9A6B39"/>
                </a:solidFill>
                <a:latin typeface="Instrument Sans"/>
              </a:rPr>
              <a:t>▲ +6 vs Q4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75748" y="3126838"/>
            <a:ext cx="3021379" cy="195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B776F"/>
                </a:solidFill>
                <a:latin typeface="Instrument Sans"/>
              </a:rPr>
              <a:t>n=1,842, mixed segment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763670"/>
            <a:ext cx="3513231" cy="2545690"/>
          </a:xfrm>
          <a:prstGeom prst="roundRect">
            <a:avLst>
              <a:gd name="adj" fmla="val 748"/>
            </a:avLst>
          </a:prstGeom>
          <a:solidFill>
            <a:srgbClr val="FCFBF8"/>
          </a:solidFill>
          <a:ln w="6350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4566" y="3992782"/>
            <a:ext cx="302137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B776F"/>
                </a:solidFill>
                <a:latin typeface="Instrument Sans"/>
              </a:rPr>
              <a:t>BURN MULTIPLE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4566" y="4292502"/>
            <a:ext cx="3021379" cy="67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22201C"/>
                </a:solidFill>
                <a:latin typeface="Instrument Serif"/>
              </a:rPr>
              <a:t>1.2x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4566" y="5013862"/>
            <a:ext cx="3021379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7C8571"/>
                </a:solidFill>
                <a:latin typeface="Instrument Sans"/>
              </a:rPr>
              <a:t>▼ -0.3x QoQ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4566" y="5884668"/>
            <a:ext cx="3021379" cy="195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B776F"/>
                </a:solidFill>
                <a:latin typeface="Instrument Sans"/>
              </a:rPr>
              <a:t>Net burn / net new ARR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39231" y="3763670"/>
            <a:ext cx="3513231" cy="2545690"/>
          </a:xfrm>
          <a:prstGeom prst="roundRect">
            <a:avLst>
              <a:gd name="adj" fmla="val 748"/>
            </a:avLst>
          </a:prstGeom>
          <a:solidFill>
            <a:srgbClr val="FCFBF8"/>
          </a:solidFill>
          <a:ln w="6350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85157" y="3992782"/>
            <a:ext cx="302137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B776F"/>
                </a:solidFill>
                <a:latin typeface="Instrument Sans"/>
              </a:rPr>
              <a:t>HEADCOUNT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85157" y="4292502"/>
            <a:ext cx="3021379" cy="67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22201C"/>
                </a:solidFill>
                <a:latin typeface="Instrument Serif"/>
              </a:rPr>
              <a:t>284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85157" y="5013862"/>
            <a:ext cx="3021379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9A6B39"/>
                </a:solidFill>
                <a:latin typeface="Instrument Sans"/>
              </a:rPr>
              <a:t>▲ +18 hires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85157" y="5884668"/>
            <a:ext cx="3021379" cy="195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B776F"/>
                </a:solidFill>
                <a:latin typeface="Instrument Sans"/>
              </a:rPr>
              <a:t>Eng: 142, GTM: 89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29822" y="3763670"/>
            <a:ext cx="3513231" cy="2545690"/>
          </a:xfrm>
          <a:prstGeom prst="roundRect">
            <a:avLst>
              <a:gd name="adj" fmla="val 748"/>
            </a:avLst>
          </a:prstGeom>
          <a:solidFill>
            <a:srgbClr val="FCFBF8"/>
          </a:solidFill>
          <a:ln w="6350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75748" y="3992782"/>
            <a:ext cx="302137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7B776F"/>
                </a:solidFill>
                <a:latin typeface="Instrument Sans"/>
              </a:rPr>
              <a:t>PIPELINE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75748" y="4292502"/>
            <a:ext cx="3021379" cy="67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>
                <a:solidFill>
                  <a:srgbClr val="22201C"/>
                </a:solidFill>
                <a:latin typeface="Instrument Serif"/>
              </a:rPr>
              <a:t>$12.8M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75748" y="5013862"/>
            <a:ext cx="3021379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9A6B39"/>
                </a:solidFill>
                <a:latin typeface="Instrument Sans"/>
              </a:rPr>
              <a:t>▲ +34% QoQ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75748" y="5884668"/>
            <a:ext cx="3021379" cy="195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B776F"/>
                </a:solidFill>
                <a:latin typeface="Instrument Sans"/>
              </a:rPr>
              <a:t>Stage 2+ weighted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