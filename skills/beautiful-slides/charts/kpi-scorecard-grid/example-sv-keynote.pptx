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5F7FA"/>
                </a:solidFill>
                <a:latin typeface="Manrope"/>
              </a:rPr>
              <a:t>Q1 2025 Executive Scorecard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513231" cy="2523744"/>
          </a:xfrm>
          <a:prstGeom prst="roundRect">
            <a:avLst>
              <a:gd name="adj" fmla="val 2264"/>
            </a:avLst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4566" y="1278696"/>
            <a:ext cx="302137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AA4B2"/>
                </a:solidFill>
                <a:latin typeface="Manrope"/>
              </a:rPr>
              <a:t>ARR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4566" y="1625406"/>
            <a:ext cx="3021379" cy="655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300" b="1">
                <a:solidFill>
                  <a:srgbClr val="F5F7FA"/>
                </a:solidFill>
                <a:latin typeface="Manrope"/>
              </a:rPr>
              <a:t>$47.2M</a:t>
            </a:r>
          </a:p>
        </p:txBody>
      </p:sp>
      <p:sp>
        <p:nvSpPr>
          <p:cNvPr id="7" name="Rectangle 6"/>
          <p:cNvSpPr/>
          <p:nvPr/>
        </p:nvSpPr>
        <p:spPr>
          <a:xfrm>
            <a:off x="794566" y="2315016"/>
            <a:ext cx="543848" cy="38100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4566" y="2455986"/>
            <a:ext cx="30213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7B26A"/>
                </a:solidFill>
                <a:latin typeface="JetBrains Mono"/>
              </a:rPr>
              <a:t>▲ +12.4% vs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4566" y="3134808"/>
            <a:ext cx="302137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4B2"/>
                </a:solidFill>
                <a:latin typeface="Manrope"/>
              </a:rPr>
              <a:t>Source: NetSuite, Apr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9231" y="1051560"/>
            <a:ext cx="3513231" cy="2523744"/>
          </a:xfrm>
          <a:prstGeom prst="roundRect">
            <a:avLst>
              <a:gd name="adj" fmla="val 2264"/>
            </a:avLst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5157" y="1278696"/>
            <a:ext cx="302137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AA4B2"/>
                </a:solidFill>
                <a:latin typeface="Manrope"/>
              </a:rPr>
              <a:t>GROSS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5157" y="1625406"/>
            <a:ext cx="3021379" cy="655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300" b="1">
                <a:solidFill>
                  <a:srgbClr val="F5F7FA"/>
                </a:solidFill>
                <a:latin typeface="Manrope"/>
              </a:rPr>
              <a:t>72.8%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85157" y="2315016"/>
            <a:ext cx="543848" cy="38100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5157" y="2455986"/>
            <a:ext cx="302137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9AA4B2"/>
                </a:solidFill>
                <a:latin typeface="JetBrains Mono"/>
              </a:rPr>
              <a:t>▼ -1.1 pts QoQ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5157" y="3134808"/>
            <a:ext cx="302137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4B2"/>
                </a:solidFill>
                <a:latin typeface="Manrope"/>
              </a:rPr>
              <a:t>Non-GAAP, ex. one-time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822" y="1051560"/>
            <a:ext cx="3513231" cy="2523744"/>
          </a:xfrm>
          <a:prstGeom prst="roundRect">
            <a:avLst>
              <a:gd name="adj" fmla="val 2264"/>
            </a:avLst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748" y="1278696"/>
            <a:ext cx="302137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AA4B2"/>
                </a:solidFill>
                <a:latin typeface="Manrope"/>
              </a:rPr>
              <a:t>NPS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748" y="1625406"/>
            <a:ext cx="3021379" cy="655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300" b="1">
                <a:solidFill>
                  <a:srgbClr val="F5F7FA"/>
                </a:solidFill>
                <a:latin typeface="Manrope"/>
              </a:rPr>
              <a:t>64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75748" y="2315016"/>
            <a:ext cx="543848" cy="38100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748" y="2455986"/>
            <a:ext cx="302137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7B26A"/>
                </a:solidFill>
                <a:latin typeface="JetBrains Mono"/>
              </a:rPr>
              <a:t>▲ +6 vs 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748" y="3134808"/>
            <a:ext cx="302137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4B2"/>
                </a:solidFill>
                <a:latin typeface="Manrope"/>
              </a:rPr>
              <a:t>n=1,842, mixed segment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85616"/>
            <a:ext cx="3513231" cy="2523744"/>
          </a:xfrm>
          <a:prstGeom prst="roundRect">
            <a:avLst>
              <a:gd name="adj" fmla="val 2264"/>
            </a:avLst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4566" y="4012752"/>
            <a:ext cx="302137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AA4B2"/>
                </a:solidFill>
                <a:latin typeface="Manrope"/>
              </a:rPr>
              <a:t>BURN MULTIPLE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4566" y="4359462"/>
            <a:ext cx="3021379" cy="655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300" b="1">
                <a:solidFill>
                  <a:srgbClr val="F5F7FA"/>
                </a:solidFill>
                <a:latin typeface="Manrope"/>
              </a:rPr>
              <a:t>1.2x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4566" y="5049072"/>
            <a:ext cx="543848" cy="38100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4566" y="5190042"/>
            <a:ext cx="302137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9AA4B2"/>
                </a:solidFill>
                <a:latin typeface="JetBrains Mono"/>
              </a:rPr>
              <a:t>▼ -0.3x QoQ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566" y="5868864"/>
            <a:ext cx="302137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4B2"/>
                </a:solidFill>
                <a:latin typeface="Manrope"/>
              </a:rPr>
              <a:t>Net burn / net new ARR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39231" y="3785616"/>
            <a:ext cx="3513231" cy="2523744"/>
          </a:xfrm>
          <a:prstGeom prst="roundRect">
            <a:avLst>
              <a:gd name="adj" fmla="val 2264"/>
            </a:avLst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85157" y="4012752"/>
            <a:ext cx="302137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AA4B2"/>
                </a:solidFill>
                <a:latin typeface="Manrope"/>
              </a:rPr>
              <a:t>HEADCOUNT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5157" y="4359462"/>
            <a:ext cx="3021379" cy="655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300" b="1">
                <a:solidFill>
                  <a:srgbClr val="F5F7FA"/>
                </a:solidFill>
                <a:latin typeface="Manrope"/>
              </a:rPr>
              <a:t>284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85157" y="5049072"/>
            <a:ext cx="543848" cy="38100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85157" y="5190042"/>
            <a:ext cx="302137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7B26A"/>
                </a:solidFill>
                <a:latin typeface="JetBrains Mono"/>
              </a:rPr>
              <a:t>▲ +18 hires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5157" y="5868864"/>
            <a:ext cx="302137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4B2"/>
                </a:solidFill>
                <a:latin typeface="Manrope"/>
              </a:rPr>
              <a:t>Eng: 142, GTM: 89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29822" y="3785616"/>
            <a:ext cx="3513231" cy="2523744"/>
          </a:xfrm>
          <a:prstGeom prst="roundRect">
            <a:avLst>
              <a:gd name="adj" fmla="val 2264"/>
            </a:avLst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75748" y="4012752"/>
            <a:ext cx="302137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AA4B2"/>
                </a:solidFill>
                <a:latin typeface="Manrope"/>
              </a:rPr>
              <a:t>PIPELINE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748" y="4359462"/>
            <a:ext cx="3021379" cy="655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300" b="1">
                <a:solidFill>
                  <a:srgbClr val="F5F7FA"/>
                </a:solidFill>
                <a:latin typeface="Manrope"/>
              </a:rPr>
              <a:t>$12.8M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75748" y="5049072"/>
            <a:ext cx="543848" cy="38100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5748" y="5190042"/>
            <a:ext cx="302137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7B26A"/>
                </a:solidFill>
                <a:latin typeface="JetBrains Mono"/>
              </a:rPr>
              <a:t>▲ +34% QoQ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5748" y="5868864"/>
            <a:ext cx="302137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4B2"/>
                </a:solidFill>
                <a:latin typeface="Manrope"/>
              </a:rPr>
              <a:t>Stage 2+ weighted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