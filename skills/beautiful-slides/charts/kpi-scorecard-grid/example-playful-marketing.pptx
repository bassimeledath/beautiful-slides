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1B1F"/>
                </a:solidFill>
                <a:latin typeface="Bricolage Grotesque"/>
              </a:rPr>
              <a:t>Q1 2025 Executive Scorecard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13231" cy="2523744"/>
          </a:xfrm>
          <a:prstGeom prst="roundRect">
            <a:avLst>
              <a:gd name="adj" fmla="val 4528"/>
            </a:avLst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4566" y="1278696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E6A73"/>
                </a:solidFill>
                <a:latin typeface="Plus Jakarta Sans"/>
              </a:rP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4566" y="1625406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1B1B1F"/>
                </a:solidFill>
                <a:latin typeface="Bricolage Grotesque"/>
              </a:rPr>
              <a:t>$47.2M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566" y="2337876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B39C"/>
                </a:solidFill>
                <a:latin typeface="Recursive Mono"/>
              </a:rPr>
              <a:t>▲ +12.4% vs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566" y="3134808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6A73"/>
                </a:solidFill>
                <a:latin typeface="Plus Jakarta Sans"/>
              </a:rPr>
              <a:t>Source: NetSuite, Apr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9231" y="1051560"/>
            <a:ext cx="3513231" cy="2523744"/>
          </a:xfrm>
          <a:prstGeom prst="roundRect">
            <a:avLst>
              <a:gd name="adj" fmla="val 4528"/>
            </a:avLst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5157" y="1278696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E6A73"/>
                </a:solidFill>
                <a:latin typeface="Plus Jakarta Sans"/>
              </a:rPr>
              <a:t>GROSS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157" y="1625406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1B1B1F"/>
                </a:solidFill>
                <a:latin typeface="Bricolage Grotesque"/>
              </a:rPr>
              <a:t>72.8%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57" y="2337876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7A00"/>
                </a:solidFill>
                <a:latin typeface="Recursive Mono"/>
              </a:rPr>
              <a:t>▼ -1.1 pts QoQ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157" y="3134808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6A73"/>
                </a:solidFill>
                <a:latin typeface="Plus Jakarta Sans"/>
              </a:rPr>
              <a:t>Non-GAAP, ex. one-time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822" y="1051560"/>
            <a:ext cx="3513231" cy="2523744"/>
          </a:xfrm>
          <a:prstGeom prst="roundRect">
            <a:avLst>
              <a:gd name="adj" fmla="val 4528"/>
            </a:avLst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748" y="1278696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E6A73"/>
                </a:solidFill>
                <a:latin typeface="Plus Jakarta Sans"/>
              </a:rPr>
              <a:t>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748" y="1625406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1B1B1F"/>
                </a:solidFill>
                <a:latin typeface="Bricolage Grotesque"/>
              </a:rPr>
              <a:t>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748" y="2337876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AB39C"/>
                </a:solidFill>
                <a:latin typeface="Recursive Mono"/>
              </a:rPr>
              <a:t>▲ +6 vs 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8" y="3134808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6A73"/>
                </a:solidFill>
                <a:latin typeface="Plus Jakarta Sans"/>
              </a:rPr>
              <a:t>n=1,842, mixed segment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85616"/>
            <a:ext cx="3513231" cy="2523744"/>
          </a:xfrm>
          <a:prstGeom prst="roundRect">
            <a:avLst>
              <a:gd name="adj" fmla="val 4528"/>
            </a:avLst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66" y="4012752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E6A73"/>
                </a:solidFill>
                <a:latin typeface="Plus Jakarta Sans"/>
              </a:rPr>
              <a:t>BURN MULTIPLE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66" y="4359462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1B1B1F"/>
                </a:solidFill>
                <a:latin typeface="Bricolage Grotesque"/>
              </a:rPr>
              <a:t>1.2x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566" y="5071932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7A00"/>
                </a:solidFill>
                <a:latin typeface="Recursive Mono"/>
              </a:rPr>
              <a:t>▼ -0.3x QoQ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566" y="5868864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6A73"/>
                </a:solidFill>
                <a:latin typeface="Plus Jakarta Sans"/>
              </a:rPr>
              <a:t>Net burn / net new ARR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9231" y="3785616"/>
            <a:ext cx="3513231" cy="2523744"/>
          </a:xfrm>
          <a:prstGeom prst="roundRect">
            <a:avLst>
              <a:gd name="adj" fmla="val 4528"/>
            </a:avLst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5157" y="4012752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E6A73"/>
                </a:solidFill>
                <a:latin typeface="Plus Jakarta Sans"/>
              </a:rPr>
              <a:t>HEADCOUNT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157" y="4359462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1B1B1F"/>
                </a:solidFill>
                <a:latin typeface="Bricolage Grotesque"/>
              </a:rPr>
              <a:t>284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5157" y="5071932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AB39C"/>
                </a:solidFill>
                <a:latin typeface="Recursive Mono"/>
              </a:rPr>
              <a:t>▲ +18 hires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5157" y="5868864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6A73"/>
                </a:solidFill>
                <a:latin typeface="Plus Jakarta Sans"/>
              </a:rPr>
              <a:t>Eng: 142, GTM: 89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9822" y="3785616"/>
            <a:ext cx="3513231" cy="2523744"/>
          </a:xfrm>
          <a:prstGeom prst="roundRect">
            <a:avLst>
              <a:gd name="adj" fmla="val 4528"/>
            </a:avLst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748" y="4012752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E6A73"/>
                </a:solidFill>
                <a:latin typeface="Plus Jakarta Sans"/>
              </a:rPr>
              <a:t>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748" y="4359462"/>
            <a:ext cx="3021379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1B1B1F"/>
                </a:solidFill>
                <a:latin typeface="Bricolage Grotesque"/>
              </a:rPr>
              <a:t>$12.8M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748" y="5071932"/>
            <a:ext cx="30213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AB39C"/>
                </a:solidFill>
                <a:latin typeface="Recursive Mono"/>
              </a:rPr>
              <a:t>▲ +34% QoQ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748" y="5868864"/>
            <a:ext cx="302137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6A73"/>
                </a:solidFill>
                <a:latin typeface="Plus Jakarta Sans"/>
              </a:rPr>
              <a:t>Stage 2+ weighted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