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5226" y="665226"/>
            <a:ext cx="10861243" cy="502920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2200" b="1">
                <a:solidFill>
                  <a:srgbClr val="101828"/>
                </a:solidFill>
                <a:latin typeface="Public Sans"/>
              </a:rPr>
              <a:t>Competitive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5226" y="1168146"/>
            <a:ext cx="10861243" cy="223520"/>
          </a:xfrm>
          <a:prstGeom prst="rect">
            <a:avLst/>
          </a:prstGeom>
          <a:noFill/>
        </p:spPr>
        <p:txBody>
          <a:bodyPr wrap="square" lIns="38100" rIns="38100" tIns="12700" bIns="12700" anchor="t">
            <a:spAutoFit/>
          </a:bodyPr>
          <a:lstStyle/>
          <a:p>
            <a:pPr algn="l"/>
            <a:r>
              <a:rPr sz="1100" b="0">
                <a:solidFill>
                  <a:srgbClr val="101828"/>
                </a:solidFill>
                <a:latin typeface="Public Sans"/>
              </a:rPr>
              <a:t>Enterprise SaaS market Q4 2024</a:t>
            </a:r>
          </a:p>
        </p:txBody>
      </p:sp>
      <p:sp>
        <p:nvSpPr>
          <p:cNvPr id="5" name="Rectangle 4"/>
          <p:cNvSpPr/>
          <p:nvPr/>
        </p:nvSpPr>
        <p:spPr>
          <a:xfrm>
            <a:off x="665226" y="1454073"/>
            <a:ext cx="2601010" cy="335280"/>
          </a:xfrm>
          <a:prstGeom prst="rect">
            <a:avLst/>
          </a:prstGeom>
          <a:solidFill>
            <a:srgbClr val="0F4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5226" y="1454073"/>
            <a:ext cx="2601010" cy="335280"/>
          </a:xfrm>
          <a:prstGeom prst="rect">
            <a:avLst/>
          </a:prstGeom>
          <a:noFill/>
        </p:spPr>
        <p:txBody>
          <a:bodyPr wrap="square" lIns="38100" rIns="38100" tIns="12700" bIns="127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Public Sans"/>
              </a:rPr>
              <a:t>CRM</a:t>
            </a:r>
          </a:p>
        </p:txBody>
      </p:sp>
      <p:sp>
        <p:nvSpPr>
          <p:cNvPr id="7" name="Rectangle 6"/>
          <p:cNvSpPr/>
          <p:nvPr/>
        </p:nvSpPr>
        <p:spPr>
          <a:xfrm>
            <a:off x="665226" y="1789353"/>
            <a:ext cx="2601010" cy="4403421"/>
          </a:xfrm>
          <a:prstGeom prst="rect">
            <a:avLst/>
          </a:prstGeom>
          <a:solidFill>
            <a:srgbClr val="E2E9EF"/>
          </a:solidFill>
          <a:ln w="6350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16026" y="1840153"/>
            <a:ext cx="249941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6026" y="1840153"/>
            <a:ext cx="2499410" cy="304800"/>
          </a:xfrm>
          <a:prstGeom prst="rect">
            <a:avLst/>
          </a:prstGeom>
          <a:noFill/>
        </p:spPr>
        <p:txBody>
          <a:bodyPr wrap="square" lIns="38100" rIns="38100" tIns="12700" bIns="12700" anchor="ctr">
            <a:spAutoFit/>
          </a:bodyPr>
          <a:lstStyle/>
          <a:p>
            <a:pPr algn="ctr"/>
            <a:r>
              <a:rPr sz="1000" b="0">
                <a:solidFill>
                  <a:srgbClr val="101828"/>
                </a:solidFill>
                <a:latin typeface="Public Sans"/>
              </a:rPr>
              <a:t>Salesforce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6026" y="2183053"/>
            <a:ext cx="249941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6026" y="2183053"/>
            <a:ext cx="2499410" cy="304800"/>
          </a:xfrm>
          <a:prstGeom prst="rect">
            <a:avLst/>
          </a:prstGeom>
          <a:noFill/>
        </p:spPr>
        <p:txBody>
          <a:bodyPr wrap="square" lIns="38100" rIns="38100" tIns="12700" bIns="12700" anchor="ctr">
            <a:spAutoFit/>
          </a:bodyPr>
          <a:lstStyle/>
          <a:p>
            <a:pPr algn="ctr"/>
            <a:r>
              <a:rPr sz="1000" b="0">
                <a:solidFill>
                  <a:srgbClr val="101828"/>
                </a:solidFill>
                <a:latin typeface="Public Sans"/>
              </a:rPr>
              <a:t>HubSpot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6026" y="2525953"/>
            <a:ext cx="249941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6026" y="2525953"/>
            <a:ext cx="2499410" cy="304800"/>
          </a:xfrm>
          <a:prstGeom prst="rect">
            <a:avLst/>
          </a:prstGeom>
          <a:noFill/>
        </p:spPr>
        <p:txBody>
          <a:bodyPr wrap="square" lIns="38100" rIns="38100" tIns="12700" bIns="12700" anchor="ctr">
            <a:spAutoFit/>
          </a:bodyPr>
          <a:lstStyle/>
          <a:p>
            <a:pPr algn="ctr"/>
            <a:r>
              <a:rPr sz="1000" b="0">
                <a:solidFill>
                  <a:srgbClr val="101828"/>
                </a:solidFill>
                <a:latin typeface="Public Sans"/>
              </a:rPr>
              <a:t>Zoho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6026" y="2868853"/>
            <a:ext cx="249941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6026" y="2868853"/>
            <a:ext cx="2499410" cy="304800"/>
          </a:xfrm>
          <a:prstGeom prst="rect">
            <a:avLst/>
          </a:prstGeom>
          <a:noFill/>
        </p:spPr>
        <p:txBody>
          <a:bodyPr wrap="square" lIns="38100" rIns="38100" tIns="12700" bIns="12700" anchor="ctr">
            <a:spAutoFit/>
          </a:bodyPr>
          <a:lstStyle/>
          <a:p>
            <a:pPr algn="ctr"/>
            <a:r>
              <a:rPr sz="1000" b="0">
                <a:solidFill>
                  <a:srgbClr val="101828"/>
                </a:solidFill>
                <a:latin typeface="Public Sans"/>
              </a:rPr>
              <a:t>Pipedrive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18636" y="1454073"/>
            <a:ext cx="2601010" cy="335280"/>
          </a:xfrm>
          <a:prstGeom prst="rect">
            <a:avLst/>
          </a:prstGeom>
          <a:solidFill>
            <a:srgbClr val="05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18636" y="1454073"/>
            <a:ext cx="2601010" cy="335280"/>
          </a:xfrm>
          <a:prstGeom prst="rect">
            <a:avLst/>
          </a:prstGeom>
          <a:noFill/>
        </p:spPr>
        <p:txBody>
          <a:bodyPr wrap="square" lIns="38100" rIns="38100" tIns="12700" bIns="127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Public Sans"/>
              </a:rPr>
              <a:t>Analytics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18636" y="1789353"/>
            <a:ext cx="2601010" cy="4403421"/>
          </a:xfrm>
          <a:prstGeom prst="rect">
            <a:avLst/>
          </a:prstGeom>
          <a:solidFill>
            <a:srgbClr val="E1EBE7"/>
          </a:solidFill>
          <a:ln w="6350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69436" y="1840153"/>
            <a:ext cx="249941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69436" y="1840153"/>
            <a:ext cx="2499410" cy="304800"/>
          </a:xfrm>
          <a:prstGeom prst="rect">
            <a:avLst/>
          </a:prstGeom>
          <a:noFill/>
        </p:spPr>
        <p:txBody>
          <a:bodyPr wrap="square" lIns="38100" rIns="38100" tIns="12700" bIns="12700" anchor="ctr">
            <a:spAutoFit/>
          </a:bodyPr>
          <a:lstStyle/>
          <a:p>
            <a:pPr algn="ctr"/>
            <a:r>
              <a:rPr sz="1000" b="0">
                <a:solidFill>
                  <a:srgbClr val="101828"/>
                </a:solidFill>
                <a:latin typeface="Public Sans"/>
              </a:rPr>
              <a:t>Tableau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69436" y="2183053"/>
            <a:ext cx="249941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69436" y="2183053"/>
            <a:ext cx="2499410" cy="304800"/>
          </a:xfrm>
          <a:prstGeom prst="rect">
            <a:avLst/>
          </a:prstGeom>
          <a:noFill/>
        </p:spPr>
        <p:txBody>
          <a:bodyPr wrap="square" lIns="38100" rIns="38100" tIns="12700" bIns="12700" anchor="ctr">
            <a:spAutoFit/>
          </a:bodyPr>
          <a:lstStyle/>
          <a:p>
            <a:pPr algn="ctr"/>
            <a:r>
              <a:rPr sz="1000" b="0">
                <a:solidFill>
                  <a:srgbClr val="101828"/>
                </a:solidFill>
                <a:latin typeface="Public Sans"/>
              </a:rPr>
              <a:t>Looker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69436" y="2525953"/>
            <a:ext cx="249941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69436" y="2525953"/>
            <a:ext cx="2499410" cy="304800"/>
          </a:xfrm>
          <a:prstGeom prst="rect">
            <a:avLst/>
          </a:prstGeom>
          <a:noFill/>
        </p:spPr>
        <p:txBody>
          <a:bodyPr wrap="square" lIns="38100" rIns="38100" tIns="12700" bIns="12700" anchor="ctr">
            <a:spAutoFit/>
          </a:bodyPr>
          <a:lstStyle/>
          <a:p>
            <a:pPr algn="ctr"/>
            <a:r>
              <a:rPr sz="1000" b="0">
                <a:solidFill>
                  <a:srgbClr val="101828"/>
                </a:solidFill>
                <a:latin typeface="Public Sans"/>
              </a:rPr>
              <a:t>Power BI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69436" y="2868853"/>
            <a:ext cx="249941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69436" y="2868853"/>
            <a:ext cx="2499410" cy="304800"/>
          </a:xfrm>
          <a:prstGeom prst="rect">
            <a:avLst/>
          </a:prstGeom>
          <a:noFill/>
        </p:spPr>
        <p:txBody>
          <a:bodyPr wrap="square" lIns="38100" rIns="38100" tIns="12700" bIns="12700" anchor="ctr">
            <a:spAutoFit/>
          </a:bodyPr>
          <a:lstStyle/>
          <a:p>
            <a:pPr algn="ctr"/>
            <a:r>
              <a:rPr sz="1000" b="0">
                <a:solidFill>
                  <a:srgbClr val="101828"/>
                </a:solidFill>
                <a:latin typeface="Public Sans"/>
              </a:rPr>
              <a:t>Metabase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72047" y="1454073"/>
            <a:ext cx="2601010" cy="335280"/>
          </a:xfrm>
          <a:prstGeom prst="rect">
            <a:avLst/>
          </a:prstGeom>
          <a:solidFill>
            <a:srgbClr val="0F4C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72047" y="1454073"/>
            <a:ext cx="2601010" cy="335280"/>
          </a:xfrm>
          <a:prstGeom prst="rect">
            <a:avLst/>
          </a:prstGeom>
          <a:noFill/>
        </p:spPr>
        <p:txBody>
          <a:bodyPr wrap="square" lIns="38100" rIns="38100" tIns="12700" bIns="127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Public Sans"/>
              </a:rPr>
              <a:t>DevOps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047" y="1789353"/>
            <a:ext cx="2601010" cy="4403421"/>
          </a:xfrm>
          <a:prstGeom prst="rect">
            <a:avLst/>
          </a:prstGeom>
          <a:solidFill>
            <a:srgbClr val="E2E9EF"/>
          </a:solidFill>
          <a:ln w="6350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22847" y="1840153"/>
            <a:ext cx="249941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22847" y="1840153"/>
            <a:ext cx="2499410" cy="304800"/>
          </a:xfrm>
          <a:prstGeom prst="rect">
            <a:avLst/>
          </a:prstGeom>
          <a:noFill/>
        </p:spPr>
        <p:txBody>
          <a:bodyPr wrap="square" lIns="38100" rIns="38100" tIns="12700" bIns="12700" anchor="ctr">
            <a:spAutoFit/>
          </a:bodyPr>
          <a:lstStyle/>
          <a:p>
            <a:pPr algn="ctr"/>
            <a:r>
              <a:rPr sz="1000" b="0">
                <a:solidFill>
                  <a:srgbClr val="101828"/>
                </a:solidFill>
                <a:latin typeface="Public Sans"/>
              </a:rPr>
              <a:t>GitHub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22847" y="2183053"/>
            <a:ext cx="249941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22847" y="2183053"/>
            <a:ext cx="2499410" cy="304800"/>
          </a:xfrm>
          <a:prstGeom prst="rect">
            <a:avLst/>
          </a:prstGeom>
          <a:noFill/>
        </p:spPr>
        <p:txBody>
          <a:bodyPr wrap="square" lIns="38100" rIns="38100" tIns="12700" bIns="12700" anchor="ctr">
            <a:spAutoFit/>
          </a:bodyPr>
          <a:lstStyle/>
          <a:p>
            <a:pPr algn="ctr"/>
            <a:r>
              <a:rPr sz="1000" b="0">
                <a:solidFill>
                  <a:srgbClr val="101828"/>
                </a:solidFill>
                <a:latin typeface="Public Sans"/>
              </a:rPr>
              <a:t>GitLab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22847" y="2525953"/>
            <a:ext cx="249941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22847" y="2525953"/>
            <a:ext cx="2499410" cy="304800"/>
          </a:xfrm>
          <a:prstGeom prst="rect">
            <a:avLst/>
          </a:prstGeom>
          <a:noFill/>
        </p:spPr>
        <p:txBody>
          <a:bodyPr wrap="square" lIns="38100" rIns="38100" tIns="12700" bIns="12700" anchor="ctr">
            <a:spAutoFit/>
          </a:bodyPr>
          <a:lstStyle/>
          <a:p>
            <a:pPr algn="ctr"/>
            <a:r>
              <a:rPr sz="1000" b="0">
                <a:solidFill>
                  <a:srgbClr val="101828"/>
                </a:solidFill>
                <a:latin typeface="Public Sans"/>
              </a:rPr>
              <a:t>Jira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22847" y="2868853"/>
            <a:ext cx="249941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22847" y="2868853"/>
            <a:ext cx="2499410" cy="304800"/>
          </a:xfrm>
          <a:prstGeom prst="rect">
            <a:avLst/>
          </a:prstGeom>
          <a:noFill/>
        </p:spPr>
        <p:txBody>
          <a:bodyPr wrap="square" lIns="38100" rIns="38100" tIns="12700" bIns="12700" anchor="ctr">
            <a:spAutoFit/>
          </a:bodyPr>
          <a:lstStyle/>
          <a:p>
            <a:pPr algn="ctr"/>
            <a:r>
              <a:rPr sz="1000" b="0">
                <a:solidFill>
                  <a:srgbClr val="101828"/>
                </a:solidFill>
                <a:latin typeface="Public Sans"/>
              </a:rPr>
              <a:t>Linear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925458" y="1454073"/>
            <a:ext cx="2601010" cy="335280"/>
          </a:xfrm>
          <a:prstGeom prst="rect">
            <a:avLst/>
          </a:prstGeom>
          <a:solidFill>
            <a:srgbClr val="056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925458" y="1454073"/>
            <a:ext cx="2601010" cy="335280"/>
          </a:xfrm>
          <a:prstGeom prst="rect">
            <a:avLst/>
          </a:prstGeom>
          <a:noFill/>
        </p:spPr>
        <p:txBody>
          <a:bodyPr wrap="square" lIns="38100" rIns="38100" tIns="12700" bIns="1270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Public Sans"/>
              </a:rPr>
              <a:t>Communication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925458" y="1789353"/>
            <a:ext cx="2601010" cy="4403421"/>
          </a:xfrm>
          <a:prstGeom prst="rect">
            <a:avLst/>
          </a:prstGeom>
          <a:solidFill>
            <a:srgbClr val="E1EBE7"/>
          </a:solidFill>
          <a:ln w="6350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976258" y="1840153"/>
            <a:ext cx="249941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976258" y="1840153"/>
            <a:ext cx="2499410" cy="304800"/>
          </a:xfrm>
          <a:prstGeom prst="rect">
            <a:avLst/>
          </a:prstGeom>
          <a:noFill/>
        </p:spPr>
        <p:txBody>
          <a:bodyPr wrap="square" lIns="38100" rIns="38100" tIns="12700" bIns="12700" anchor="ctr">
            <a:spAutoFit/>
          </a:bodyPr>
          <a:lstStyle/>
          <a:p>
            <a:pPr algn="ctr"/>
            <a:r>
              <a:rPr sz="1000" b="0">
                <a:solidFill>
                  <a:srgbClr val="101828"/>
                </a:solidFill>
                <a:latin typeface="Public Sans"/>
              </a:rPr>
              <a:t>Slack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976258" y="2183053"/>
            <a:ext cx="249941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976258" y="2183053"/>
            <a:ext cx="2499410" cy="304800"/>
          </a:xfrm>
          <a:prstGeom prst="rect">
            <a:avLst/>
          </a:prstGeom>
          <a:noFill/>
        </p:spPr>
        <p:txBody>
          <a:bodyPr wrap="square" lIns="38100" rIns="38100" tIns="12700" bIns="12700" anchor="ctr">
            <a:spAutoFit/>
          </a:bodyPr>
          <a:lstStyle/>
          <a:p>
            <a:pPr algn="ctr"/>
            <a:r>
              <a:rPr sz="1000" b="0">
                <a:solidFill>
                  <a:srgbClr val="101828"/>
                </a:solidFill>
                <a:latin typeface="Public Sans"/>
              </a:rPr>
              <a:t>Teams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976258" y="2525953"/>
            <a:ext cx="249941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76258" y="2525953"/>
            <a:ext cx="2499410" cy="304800"/>
          </a:xfrm>
          <a:prstGeom prst="rect">
            <a:avLst/>
          </a:prstGeom>
          <a:noFill/>
        </p:spPr>
        <p:txBody>
          <a:bodyPr wrap="square" lIns="38100" rIns="38100" tIns="12700" bIns="12700" anchor="ctr">
            <a:spAutoFit/>
          </a:bodyPr>
          <a:lstStyle/>
          <a:p>
            <a:pPr algn="ctr"/>
            <a:r>
              <a:rPr sz="1000" b="0">
                <a:solidFill>
                  <a:srgbClr val="101828"/>
                </a:solidFill>
                <a:latin typeface="Public Sans"/>
              </a:rPr>
              <a:t>Discord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976258" y="2868853"/>
            <a:ext cx="2499410" cy="304800"/>
          </a:xfrm>
          <a:prstGeom prst="rect">
            <a:avLst/>
          </a:prstGeom>
          <a:solidFill>
            <a:srgbClr val="FFFFFF"/>
          </a:solidFill>
          <a:ln w="9525">
            <a:solidFill>
              <a:srgbClr val="47546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976258" y="2868853"/>
            <a:ext cx="2499410" cy="304800"/>
          </a:xfrm>
          <a:prstGeom prst="rect">
            <a:avLst/>
          </a:prstGeom>
          <a:noFill/>
        </p:spPr>
        <p:txBody>
          <a:bodyPr wrap="square" lIns="38100" rIns="38100" tIns="12700" bIns="12700" anchor="ctr">
            <a:spAutoFit/>
          </a:bodyPr>
          <a:lstStyle/>
          <a:p>
            <a:pPr algn="ctr"/>
            <a:r>
              <a:rPr sz="1000" b="0">
                <a:solidFill>
                  <a:srgbClr val="101828"/>
                </a:solidFill>
                <a:latin typeface="Public Sans"/>
              </a:rPr>
              <a:t>Zoom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