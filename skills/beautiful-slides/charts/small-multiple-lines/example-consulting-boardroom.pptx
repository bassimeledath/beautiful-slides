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9554" y="549554"/>
            <a:ext cx="11092587" cy="4102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101828"/>
                </a:solidFill>
                <a:latin typeface="Public Sans"/>
              </a:rPr>
              <a:t>Monthly Active Users by Region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9554" y="986434"/>
            <a:ext cx="11092587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01828"/>
                </a:solidFill>
                <a:latin typeface="Public Sans"/>
              </a:rPr>
              <a:t>MAU (thousands)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9554" y="1231544"/>
            <a:ext cx="3475677" cy="1816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01828"/>
                </a:solidFill>
                <a:latin typeface="Public Sans"/>
              </a:rPr>
              <a:t>North America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175175" y="3474147"/>
            <a:ext cx="2745786" cy="0"/>
          </a:xfrm>
          <a:prstGeom prst="line">
            <a:avLst/>
          </a:prstGeom>
          <a:ln w="5080">
            <a:solidFill>
              <a:srgbClr val="4754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75175" y="1413154"/>
            <a:ext cx="2745786" cy="0"/>
          </a:xfrm>
          <a:prstGeom prst="line">
            <a:avLst/>
          </a:prstGeom>
          <a:ln w="5080">
            <a:solidFill>
              <a:srgbClr val="4754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9554" y="3399852"/>
            <a:ext cx="602761" cy="1485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101828"/>
                </a:solidFill>
                <a:latin typeface="Public Sans"/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9554" y="1338859"/>
            <a:ext cx="602761" cy="1485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101828"/>
                </a:solidFill>
                <a:latin typeface="Public Sans"/>
              </a:rPr>
              <a:t>150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1175175" y="1756652"/>
            <a:ext cx="549157" cy="68700"/>
          </a:xfrm>
          <a:prstGeom prst="line">
            <a:avLst/>
          </a:prstGeom>
          <a:ln w="22225">
            <a:solidFill>
              <a:srgbClr val="0F4C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724332" y="1687953"/>
            <a:ext cx="549157" cy="68699"/>
          </a:xfrm>
          <a:prstGeom prst="line">
            <a:avLst/>
          </a:prstGeom>
          <a:ln w="22225">
            <a:solidFill>
              <a:srgbClr val="0F4C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273489" y="1687953"/>
            <a:ext cx="549157" cy="27479"/>
          </a:xfrm>
          <a:prstGeom prst="line">
            <a:avLst/>
          </a:prstGeom>
          <a:ln w="22225">
            <a:solidFill>
              <a:srgbClr val="0F4C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2822646" y="1619253"/>
            <a:ext cx="549157" cy="96179"/>
          </a:xfrm>
          <a:prstGeom prst="line">
            <a:avLst/>
          </a:prstGeom>
          <a:ln w="22225">
            <a:solidFill>
              <a:srgbClr val="0F4C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3371803" y="1523073"/>
            <a:ext cx="549158" cy="96180"/>
          </a:xfrm>
          <a:prstGeom prst="line">
            <a:avLst/>
          </a:prstGeom>
          <a:ln w="22225">
            <a:solidFill>
              <a:srgbClr val="0F4C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3889211" y="1491323"/>
            <a:ext cx="63500" cy="63500"/>
          </a:xfrm>
          <a:prstGeom prst="ellipse">
            <a:avLst/>
          </a:prstGeom>
          <a:solidFill>
            <a:srgbClr val="05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75175" y="3491292"/>
            <a:ext cx="1098314" cy="1600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01828"/>
                </a:solidFill>
                <a:latin typeface="Public Sans"/>
              </a:rPr>
              <a:t>Jan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22647" y="3491292"/>
            <a:ext cx="1098314" cy="1600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101828"/>
                </a:solidFill>
                <a:latin typeface="Public Sans"/>
              </a:rPr>
              <a:t>Jun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58008" y="1231544"/>
            <a:ext cx="3475677" cy="1816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01828"/>
                </a:solidFill>
                <a:latin typeface="Public Sans"/>
              </a:rPr>
              <a:t>Europe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983629" y="3474147"/>
            <a:ext cx="2745786" cy="0"/>
          </a:xfrm>
          <a:prstGeom prst="line">
            <a:avLst/>
          </a:prstGeom>
          <a:ln w="5080">
            <a:solidFill>
              <a:srgbClr val="4754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983629" y="1413154"/>
            <a:ext cx="2745786" cy="0"/>
          </a:xfrm>
          <a:prstGeom prst="line">
            <a:avLst/>
          </a:prstGeom>
          <a:ln w="5080">
            <a:solidFill>
              <a:srgbClr val="4754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358008" y="3399852"/>
            <a:ext cx="602761" cy="1485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101828"/>
                </a:solidFill>
                <a:latin typeface="Public Sans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58008" y="1338859"/>
            <a:ext cx="602761" cy="1485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101828"/>
                </a:solidFill>
                <a:latin typeface="Public Sans"/>
              </a:rPr>
              <a:t>150</a:t>
            </a:r>
          </a:p>
        </p:txBody>
      </p:sp>
      <p:cxnSp>
        <p:nvCxnSpPr>
          <p:cNvPr id="23" name="Connector 22"/>
          <p:cNvCxnSpPr/>
          <p:nvPr/>
        </p:nvCxnSpPr>
        <p:spPr>
          <a:xfrm flipV="1">
            <a:off x="4983629" y="2347470"/>
            <a:ext cx="549157" cy="27480"/>
          </a:xfrm>
          <a:prstGeom prst="line">
            <a:avLst/>
          </a:prstGeom>
          <a:ln w="22225">
            <a:solidFill>
              <a:srgbClr val="0F4C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5532786" y="2306250"/>
            <a:ext cx="549157" cy="41220"/>
          </a:xfrm>
          <a:prstGeom prst="line">
            <a:avLst/>
          </a:prstGeom>
          <a:ln w="22225">
            <a:solidFill>
              <a:srgbClr val="0F4C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6081943" y="2265031"/>
            <a:ext cx="549157" cy="41219"/>
          </a:xfrm>
          <a:prstGeom prst="line">
            <a:avLst/>
          </a:prstGeom>
          <a:ln w="22225">
            <a:solidFill>
              <a:srgbClr val="0F4C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6631100" y="2237551"/>
            <a:ext cx="549157" cy="27480"/>
          </a:xfrm>
          <a:prstGeom prst="line">
            <a:avLst/>
          </a:prstGeom>
          <a:ln w="22225">
            <a:solidFill>
              <a:srgbClr val="0F4C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7180257" y="2182591"/>
            <a:ext cx="549158" cy="54960"/>
          </a:xfrm>
          <a:prstGeom prst="line">
            <a:avLst/>
          </a:prstGeom>
          <a:ln w="22225">
            <a:solidFill>
              <a:srgbClr val="0F4C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7697665" y="2150841"/>
            <a:ext cx="63500" cy="63500"/>
          </a:xfrm>
          <a:prstGeom prst="ellipse">
            <a:avLst/>
          </a:prstGeom>
          <a:solidFill>
            <a:srgbClr val="05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83629" y="3491292"/>
            <a:ext cx="1098314" cy="1600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01828"/>
                </a:solidFill>
                <a:latin typeface="Public Sans"/>
              </a:rPr>
              <a:t>Jan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31101" y="3491292"/>
            <a:ext cx="1098314" cy="1600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101828"/>
                </a:solidFill>
                <a:latin typeface="Public Sans"/>
              </a:rPr>
              <a:t>Jun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66462" y="1231544"/>
            <a:ext cx="3475677" cy="1816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01828"/>
                </a:solidFill>
                <a:latin typeface="Public Sans"/>
              </a:rPr>
              <a:t>APAC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792083" y="3474147"/>
            <a:ext cx="2745786" cy="0"/>
          </a:xfrm>
          <a:prstGeom prst="line">
            <a:avLst/>
          </a:prstGeom>
          <a:ln w="5080">
            <a:solidFill>
              <a:srgbClr val="4754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792083" y="1413154"/>
            <a:ext cx="2745786" cy="0"/>
          </a:xfrm>
          <a:prstGeom prst="line">
            <a:avLst/>
          </a:prstGeom>
          <a:ln w="5080">
            <a:solidFill>
              <a:srgbClr val="4754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8166462" y="3399852"/>
            <a:ext cx="602761" cy="1485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101828"/>
                </a:solidFill>
                <a:latin typeface="Public Sans"/>
              </a:rPr>
              <a:t>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66462" y="1338859"/>
            <a:ext cx="602761" cy="1485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101828"/>
                </a:solidFill>
                <a:latin typeface="Public Sans"/>
              </a:rPr>
              <a:t>150</a:t>
            </a:r>
          </a:p>
        </p:txBody>
      </p:sp>
      <p:cxnSp>
        <p:nvCxnSpPr>
          <p:cNvPr id="36" name="Connector 35"/>
          <p:cNvCxnSpPr/>
          <p:nvPr/>
        </p:nvCxnSpPr>
        <p:spPr>
          <a:xfrm flipV="1">
            <a:off x="8792083" y="2787149"/>
            <a:ext cx="549157" cy="68700"/>
          </a:xfrm>
          <a:prstGeom prst="line">
            <a:avLst/>
          </a:prstGeom>
          <a:ln w="22225">
            <a:solidFill>
              <a:srgbClr val="0F4C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9341240" y="2718449"/>
            <a:ext cx="549157" cy="68700"/>
          </a:xfrm>
          <a:prstGeom prst="line">
            <a:avLst/>
          </a:prstGeom>
          <a:ln w="22225">
            <a:solidFill>
              <a:srgbClr val="0F4C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9890397" y="2622269"/>
            <a:ext cx="549157" cy="96180"/>
          </a:xfrm>
          <a:prstGeom prst="line">
            <a:avLst/>
          </a:prstGeom>
          <a:ln w="22225">
            <a:solidFill>
              <a:srgbClr val="0F4C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10439554" y="2512350"/>
            <a:ext cx="549157" cy="109919"/>
          </a:xfrm>
          <a:prstGeom prst="line">
            <a:avLst/>
          </a:prstGeom>
          <a:ln w="22225">
            <a:solidFill>
              <a:srgbClr val="0F4C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10988711" y="2402430"/>
            <a:ext cx="549158" cy="109920"/>
          </a:xfrm>
          <a:prstGeom prst="line">
            <a:avLst/>
          </a:prstGeom>
          <a:ln w="22225">
            <a:solidFill>
              <a:srgbClr val="0F4C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Oval 40"/>
          <p:cNvSpPr/>
          <p:nvPr/>
        </p:nvSpPr>
        <p:spPr>
          <a:xfrm>
            <a:off x="11506119" y="2370680"/>
            <a:ext cx="63500" cy="63500"/>
          </a:xfrm>
          <a:prstGeom prst="ellipse">
            <a:avLst/>
          </a:prstGeom>
          <a:solidFill>
            <a:srgbClr val="05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792083" y="3491292"/>
            <a:ext cx="1098314" cy="1600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01828"/>
                </a:solidFill>
                <a:latin typeface="Public Sans"/>
              </a:rPr>
              <a:t>Jan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439555" y="3491292"/>
            <a:ext cx="1098314" cy="1600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101828"/>
                </a:solidFill>
                <a:latin typeface="Public Sans"/>
              </a:rPr>
              <a:t>Jun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9554" y="3871533"/>
            <a:ext cx="3475677" cy="1816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01828"/>
                </a:solidFill>
                <a:latin typeface="Public Sans"/>
              </a:rPr>
              <a:t>LATAM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1175175" y="6114136"/>
            <a:ext cx="2745786" cy="0"/>
          </a:xfrm>
          <a:prstGeom prst="line">
            <a:avLst/>
          </a:prstGeom>
          <a:ln w="5080">
            <a:solidFill>
              <a:srgbClr val="4754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175175" y="4053143"/>
            <a:ext cx="2745786" cy="0"/>
          </a:xfrm>
          <a:prstGeom prst="line">
            <a:avLst/>
          </a:prstGeom>
          <a:ln w="5080">
            <a:solidFill>
              <a:srgbClr val="4754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549554" y="6039841"/>
            <a:ext cx="602761" cy="1485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101828"/>
                </a:solidFill>
                <a:latin typeface="Public Sans"/>
              </a:rPr>
              <a:t>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9554" y="3978848"/>
            <a:ext cx="602761" cy="1485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101828"/>
                </a:solidFill>
                <a:latin typeface="Public Sans"/>
              </a:rPr>
              <a:t>150</a:t>
            </a:r>
          </a:p>
        </p:txBody>
      </p:sp>
      <p:cxnSp>
        <p:nvCxnSpPr>
          <p:cNvPr id="49" name="Connector 48"/>
          <p:cNvCxnSpPr/>
          <p:nvPr/>
        </p:nvCxnSpPr>
        <p:spPr>
          <a:xfrm flipV="1">
            <a:off x="1175175" y="5674457"/>
            <a:ext cx="549157" cy="27480"/>
          </a:xfrm>
          <a:prstGeom prst="line">
            <a:avLst/>
          </a:prstGeom>
          <a:ln w="22225">
            <a:solidFill>
              <a:srgbClr val="0F4C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724332" y="5674457"/>
            <a:ext cx="549157" cy="13740"/>
          </a:xfrm>
          <a:prstGeom prst="line">
            <a:avLst/>
          </a:prstGeom>
          <a:ln w="22225">
            <a:solidFill>
              <a:srgbClr val="0F4C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2273489" y="5633237"/>
            <a:ext cx="549157" cy="54960"/>
          </a:xfrm>
          <a:prstGeom prst="line">
            <a:avLst/>
          </a:prstGeom>
          <a:ln w="22225">
            <a:solidFill>
              <a:srgbClr val="0F4C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2822646" y="5592017"/>
            <a:ext cx="549157" cy="41220"/>
          </a:xfrm>
          <a:prstGeom prst="line">
            <a:avLst/>
          </a:prstGeom>
          <a:ln w="22225">
            <a:solidFill>
              <a:srgbClr val="0F4C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3371803" y="5564537"/>
            <a:ext cx="549158" cy="27480"/>
          </a:xfrm>
          <a:prstGeom prst="line">
            <a:avLst/>
          </a:prstGeom>
          <a:ln w="22225">
            <a:solidFill>
              <a:srgbClr val="0F4C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Oval 53"/>
          <p:cNvSpPr/>
          <p:nvPr/>
        </p:nvSpPr>
        <p:spPr>
          <a:xfrm>
            <a:off x="3889211" y="5532787"/>
            <a:ext cx="63500" cy="63500"/>
          </a:xfrm>
          <a:prstGeom prst="ellipse">
            <a:avLst/>
          </a:prstGeom>
          <a:solidFill>
            <a:srgbClr val="05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175175" y="6131281"/>
            <a:ext cx="1098314" cy="1600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01828"/>
                </a:solidFill>
                <a:latin typeface="Public Sans"/>
              </a:rPr>
              <a:t>Jan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822647" y="6131281"/>
            <a:ext cx="1098314" cy="1600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101828"/>
                </a:solidFill>
                <a:latin typeface="Public Sans"/>
              </a:rPr>
              <a:t>Jun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358008" y="3871533"/>
            <a:ext cx="3475677" cy="1816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01828"/>
                </a:solidFill>
                <a:latin typeface="Public Sans"/>
              </a:rPr>
              <a:t>MEA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4983629" y="6114136"/>
            <a:ext cx="2745786" cy="0"/>
          </a:xfrm>
          <a:prstGeom prst="line">
            <a:avLst/>
          </a:prstGeom>
          <a:ln w="5080">
            <a:solidFill>
              <a:srgbClr val="4754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4983629" y="4053143"/>
            <a:ext cx="2745786" cy="0"/>
          </a:xfrm>
          <a:prstGeom prst="line">
            <a:avLst/>
          </a:prstGeom>
          <a:ln w="5080">
            <a:solidFill>
              <a:srgbClr val="4754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4358008" y="6039841"/>
            <a:ext cx="602761" cy="1485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101828"/>
                </a:solidFill>
                <a:latin typeface="Public Sans"/>
              </a:rPr>
              <a:t>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358008" y="3978848"/>
            <a:ext cx="602761" cy="1485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101828"/>
                </a:solidFill>
                <a:latin typeface="Public Sans"/>
              </a:rPr>
              <a:t>150</a:t>
            </a:r>
          </a:p>
        </p:txBody>
      </p:sp>
      <p:cxnSp>
        <p:nvCxnSpPr>
          <p:cNvPr id="62" name="Connector 61"/>
          <p:cNvCxnSpPr/>
          <p:nvPr/>
        </p:nvCxnSpPr>
        <p:spPr>
          <a:xfrm flipV="1">
            <a:off x="4983629" y="5894296"/>
            <a:ext cx="549157" cy="13740"/>
          </a:xfrm>
          <a:prstGeom prst="line">
            <a:avLst/>
          </a:prstGeom>
          <a:ln w="22225">
            <a:solidFill>
              <a:srgbClr val="0F4C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5532786" y="5866816"/>
            <a:ext cx="549157" cy="27480"/>
          </a:xfrm>
          <a:prstGeom prst="line">
            <a:avLst/>
          </a:prstGeom>
          <a:ln w="22225">
            <a:solidFill>
              <a:srgbClr val="0F4C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081943" y="5839336"/>
            <a:ext cx="549157" cy="27480"/>
          </a:xfrm>
          <a:prstGeom prst="line">
            <a:avLst/>
          </a:prstGeom>
          <a:ln w="22225">
            <a:solidFill>
              <a:srgbClr val="0F4C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6631100" y="5811857"/>
            <a:ext cx="549157" cy="27479"/>
          </a:xfrm>
          <a:prstGeom prst="line">
            <a:avLst/>
          </a:prstGeom>
          <a:ln w="22225">
            <a:solidFill>
              <a:srgbClr val="0F4C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7180257" y="5770637"/>
            <a:ext cx="549158" cy="41220"/>
          </a:xfrm>
          <a:prstGeom prst="line">
            <a:avLst/>
          </a:prstGeom>
          <a:ln w="22225">
            <a:solidFill>
              <a:srgbClr val="0F4C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Oval 66"/>
          <p:cNvSpPr/>
          <p:nvPr/>
        </p:nvSpPr>
        <p:spPr>
          <a:xfrm>
            <a:off x="7697665" y="5738887"/>
            <a:ext cx="63500" cy="63500"/>
          </a:xfrm>
          <a:prstGeom prst="ellipse">
            <a:avLst/>
          </a:prstGeom>
          <a:solidFill>
            <a:srgbClr val="05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983629" y="6131281"/>
            <a:ext cx="1098314" cy="1600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01828"/>
                </a:solidFill>
                <a:latin typeface="Public Sans"/>
              </a:rPr>
              <a:t>Jan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631101" y="6131281"/>
            <a:ext cx="1098314" cy="1600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101828"/>
                </a:solidFill>
                <a:latin typeface="Public Sans"/>
              </a:rPr>
              <a:t>Jun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166462" y="3871533"/>
            <a:ext cx="3475677" cy="1816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01828"/>
                </a:solidFill>
                <a:latin typeface="Public Sans"/>
              </a:rPr>
              <a:t>ANZ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8792083" y="6114136"/>
            <a:ext cx="2745786" cy="0"/>
          </a:xfrm>
          <a:prstGeom prst="line">
            <a:avLst/>
          </a:prstGeom>
          <a:ln w="5080">
            <a:solidFill>
              <a:srgbClr val="4754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8792083" y="4053143"/>
            <a:ext cx="2745786" cy="0"/>
          </a:xfrm>
          <a:prstGeom prst="line">
            <a:avLst/>
          </a:prstGeom>
          <a:ln w="5080">
            <a:solidFill>
              <a:srgbClr val="4754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8166462" y="6039841"/>
            <a:ext cx="602761" cy="1485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101828"/>
                </a:solidFill>
                <a:latin typeface="Public Sans"/>
              </a:rPr>
              <a:t>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166462" y="3978848"/>
            <a:ext cx="602761" cy="1485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101828"/>
                </a:solidFill>
                <a:latin typeface="Public Sans"/>
              </a:rPr>
              <a:t>150</a:t>
            </a:r>
          </a:p>
        </p:txBody>
      </p:sp>
      <p:cxnSp>
        <p:nvCxnSpPr>
          <p:cNvPr id="75" name="Connector 74"/>
          <p:cNvCxnSpPr/>
          <p:nvPr/>
        </p:nvCxnSpPr>
        <p:spPr>
          <a:xfrm flipV="1">
            <a:off x="8792083" y="5935516"/>
            <a:ext cx="549157" cy="13740"/>
          </a:xfrm>
          <a:prstGeom prst="line">
            <a:avLst/>
          </a:prstGeom>
          <a:ln w="22225">
            <a:solidFill>
              <a:srgbClr val="0F4C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9341240" y="5921776"/>
            <a:ext cx="549157" cy="13740"/>
          </a:xfrm>
          <a:prstGeom prst="line">
            <a:avLst/>
          </a:prstGeom>
          <a:ln w="22225">
            <a:solidFill>
              <a:srgbClr val="0F4C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9890397" y="5908036"/>
            <a:ext cx="549157" cy="13740"/>
          </a:xfrm>
          <a:prstGeom prst="line">
            <a:avLst/>
          </a:prstGeom>
          <a:ln w="22225">
            <a:solidFill>
              <a:srgbClr val="0F4C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10439554" y="5894296"/>
            <a:ext cx="549157" cy="13740"/>
          </a:xfrm>
          <a:prstGeom prst="line">
            <a:avLst/>
          </a:prstGeom>
          <a:ln w="22225">
            <a:solidFill>
              <a:srgbClr val="0F4C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10988711" y="5866816"/>
            <a:ext cx="549158" cy="27480"/>
          </a:xfrm>
          <a:prstGeom prst="line">
            <a:avLst/>
          </a:prstGeom>
          <a:ln w="22225">
            <a:solidFill>
              <a:srgbClr val="0F4C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Oval 79"/>
          <p:cNvSpPr/>
          <p:nvPr/>
        </p:nvSpPr>
        <p:spPr>
          <a:xfrm>
            <a:off x="11506119" y="5835066"/>
            <a:ext cx="63500" cy="63500"/>
          </a:xfrm>
          <a:prstGeom prst="ellipse">
            <a:avLst/>
          </a:prstGeom>
          <a:solidFill>
            <a:srgbClr val="05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792083" y="6131281"/>
            <a:ext cx="1098314" cy="1600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01828"/>
                </a:solidFill>
                <a:latin typeface="Public Sans"/>
              </a:rPr>
              <a:t>Jan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439555" y="6131281"/>
            <a:ext cx="1098314" cy="1600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101828"/>
                </a:solidFill>
                <a:latin typeface="Public Sans"/>
              </a:rPr>
              <a:t>Jun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