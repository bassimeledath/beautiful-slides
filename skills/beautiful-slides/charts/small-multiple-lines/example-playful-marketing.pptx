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FF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9554" y="549554"/>
            <a:ext cx="11092587" cy="53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B1B1F"/>
                </a:solidFill>
                <a:latin typeface="Bricolage Grotesque"/>
              </a:rPr>
              <a:t>Monthly Active Users by Region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9554" y="1123594"/>
            <a:ext cx="1109258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B1B1F"/>
                </a:solidFill>
                <a:latin typeface="Plus Jakarta Sans"/>
              </a:rPr>
              <a:t>MAU (thousands)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9554" y="1436014"/>
            <a:ext cx="347567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1B1F"/>
                </a:solidFill>
                <a:latin typeface="Plus Jakarta Sans"/>
              </a:rPr>
              <a:t>North America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75175" y="3537291"/>
            <a:ext cx="2745786" cy="0"/>
          </a:xfrm>
          <a:prstGeom prst="line">
            <a:avLst/>
          </a:prstGeom>
          <a:ln w="508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75175" y="1683664"/>
            <a:ext cx="2745786" cy="0"/>
          </a:xfrm>
          <a:prstGeom prst="line">
            <a:avLst/>
          </a:prstGeom>
          <a:ln w="508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9554" y="3446486"/>
            <a:ext cx="597681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B1B1F"/>
                </a:solidFill>
                <a:latin typeface="Recursive Mono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9554" y="1592859"/>
            <a:ext cx="597681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B1B1F"/>
                </a:solidFill>
                <a:latin typeface="Recursive Mono"/>
              </a:rPr>
              <a:t>150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75175" y="1992601"/>
            <a:ext cx="549157" cy="61788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724332" y="1930814"/>
            <a:ext cx="549157" cy="61787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273489" y="1930814"/>
            <a:ext cx="549157" cy="24715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822646" y="1869026"/>
            <a:ext cx="549157" cy="86503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371803" y="1782524"/>
            <a:ext cx="549158" cy="86502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889211" y="1750774"/>
            <a:ext cx="63500" cy="63500"/>
          </a:xfrm>
          <a:prstGeom prst="ellipse">
            <a:avLst/>
          </a:prstGeom>
          <a:solidFill>
            <a:srgbClr val="0AB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5175" y="3558246"/>
            <a:ext cx="1098314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Jan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22647" y="3558246"/>
            <a:ext cx="1098314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1B1B1F"/>
                </a:solidFill>
                <a:latin typeface="Plus Jakarta Sans"/>
              </a:rPr>
              <a:t>Jun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8008" y="1436014"/>
            <a:ext cx="347567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1B1F"/>
                </a:solidFill>
                <a:latin typeface="Plus Jakarta Sans"/>
              </a:rPr>
              <a:t>Europe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83629" y="3537291"/>
            <a:ext cx="2745786" cy="0"/>
          </a:xfrm>
          <a:prstGeom prst="line">
            <a:avLst/>
          </a:prstGeom>
          <a:ln w="508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83629" y="1683664"/>
            <a:ext cx="2745786" cy="0"/>
          </a:xfrm>
          <a:prstGeom prst="line">
            <a:avLst/>
          </a:prstGeom>
          <a:ln w="508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58008" y="3446486"/>
            <a:ext cx="597681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B1B1F"/>
                </a:solidFill>
                <a:latin typeface="Recursive Mono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8008" y="1592859"/>
            <a:ext cx="597681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B1B1F"/>
                </a:solidFill>
                <a:latin typeface="Recursive Mono"/>
              </a:rPr>
              <a:t>150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4983629" y="2523974"/>
            <a:ext cx="549157" cy="24715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532786" y="2486902"/>
            <a:ext cx="549157" cy="37072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081943" y="2449829"/>
            <a:ext cx="549157" cy="37073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631100" y="2425114"/>
            <a:ext cx="549157" cy="24715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180257" y="2375684"/>
            <a:ext cx="549158" cy="49430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697665" y="2343934"/>
            <a:ext cx="63500" cy="63500"/>
          </a:xfrm>
          <a:prstGeom prst="ellipse">
            <a:avLst/>
          </a:prstGeom>
          <a:solidFill>
            <a:srgbClr val="0AB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629" y="3558246"/>
            <a:ext cx="1098314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Jan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31101" y="3558246"/>
            <a:ext cx="1098314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1B1B1F"/>
                </a:solidFill>
                <a:latin typeface="Plus Jakarta Sans"/>
              </a:rPr>
              <a:t>Jun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6462" y="1436014"/>
            <a:ext cx="347567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1B1F"/>
                </a:solidFill>
                <a:latin typeface="Plus Jakarta Sans"/>
              </a:rPr>
              <a:t>APAC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792083" y="3537291"/>
            <a:ext cx="2745786" cy="0"/>
          </a:xfrm>
          <a:prstGeom prst="line">
            <a:avLst/>
          </a:prstGeom>
          <a:ln w="508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792083" y="1683664"/>
            <a:ext cx="2745786" cy="0"/>
          </a:xfrm>
          <a:prstGeom prst="line">
            <a:avLst/>
          </a:prstGeom>
          <a:ln w="508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166462" y="3446486"/>
            <a:ext cx="597681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B1B1F"/>
                </a:solidFill>
                <a:latin typeface="Recursive Mono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66462" y="1592859"/>
            <a:ext cx="597681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B1B1F"/>
                </a:solidFill>
                <a:latin typeface="Recursive Mono"/>
              </a:rPr>
              <a:t>150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8792083" y="2919415"/>
            <a:ext cx="549157" cy="61787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9341240" y="2857627"/>
            <a:ext cx="549157" cy="61788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9890397" y="2771125"/>
            <a:ext cx="549157" cy="86502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0439554" y="2672265"/>
            <a:ext cx="549157" cy="98860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988711" y="2573404"/>
            <a:ext cx="549158" cy="98861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11506119" y="2541654"/>
            <a:ext cx="63500" cy="63500"/>
          </a:xfrm>
          <a:prstGeom prst="ellipse">
            <a:avLst/>
          </a:prstGeom>
          <a:solidFill>
            <a:srgbClr val="0AB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92083" y="3558246"/>
            <a:ext cx="1098314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Jan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39555" y="3558246"/>
            <a:ext cx="1098314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1B1B1F"/>
                </a:solidFill>
                <a:latin typeface="Plus Jakarta Sans"/>
              </a:rPr>
              <a:t>Jun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9554" y="3969678"/>
            <a:ext cx="347567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1B1F"/>
                </a:solidFill>
                <a:latin typeface="Plus Jakarta Sans"/>
              </a:rPr>
              <a:t>LATAM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175175" y="6070955"/>
            <a:ext cx="2745786" cy="0"/>
          </a:xfrm>
          <a:prstGeom prst="line">
            <a:avLst/>
          </a:prstGeom>
          <a:ln w="508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75175" y="4217328"/>
            <a:ext cx="2745786" cy="0"/>
          </a:xfrm>
          <a:prstGeom prst="line">
            <a:avLst/>
          </a:prstGeom>
          <a:ln w="508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49554" y="5980150"/>
            <a:ext cx="597681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B1B1F"/>
                </a:solidFill>
                <a:latin typeface="Recursive Mono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9554" y="4126523"/>
            <a:ext cx="597681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B1B1F"/>
                </a:solidFill>
                <a:latin typeface="Recursive Mono"/>
              </a:rPr>
              <a:t>150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1175175" y="5675514"/>
            <a:ext cx="549157" cy="24715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724332" y="5675514"/>
            <a:ext cx="549157" cy="12358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273489" y="5638442"/>
            <a:ext cx="549157" cy="49430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822646" y="5601369"/>
            <a:ext cx="549157" cy="37073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371803" y="5576654"/>
            <a:ext cx="549158" cy="24715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3889211" y="5544904"/>
            <a:ext cx="63500" cy="63500"/>
          </a:xfrm>
          <a:prstGeom prst="ellipse">
            <a:avLst/>
          </a:prstGeom>
          <a:solidFill>
            <a:srgbClr val="0AB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75175" y="6091910"/>
            <a:ext cx="1098314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Jan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22647" y="6091910"/>
            <a:ext cx="1098314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1B1B1F"/>
                </a:solidFill>
                <a:latin typeface="Plus Jakarta Sans"/>
              </a:rPr>
              <a:t>Jun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58008" y="3969678"/>
            <a:ext cx="347567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1B1F"/>
                </a:solidFill>
                <a:latin typeface="Plus Jakarta Sans"/>
              </a:rPr>
              <a:t>MEA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983629" y="6070955"/>
            <a:ext cx="2745786" cy="0"/>
          </a:xfrm>
          <a:prstGeom prst="line">
            <a:avLst/>
          </a:prstGeom>
          <a:ln w="508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983629" y="4217328"/>
            <a:ext cx="2745786" cy="0"/>
          </a:xfrm>
          <a:prstGeom prst="line">
            <a:avLst/>
          </a:prstGeom>
          <a:ln w="508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358008" y="5980150"/>
            <a:ext cx="597681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B1B1F"/>
                </a:solidFill>
                <a:latin typeface="Recursive Mono"/>
              </a:rP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58008" y="4126523"/>
            <a:ext cx="597681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B1B1F"/>
                </a:solidFill>
                <a:latin typeface="Recursive Mono"/>
              </a:rPr>
              <a:t>150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4983629" y="5873234"/>
            <a:ext cx="549157" cy="12358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532786" y="5848519"/>
            <a:ext cx="549157" cy="24715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81943" y="5823804"/>
            <a:ext cx="549157" cy="24715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631100" y="5799089"/>
            <a:ext cx="549157" cy="24715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180257" y="5762017"/>
            <a:ext cx="549158" cy="37072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7697665" y="5730267"/>
            <a:ext cx="63500" cy="63500"/>
          </a:xfrm>
          <a:prstGeom prst="ellipse">
            <a:avLst/>
          </a:prstGeom>
          <a:solidFill>
            <a:srgbClr val="0AB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983629" y="6091910"/>
            <a:ext cx="1098314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Jan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31101" y="6091910"/>
            <a:ext cx="1098314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1B1B1F"/>
                </a:solidFill>
                <a:latin typeface="Plus Jakarta Sans"/>
              </a:rPr>
              <a:t>Jun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66462" y="3969678"/>
            <a:ext cx="347567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1B1F"/>
                </a:solidFill>
                <a:latin typeface="Plus Jakarta Sans"/>
              </a:rPr>
              <a:t>ANZ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792083" y="6070955"/>
            <a:ext cx="2745786" cy="0"/>
          </a:xfrm>
          <a:prstGeom prst="line">
            <a:avLst/>
          </a:prstGeom>
          <a:ln w="508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792083" y="4217328"/>
            <a:ext cx="2745786" cy="0"/>
          </a:xfrm>
          <a:prstGeom prst="line">
            <a:avLst/>
          </a:prstGeom>
          <a:ln w="508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8166462" y="5980150"/>
            <a:ext cx="597681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B1B1F"/>
                </a:solidFill>
                <a:latin typeface="Recursive Mono"/>
              </a:rPr>
              <a:t>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166462" y="4126523"/>
            <a:ext cx="597681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B1B1F"/>
                </a:solidFill>
                <a:latin typeface="Recursive Mono"/>
              </a:rPr>
              <a:t>150</a:t>
            </a:r>
          </a:p>
        </p:txBody>
      </p:sp>
      <p:cxnSp>
        <p:nvCxnSpPr>
          <p:cNvPr id="75" name="Connector 74"/>
          <p:cNvCxnSpPr/>
          <p:nvPr/>
        </p:nvCxnSpPr>
        <p:spPr>
          <a:xfrm flipV="1">
            <a:off x="8792083" y="5910307"/>
            <a:ext cx="549157" cy="12357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9341240" y="5897949"/>
            <a:ext cx="549157" cy="12358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9890397" y="5885592"/>
            <a:ext cx="549157" cy="12357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439554" y="5873234"/>
            <a:ext cx="549157" cy="12358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988711" y="5848519"/>
            <a:ext cx="549158" cy="24715"/>
          </a:xfrm>
          <a:prstGeom prst="line">
            <a:avLst/>
          </a:prstGeom>
          <a:ln w="2222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11506119" y="5816769"/>
            <a:ext cx="63500" cy="63500"/>
          </a:xfrm>
          <a:prstGeom prst="ellipse">
            <a:avLst/>
          </a:prstGeom>
          <a:solidFill>
            <a:srgbClr val="0AB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792083" y="6091910"/>
            <a:ext cx="1098314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Jan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439555" y="6091910"/>
            <a:ext cx="1098314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1B1B1F"/>
                </a:solidFill>
                <a:latin typeface="Plus Jakarta Sans"/>
              </a:rPr>
              <a:t>Jun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