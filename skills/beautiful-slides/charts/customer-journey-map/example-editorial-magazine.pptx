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585216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2400" b="1">
                <a:solidFill>
                  <a:srgbClr val="181514"/>
                </a:solidFill>
                <a:latin typeface="Fraunces"/>
              </a:rPr>
              <a:t>SaaS onboarding journey</a:t>
            </a:r>
          </a:p>
        </p:txBody>
      </p:sp>
      <p:sp>
        <p:nvSpPr>
          <p:cNvPr id="3" name="Rectangle 2"/>
          <p:cNvSpPr/>
          <p:nvPr/>
        </p:nvSpPr>
        <p:spPr>
          <a:xfrm>
            <a:off x="2026769" y="1215136"/>
            <a:ext cx="1818776" cy="508000"/>
          </a:xfrm>
          <a:prstGeom prst="rect">
            <a:avLst/>
          </a:prstGeom>
          <a:solidFill>
            <a:srgbClr val="8C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26769" y="1215136"/>
            <a:ext cx="1818776" cy="5080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300" b="1">
                <a:solidFill>
                  <a:srgbClr val="F6F1E8"/>
                </a:solidFill>
                <a:latin typeface="Fraunces"/>
              </a:rPr>
              <a:t>Awareness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3961635" y="1215136"/>
            <a:ext cx="1818776" cy="508000"/>
          </a:xfrm>
          <a:prstGeom prst="rect">
            <a:avLst/>
          </a:prstGeom>
          <a:solidFill>
            <a:srgbClr val="903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61635" y="1215136"/>
            <a:ext cx="1818776" cy="5080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300" b="1">
                <a:solidFill>
                  <a:srgbClr val="F6F1E8"/>
                </a:solidFill>
                <a:latin typeface="Fraunces"/>
              </a:rPr>
              <a:t>Consideration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896501" y="1215136"/>
            <a:ext cx="1818776" cy="508000"/>
          </a:xfrm>
          <a:prstGeom prst="rect">
            <a:avLst/>
          </a:prstGeom>
          <a:solidFill>
            <a:srgbClr val="944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6501" y="1215136"/>
            <a:ext cx="1818776" cy="5080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300" b="1">
                <a:solidFill>
                  <a:srgbClr val="F6F1E8"/>
                </a:solidFill>
                <a:latin typeface="Fraunces"/>
              </a:rPr>
              <a:t>Sign-up</a:t>
            </a:r>
          </a:p>
        </p:txBody>
      </p:sp>
      <p:sp>
        <p:nvSpPr>
          <p:cNvPr id="9" name="Rectangle 8"/>
          <p:cNvSpPr/>
          <p:nvPr/>
        </p:nvSpPr>
        <p:spPr>
          <a:xfrm>
            <a:off x="7831367" y="1215136"/>
            <a:ext cx="1818776" cy="508000"/>
          </a:xfrm>
          <a:prstGeom prst="rect">
            <a:avLst/>
          </a:prstGeom>
          <a:solidFill>
            <a:srgbClr val="985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31367" y="1215136"/>
            <a:ext cx="1818776" cy="5080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300" b="1">
                <a:solidFill>
                  <a:srgbClr val="F6F1E8"/>
                </a:solidFill>
                <a:latin typeface="Fraunces"/>
              </a:rPr>
              <a:t>Onboarding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766233" y="1215136"/>
            <a:ext cx="1818776" cy="508000"/>
          </a:xfrm>
          <a:prstGeom prst="rect">
            <a:avLst/>
          </a:prstGeom>
          <a:solidFill>
            <a:srgbClr val="9C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66233" y="1215136"/>
            <a:ext cx="1818776" cy="5080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300" b="1">
                <a:solidFill>
                  <a:srgbClr val="F6F1E8"/>
                </a:solidFill>
                <a:latin typeface="Fraunces"/>
              </a:rPr>
              <a:t>Adoption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26769" y="1916811"/>
            <a:ext cx="9558241" cy="19050"/>
          </a:xfrm>
          <a:prstGeom prst="rect">
            <a:avLst/>
          </a:prstGeom>
          <a:solidFill>
            <a:srgbClr val="D4C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723136"/>
            <a:ext cx="1331329" cy="4064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r"/>
            <a:r>
              <a:rPr sz="1100" b="1">
                <a:solidFill>
                  <a:srgbClr val="181514"/>
                </a:solidFill>
                <a:latin typeface="Newsreader"/>
              </a:rPr>
              <a:t>Sentiment</a:t>
            </a:r>
          </a:p>
        </p:txBody>
      </p:sp>
      <p:sp>
        <p:nvSpPr>
          <p:cNvPr id="15" name="Oval 14"/>
          <p:cNvSpPr/>
          <p:nvPr/>
        </p:nvSpPr>
        <p:spPr>
          <a:xfrm>
            <a:off x="2854877" y="1845056"/>
            <a:ext cx="162560" cy="162560"/>
          </a:xfrm>
          <a:prstGeom prst="ellipse">
            <a:avLst/>
          </a:prstGeom>
          <a:solidFill>
            <a:srgbClr val="6F6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2935807" y="1845697"/>
            <a:ext cx="1935565" cy="90157"/>
          </a:xfrm>
          <a:custGeom>
            <a:avLst/>
            <a:gdLst/>
            <a:ahLst/>
            <a:cxnLst/>
            <a:rect l="l" t="t" r="r" b="b"/>
            <a:pathLst>
              <a:path w="1935565" h="90157">
                <a:moveTo>
                  <a:pt x="699" y="90157"/>
                </a:moveTo>
                <a:lnTo>
                  <a:pt x="0" y="71120"/>
                </a:lnTo>
                <a:lnTo>
                  <a:pt x="1934866" y="0"/>
                </a:lnTo>
                <a:lnTo>
                  <a:pt x="1935565" y="19037"/>
                </a:lnTo>
                <a:close/>
              </a:path>
            </a:pathLst>
          </a:custGeom>
          <a:solidFill>
            <a:srgbClr val="554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789743" y="1773936"/>
            <a:ext cx="162560" cy="162560"/>
          </a:xfrm>
          <a:prstGeom prst="ellipse">
            <a:avLst/>
          </a:prstGeom>
          <a:solidFill>
            <a:srgbClr val="9C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4871023" y="1845691"/>
            <a:ext cx="1934866" cy="19050"/>
          </a:xfrm>
          <a:custGeom>
            <a:avLst/>
            <a:gdLst/>
            <a:ahLst/>
            <a:cxnLst/>
            <a:rect l="l" t="t" r="r" b="b"/>
            <a:pathLst>
              <a:path w="1934866" h="19050">
                <a:moveTo>
                  <a:pt x="0" y="19050"/>
                </a:moveTo>
                <a:lnTo>
                  <a:pt x="0" y="0"/>
                </a:lnTo>
                <a:lnTo>
                  <a:pt x="1934866" y="0"/>
                </a:lnTo>
                <a:lnTo>
                  <a:pt x="1934866" y="19050"/>
                </a:lnTo>
                <a:close/>
              </a:path>
            </a:pathLst>
          </a:custGeom>
          <a:solidFill>
            <a:srgbClr val="554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724609" y="1773936"/>
            <a:ext cx="162560" cy="162560"/>
          </a:xfrm>
          <a:prstGeom prst="ellipse">
            <a:avLst/>
          </a:prstGeom>
          <a:solidFill>
            <a:srgbClr val="9C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6805190" y="1845716"/>
            <a:ext cx="1936263" cy="161239"/>
          </a:xfrm>
          <a:custGeom>
            <a:avLst/>
            <a:gdLst/>
            <a:ahLst/>
            <a:cxnLst/>
            <a:rect l="l" t="t" r="r" b="b"/>
            <a:pathLst>
              <a:path w="1936263" h="161239">
                <a:moveTo>
                  <a:pt x="0" y="18999"/>
                </a:moveTo>
                <a:lnTo>
                  <a:pt x="1397" y="0"/>
                </a:lnTo>
                <a:lnTo>
                  <a:pt x="1936263" y="142240"/>
                </a:lnTo>
                <a:lnTo>
                  <a:pt x="1934866" y="161239"/>
                </a:lnTo>
                <a:close/>
              </a:path>
            </a:pathLst>
          </a:custGeom>
          <a:solidFill>
            <a:srgbClr val="554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659475" y="1916176"/>
            <a:ext cx="162560" cy="162560"/>
          </a:xfrm>
          <a:prstGeom prst="ellipse">
            <a:avLst/>
          </a:prstGeom>
          <a:solidFill>
            <a:srgbClr val="8C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8739710" y="1774628"/>
            <a:ext cx="1936955" cy="232295"/>
          </a:xfrm>
          <a:custGeom>
            <a:avLst/>
            <a:gdLst/>
            <a:ahLst/>
            <a:cxnLst/>
            <a:rect l="l" t="t" r="r" b="b"/>
            <a:pathLst>
              <a:path w="1936955" h="232295">
                <a:moveTo>
                  <a:pt x="2089" y="232295"/>
                </a:moveTo>
                <a:lnTo>
                  <a:pt x="0" y="213360"/>
                </a:lnTo>
                <a:lnTo>
                  <a:pt x="1934866" y="0"/>
                </a:lnTo>
                <a:lnTo>
                  <a:pt x="1936955" y="18935"/>
                </a:lnTo>
                <a:close/>
              </a:path>
            </a:pathLst>
          </a:custGeom>
          <a:solidFill>
            <a:srgbClr val="554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594341" y="1702816"/>
            <a:ext cx="162560" cy="162560"/>
          </a:xfrm>
          <a:prstGeom prst="ellipse">
            <a:avLst/>
          </a:prstGeom>
          <a:solidFill>
            <a:srgbClr val="9C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2129536"/>
            <a:ext cx="1331329" cy="81158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r"/>
            <a:r>
              <a:rPr sz="1100" b="1">
                <a:solidFill>
                  <a:srgbClr val="181514"/>
                </a:solidFill>
                <a:latin typeface="Newsreader"/>
              </a:rPr>
              <a:t>Actions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968724" y="2129536"/>
            <a:ext cx="9674331" cy="9525"/>
          </a:xfrm>
          <a:prstGeom prst="rect">
            <a:avLst/>
          </a:prstGeom>
          <a:solidFill>
            <a:srgbClr val="DBD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26769" y="2129536"/>
            <a:ext cx="1818776" cy="81158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181514"/>
                </a:solidFill>
                <a:latin typeface="Newsreader"/>
              </a:rPr>
              <a:t>Sees ad, reads blog post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61635" y="2129536"/>
            <a:ext cx="1818776" cy="81158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181514"/>
                </a:solidFill>
                <a:latin typeface="Newsreader"/>
              </a:rPr>
              <a:t>Compares features, reads reviews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96501" y="2129536"/>
            <a:ext cx="1818776" cy="81158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181514"/>
                </a:solidFill>
                <a:latin typeface="Newsreader"/>
              </a:rPr>
              <a:t>Creates account, starts trial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31367" y="2129536"/>
            <a:ext cx="1818776" cy="81158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181514"/>
                </a:solidFill>
                <a:latin typeface="Newsreader"/>
              </a:rPr>
              <a:t>Follows setup wizard, imports 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66233" y="2129536"/>
            <a:ext cx="1818776" cy="81158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181514"/>
                </a:solidFill>
                <a:latin typeface="Newsreader"/>
              </a:rPr>
              <a:t>Uses daily, invites team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2971596"/>
            <a:ext cx="1331329" cy="81158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r"/>
            <a:r>
              <a:rPr sz="1100" b="1">
                <a:solidFill>
                  <a:srgbClr val="181514"/>
                </a:solidFill>
                <a:latin typeface="Newsreader"/>
              </a:rPr>
              <a:t>Touchpoints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26769" y="2971596"/>
            <a:ext cx="1818776" cy="81158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181514"/>
                </a:solidFill>
                <a:latin typeface="Newsreader"/>
              </a:rPr>
              <a:t>Social media, blog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61635" y="2971596"/>
            <a:ext cx="1818776" cy="81158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181514"/>
                </a:solidFill>
                <a:latin typeface="Newsreader"/>
              </a:rPr>
              <a:t>Website, G2, demo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96501" y="2971596"/>
            <a:ext cx="1818776" cy="81158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181514"/>
                </a:solidFill>
                <a:latin typeface="Newsreader"/>
              </a:rPr>
              <a:t>Signup page, email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31367" y="2971596"/>
            <a:ext cx="1818776" cy="81158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181514"/>
                </a:solidFill>
                <a:latin typeface="Newsreader"/>
              </a:rPr>
              <a:t>In-app, help docs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66233" y="2971596"/>
            <a:ext cx="1818776" cy="81158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181514"/>
                </a:solidFill>
                <a:latin typeface="Newsreader"/>
              </a:rPr>
              <a:t>In-app, Slack integration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3813656"/>
            <a:ext cx="1331329" cy="81158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r"/>
            <a:r>
              <a:rPr sz="1100" b="1">
                <a:solidFill>
                  <a:srgbClr val="181514"/>
                </a:solidFill>
                <a:latin typeface="Newsreader"/>
              </a:rPr>
              <a:t>Feelings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26769" y="3813656"/>
            <a:ext cx="1818776" cy="81158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181514"/>
                </a:solidFill>
                <a:latin typeface="Newsreader"/>
              </a:rPr>
              <a:t>Curious but skeptical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61635" y="3813656"/>
            <a:ext cx="1818776" cy="81158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181514"/>
                </a:solidFill>
                <a:latin typeface="Newsreader"/>
              </a:rPr>
              <a:t>Interested, cautiously optimistic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96501" y="3813656"/>
            <a:ext cx="1818776" cy="81158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181514"/>
                </a:solidFill>
                <a:latin typeface="Newsreader"/>
              </a:rPr>
              <a:t>Excited to try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31367" y="3813656"/>
            <a:ext cx="1818776" cy="81158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181514"/>
                </a:solidFill>
                <a:latin typeface="Newsreader"/>
              </a:rPr>
              <a:t>Overwhelmed by features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66233" y="3813656"/>
            <a:ext cx="1818776" cy="81158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181514"/>
                </a:solidFill>
                <a:latin typeface="Newsreader"/>
              </a:rPr>
              <a:t>Productive, sees value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4655716"/>
            <a:ext cx="1331329" cy="81158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r"/>
            <a:r>
              <a:rPr sz="1100" b="1">
                <a:solidFill>
                  <a:srgbClr val="181514"/>
                </a:solidFill>
                <a:latin typeface="Newsreader"/>
              </a:rPr>
              <a:t>Pain points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26769" y="4655716"/>
            <a:ext cx="1818776" cy="81158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181514"/>
                </a:solidFill>
                <a:latin typeface="Newsreader"/>
              </a:rPr>
              <a:t>Too many competing options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961635" y="4655716"/>
            <a:ext cx="1818776" cy="81158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181514"/>
                </a:solidFill>
                <a:latin typeface="Newsreader"/>
              </a:rPr>
              <a:t>Unclear pricing tiers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96501" y="4655716"/>
            <a:ext cx="1818776" cy="81158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181514"/>
                </a:solidFill>
                <a:latin typeface="Newsreader"/>
              </a:rPr>
              <a:t>Long form, credit card required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31367" y="4655716"/>
            <a:ext cx="1818776" cy="81158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181514"/>
                </a:solidFill>
                <a:latin typeface="Newsreader"/>
              </a:rPr>
              <a:t>Complex configuration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66233" y="4655716"/>
            <a:ext cx="1818776" cy="81158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181514"/>
                </a:solidFill>
                <a:latin typeface="Newsreader"/>
              </a:rPr>
              <a:t>Missing integrations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5497776"/>
            <a:ext cx="1331329" cy="81158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r"/>
            <a:r>
              <a:rPr sz="1100" b="1">
                <a:solidFill>
                  <a:srgbClr val="181514"/>
                </a:solidFill>
                <a:latin typeface="Newsreader"/>
              </a:rPr>
              <a:t>Opportunities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026769" y="5497776"/>
            <a:ext cx="1818776" cy="81158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181514"/>
                </a:solidFill>
                <a:latin typeface="Newsreader"/>
              </a:rPr>
              <a:t>Targeted content marketing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961635" y="5497776"/>
            <a:ext cx="1818776" cy="81158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181514"/>
                </a:solidFill>
                <a:latin typeface="Newsreader"/>
              </a:rPr>
              <a:t>Interactive ROI calculator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96501" y="5497776"/>
            <a:ext cx="1818776" cy="81158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181514"/>
                </a:solidFill>
                <a:latin typeface="Newsreader"/>
              </a:rPr>
              <a:t>Simplified one-click signup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31367" y="5497776"/>
            <a:ext cx="1818776" cy="81158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181514"/>
                </a:solidFill>
                <a:latin typeface="Newsreader"/>
              </a:rPr>
              <a:t>Guided setup with templates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66233" y="5497776"/>
            <a:ext cx="1818776" cy="81158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181514"/>
                </a:solidFill>
                <a:latin typeface="Newsreader"/>
              </a:rPr>
              <a:t>Team collaboration features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903590" y="1723136"/>
            <a:ext cx="6350" cy="4586224"/>
          </a:xfrm>
          <a:prstGeom prst="rect">
            <a:avLst/>
          </a:prstGeom>
          <a:solidFill>
            <a:srgbClr val="E2D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838456" y="1723136"/>
            <a:ext cx="6350" cy="4586224"/>
          </a:xfrm>
          <a:prstGeom prst="rect">
            <a:avLst/>
          </a:prstGeom>
          <a:solidFill>
            <a:srgbClr val="E2D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73322" y="1723136"/>
            <a:ext cx="6350" cy="4586224"/>
          </a:xfrm>
          <a:prstGeom prst="rect">
            <a:avLst/>
          </a:prstGeom>
          <a:solidFill>
            <a:srgbClr val="E2D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708188" y="1723136"/>
            <a:ext cx="6350" cy="4586224"/>
          </a:xfrm>
          <a:prstGeom prst="rect">
            <a:avLst/>
          </a:prstGeom>
          <a:solidFill>
            <a:srgbClr val="E2D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