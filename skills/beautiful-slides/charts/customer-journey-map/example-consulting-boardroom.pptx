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512064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100" b="1">
                <a:solidFill>
                  <a:srgbClr val="101828"/>
                </a:solidFill>
                <a:latin typeface="Public Sans"/>
              </a:rPr>
              <a:t>SaaS onboarding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2026769" y="1131824"/>
            <a:ext cx="1818776" cy="4445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26769" y="1131824"/>
            <a:ext cx="1818776" cy="444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ublic Sans"/>
              </a:rPr>
              <a:t>Awareness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1635" y="1131824"/>
            <a:ext cx="1818776" cy="444500"/>
          </a:xfrm>
          <a:prstGeom prst="rect">
            <a:avLst/>
          </a:prstGeom>
          <a:solidFill>
            <a:srgbClr val="0C5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61635" y="1131824"/>
            <a:ext cx="1818776" cy="444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ublic Sans"/>
              </a:rPr>
              <a:t>Consideration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896501" y="1131824"/>
            <a:ext cx="1818776" cy="444500"/>
          </a:xfrm>
          <a:prstGeom prst="rect">
            <a:avLst/>
          </a:prstGeom>
          <a:solidFill>
            <a:srgbClr val="0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6501" y="1131824"/>
            <a:ext cx="1818776" cy="444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ublic Sans"/>
              </a:rPr>
              <a:t>Sign-up</a:t>
            </a:r>
          </a:p>
        </p:txBody>
      </p:sp>
      <p:sp>
        <p:nvSpPr>
          <p:cNvPr id="9" name="Rectangle 8"/>
          <p:cNvSpPr/>
          <p:nvPr/>
        </p:nvSpPr>
        <p:spPr>
          <a:xfrm>
            <a:off x="7831367" y="1131824"/>
            <a:ext cx="1818776" cy="444500"/>
          </a:xfrm>
          <a:prstGeom prst="rect">
            <a:avLst/>
          </a:prstGeom>
          <a:solidFill>
            <a:srgbClr val="08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31367" y="1131824"/>
            <a:ext cx="1818776" cy="444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ublic Sans"/>
              </a:rPr>
              <a:t>Onboarding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66233" y="1131824"/>
            <a:ext cx="1818776" cy="444500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66233" y="1131824"/>
            <a:ext cx="1818776" cy="444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ublic Sans"/>
              </a:rPr>
              <a:t>Adoption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26769" y="1744599"/>
            <a:ext cx="9558241" cy="19050"/>
          </a:xfrm>
          <a:prstGeom prst="rect">
            <a:avLst/>
          </a:prstGeom>
          <a:solidFill>
            <a:srgbClr val="D1D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576324"/>
            <a:ext cx="1331329" cy="355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r"/>
            <a:r>
              <a:rPr sz="900" b="1">
                <a:solidFill>
                  <a:srgbClr val="101828"/>
                </a:solidFill>
                <a:latin typeface="Public Sans"/>
              </a:rPr>
              <a:t>Sentiment</a:t>
            </a:r>
          </a:p>
        </p:txBody>
      </p:sp>
      <p:sp>
        <p:nvSpPr>
          <p:cNvPr id="15" name="Oval 14"/>
          <p:cNvSpPr/>
          <p:nvPr/>
        </p:nvSpPr>
        <p:spPr>
          <a:xfrm>
            <a:off x="2865037" y="1683004"/>
            <a:ext cx="142240" cy="142240"/>
          </a:xfrm>
          <a:prstGeom prst="ellipse">
            <a:avLst/>
          </a:prstGeom>
          <a:solidFill>
            <a:srgbClr val="47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935850" y="1682374"/>
            <a:ext cx="1935479" cy="81270"/>
          </a:xfrm>
          <a:custGeom>
            <a:avLst/>
            <a:gdLst/>
            <a:ahLst/>
            <a:cxnLst/>
            <a:rect l="l" t="t" r="r" b="b"/>
            <a:pathLst>
              <a:path w="1935479" h="81270">
                <a:moveTo>
                  <a:pt x="613" y="81270"/>
                </a:moveTo>
                <a:lnTo>
                  <a:pt x="0" y="62229"/>
                </a:lnTo>
                <a:lnTo>
                  <a:pt x="1934866" y="0"/>
                </a:lnTo>
                <a:lnTo>
                  <a:pt x="1935479" y="19041"/>
                </a:lnTo>
                <a:close/>
              </a:path>
            </a:pathLst>
          </a:custGeom>
          <a:solidFill>
            <a:srgbClr val="364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99903" y="1620775"/>
            <a:ext cx="142240" cy="142240"/>
          </a:xfrm>
          <a:prstGeom prst="ellipse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4871023" y="1682370"/>
            <a:ext cx="1934866" cy="19050"/>
          </a:xfrm>
          <a:custGeom>
            <a:avLst/>
            <a:gdLst/>
            <a:ahLst/>
            <a:cxnLst/>
            <a:rect l="l" t="t" r="r" b="b"/>
            <a:pathLst>
              <a:path w="1934866" h="19050">
                <a:moveTo>
                  <a:pt x="0" y="19050"/>
                </a:moveTo>
                <a:lnTo>
                  <a:pt x="0" y="0"/>
                </a:lnTo>
                <a:lnTo>
                  <a:pt x="1934866" y="0"/>
                </a:lnTo>
                <a:lnTo>
                  <a:pt x="1934866" y="19050"/>
                </a:lnTo>
                <a:close/>
              </a:path>
            </a:pathLst>
          </a:custGeom>
          <a:solidFill>
            <a:srgbClr val="364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34769" y="1620775"/>
            <a:ext cx="142240" cy="142240"/>
          </a:xfrm>
          <a:prstGeom prst="ellipse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6805277" y="1682389"/>
            <a:ext cx="1936089" cy="143469"/>
          </a:xfrm>
          <a:custGeom>
            <a:avLst/>
            <a:gdLst/>
            <a:ahLst/>
            <a:cxnLst/>
            <a:rect l="l" t="t" r="r" b="b"/>
            <a:pathLst>
              <a:path w="1936089" h="143469">
                <a:moveTo>
                  <a:pt x="0" y="19011"/>
                </a:moveTo>
                <a:lnTo>
                  <a:pt x="1223" y="0"/>
                </a:lnTo>
                <a:lnTo>
                  <a:pt x="1936089" y="124458"/>
                </a:lnTo>
                <a:lnTo>
                  <a:pt x="1934866" y="143469"/>
                </a:lnTo>
                <a:close/>
              </a:path>
            </a:pathLst>
          </a:custGeom>
          <a:solidFill>
            <a:srgbClr val="364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69635" y="1745233"/>
            <a:ext cx="142240" cy="14224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8739840" y="1620184"/>
            <a:ext cx="1936695" cy="205649"/>
          </a:xfrm>
          <a:custGeom>
            <a:avLst/>
            <a:gdLst/>
            <a:ahLst/>
            <a:cxnLst/>
            <a:rect l="l" t="t" r="r" b="b"/>
            <a:pathLst>
              <a:path w="1936695" h="205649">
                <a:moveTo>
                  <a:pt x="1829" y="205649"/>
                </a:moveTo>
                <a:lnTo>
                  <a:pt x="0" y="186688"/>
                </a:lnTo>
                <a:lnTo>
                  <a:pt x="1934866" y="0"/>
                </a:lnTo>
                <a:lnTo>
                  <a:pt x="1936695" y="18961"/>
                </a:lnTo>
                <a:close/>
              </a:path>
            </a:pathLst>
          </a:custGeom>
          <a:solidFill>
            <a:srgbClr val="364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4501" y="1558545"/>
            <a:ext cx="142240" cy="142240"/>
          </a:xfrm>
          <a:prstGeom prst="ellipse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931924"/>
            <a:ext cx="1331329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900" b="1">
                <a:solidFill>
                  <a:srgbClr val="101828"/>
                </a:solidFill>
                <a:latin typeface="Public Sans"/>
              </a:rPr>
              <a:t>Actions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68724" y="1931924"/>
            <a:ext cx="9674331" cy="9525"/>
          </a:xfrm>
          <a:prstGeom prst="rect">
            <a:avLst/>
          </a:prstGeom>
          <a:solidFill>
            <a:srgbClr val="DAD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26769" y="1931924"/>
            <a:ext cx="1818776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Sees ad, reads blog 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1635" y="1931924"/>
            <a:ext cx="1818776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Compares features, reads reviews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6501" y="1931924"/>
            <a:ext cx="1818776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Creates account, starts trial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1367" y="1931924"/>
            <a:ext cx="1818776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Follows setup wizard, imports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6233" y="1931924"/>
            <a:ext cx="1818776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Uses daily, invites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812745"/>
            <a:ext cx="1331329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900" b="1">
                <a:solidFill>
                  <a:srgbClr val="101828"/>
                </a:solidFill>
                <a:latin typeface="Public Sans"/>
              </a:rPr>
              <a:t>Touchpoints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6769" y="2812745"/>
            <a:ext cx="1818776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Social media, blog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61635" y="2812745"/>
            <a:ext cx="1818776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Website, G2, demo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6501" y="2812745"/>
            <a:ext cx="1818776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Signup page, email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31367" y="2812745"/>
            <a:ext cx="1818776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In-app, help docs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6233" y="2812745"/>
            <a:ext cx="1818776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In-app, Slack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693566"/>
            <a:ext cx="1331329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900" b="1">
                <a:solidFill>
                  <a:srgbClr val="101828"/>
                </a:solidFill>
                <a:latin typeface="Public Sans"/>
              </a:rPr>
              <a:t>Feelings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26769" y="3693566"/>
            <a:ext cx="1818776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Curious but skeptical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61635" y="3693566"/>
            <a:ext cx="1818776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Interested, cautiously optimistic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6501" y="3693566"/>
            <a:ext cx="1818776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Excited to try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31367" y="3693566"/>
            <a:ext cx="1818776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Overwhelmed by features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6233" y="3693566"/>
            <a:ext cx="1818776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Productive, sees value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574387"/>
            <a:ext cx="1331329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900" b="1">
                <a:solidFill>
                  <a:srgbClr val="101828"/>
                </a:solidFill>
                <a:latin typeface="Public Sans"/>
              </a:rPr>
              <a:t>Pain points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26769" y="4574387"/>
            <a:ext cx="1818776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Too many competing options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61635" y="4574387"/>
            <a:ext cx="1818776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Unclear pricing tiers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6501" y="4574387"/>
            <a:ext cx="1818776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Long form, credit card required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31367" y="4574387"/>
            <a:ext cx="1818776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Complex configuration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66233" y="4574387"/>
            <a:ext cx="1818776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Missing integrations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455208"/>
            <a:ext cx="1331329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900" b="1">
                <a:solidFill>
                  <a:srgbClr val="101828"/>
                </a:solidFill>
                <a:latin typeface="Public Sans"/>
              </a:rPr>
              <a:t>Opportunities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26769" y="5455208"/>
            <a:ext cx="1818776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Targeted content marketing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61635" y="5455208"/>
            <a:ext cx="1818776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Interactive ROI calculator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96501" y="5455208"/>
            <a:ext cx="1818776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Simplified one-click signup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31367" y="5455208"/>
            <a:ext cx="1818776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Guided setup with templates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66233" y="5455208"/>
            <a:ext cx="1818776" cy="854151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Team collaboration features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03590" y="1576324"/>
            <a:ext cx="6350" cy="4733036"/>
          </a:xfrm>
          <a:prstGeom prst="rect">
            <a:avLst/>
          </a:prstGeom>
          <a:solidFill>
            <a:srgbClr val="E3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838456" y="1576324"/>
            <a:ext cx="6350" cy="4733036"/>
          </a:xfrm>
          <a:prstGeom prst="rect">
            <a:avLst/>
          </a:prstGeom>
          <a:solidFill>
            <a:srgbClr val="E3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73322" y="1576324"/>
            <a:ext cx="6350" cy="4733036"/>
          </a:xfrm>
          <a:prstGeom prst="rect">
            <a:avLst/>
          </a:prstGeom>
          <a:solidFill>
            <a:srgbClr val="E3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708188" y="1576324"/>
            <a:ext cx="6350" cy="4733036"/>
          </a:xfrm>
          <a:prstGeom prst="rect">
            <a:avLst/>
          </a:prstGeom>
          <a:solidFill>
            <a:srgbClr val="E3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