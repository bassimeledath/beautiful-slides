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SaaS onboarding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26769" y="1215136"/>
            <a:ext cx="1818776" cy="508000"/>
          </a:xfrm>
          <a:prstGeom prst="roundRect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769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61635" y="1215136"/>
            <a:ext cx="1818776" cy="508000"/>
          </a:xfrm>
          <a:prstGeom prst="roundRect">
            <a:avLst/>
          </a:prstGeom>
          <a:solidFill>
            <a:srgbClr val="847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635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Consideration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6501" y="1215136"/>
            <a:ext cx="1818776" cy="508000"/>
          </a:xfrm>
          <a:prstGeom prst="roundRect">
            <a:avLst/>
          </a:prstGeom>
          <a:solidFill>
            <a:srgbClr val="8B7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6501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Sign-up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1367" y="1215136"/>
            <a:ext cx="1818776" cy="508000"/>
          </a:xfrm>
          <a:prstGeom prst="roundRect">
            <a:avLst/>
          </a:prstGeom>
          <a:solidFill>
            <a:srgbClr val="927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1367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66233" y="1215136"/>
            <a:ext cx="1818776" cy="508000"/>
          </a:xfrm>
          <a:prstGeom prst="roundRect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6233" y="1215136"/>
            <a:ext cx="1818776" cy="508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FCFBF8"/>
                </a:solidFill>
                <a:latin typeface="Instrument Serif"/>
              </a:rPr>
              <a:t>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6769" y="1916811"/>
            <a:ext cx="9558241" cy="19050"/>
          </a:xfrm>
          <a:prstGeom prst="rect">
            <a:avLst/>
          </a:prstGeom>
          <a:solidFill>
            <a:srgbClr val="DCD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23136"/>
            <a:ext cx="1331329" cy="4064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Sentiment</a:t>
            </a:r>
          </a:p>
        </p:txBody>
      </p:sp>
      <p:sp>
        <p:nvSpPr>
          <p:cNvPr id="15" name="Oval 14"/>
          <p:cNvSpPr/>
          <p:nvPr/>
        </p:nvSpPr>
        <p:spPr>
          <a:xfrm>
            <a:off x="2854877" y="1845056"/>
            <a:ext cx="162560" cy="162560"/>
          </a:xfrm>
          <a:prstGeom prst="ellipse">
            <a:avLst/>
          </a:pr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935807" y="1845697"/>
            <a:ext cx="1935565" cy="90157"/>
          </a:xfrm>
          <a:custGeom>
            <a:avLst/>
            <a:gdLst/>
            <a:ahLst/>
            <a:cxnLst/>
            <a:rect l="l" t="t" r="r" b="b"/>
            <a:pathLst>
              <a:path w="1935565" h="90157">
                <a:moveTo>
                  <a:pt x="699" y="90157"/>
                </a:moveTo>
                <a:lnTo>
                  <a:pt x="0" y="71120"/>
                </a:lnTo>
                <a:lnTo>
                  <a:pt x="1934866" y="0"/>
                </a:lnTo>
                <a:lnTo>
                  <a:pt x="1935565" y="19037"/>
                </a:lnTo>
                <a:close/>
              </a:path>
            </a:pathLst>
          </a:custGeom>
          <a:solidFill>
            <a:srgbClr val="605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9743" y="1773936"/>
            <a:ext cx="162560" cy="16256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871023" y="1845691"/>
            <a:ext cx="1934866" cy="19050"/>
          </a:xfrm>
          <a:custGeom>
            <a:avLst/>
            <a:gdLst/>
            <a:ahLst/>
            <a:cxnLst/>
            <a:rect l="l" t="t" r="r" b="b"/>
            <a:pathLst>
              <a:path w="1934866" h="19050">
                <a:moveTo>
                  <a:pt x="0" y="19050"/>
                </a:moveTo>
                <a:lnTo>
                  <a:pt x="0" y="0"/>
                </a:lnTo>
                <a:lnTo>
                  <a:pt x="1934866" y="0"/>
                </a:lnTo>
                <a:lnTo>
                  <a:pt x="1934866" y="19050"/>
                </a:lnTo>
                <a:close/>
              </a:path>
            </a:pathLst>
          </a:custGeom>
          <a:solidFill>
            <a:srgbClr val="605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24609" y="1773936"/>
            <a:ext cx="162560" cy="16256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805190" y="1845716"/>
            <a:ext cx="1936263" cy="161239"/>
          </a:xfrm>
          <a:custGeom>
            <a:avLst/>
            <a:gdLst/>
            <a:ahLst/>
            <a:cxnLst/>
            <a:rect l="l" t="t" r="r" b="b"/>
            <a:pathLst>
              <a:path w="1936263" h="161239">
                <a:moveTo>
                  <a:pt x="0" y="18999"/>
                </a:moveTo>
                <a:lnTo>
                  <a:pt x="1397" y="0"/>
                </a:lnTo>
                <a:lnTo>
                  <a:pt x="1936263" y="142240"/>
                </a:lnTo>
                <a:lnTo>
                  <a:pt x="1934866" y="161239"/>
                </a:lnTo>
                <a:close/>
              </a:path>
            </a:pathLst>
          </a:custGeom>
          <a:solidFill>
            <a:srgbClr val="605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59475" y="1916176"/>
            <a:ext cx="162560" cy="162560"/>
          </a:xfrm>
          <a:prstGeom prst="ellipse">
            <a:avLst/>
          </a:pr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739710" y="1774628"/>
            <a:ext cx="1936955" cy="232295"/>
          </a:xfrm>
          <a:custGeom>
            <a:avLst/>
            <a:gdLst/>
            <a:ahLst/>
            <a:cxnLst/>
            <a:rect l="l" t="t" r="r" b="b"/>
            <a:pathLst>
              <a:path w="1936955" h="232295">
                <a:moveTo>
                  <a:pt x="2089" y="232295"/>
                </a:moveTo>
                <a:lnTo>
                  <a:pt x="0" y="213360"/>
                </a:lnTo>
                <a:lnTo>
                  <a:pt x="1934866" y="0"/>
                </a:lnTo>
                <a:lnTo>
                  <a:pt x="1936955" y="18935"/>
                </a:lnTo>
                <a:close/>
              </a:path>
            </a:pathLst>
          </a:custGeom>
          <a:solidFill>
            <a:srgbClr val="605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94341" y="1702816"/>
            <a:ext cx="162560" cy="162560"/>
          </a:xfrm>
          <a:prstGeom prst="ellipse">
            <a:avLst/>
          </a:prstGeom>
          <a:solidFill>
            <a:srgbClr val="9A6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2953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8724" y="2129536"/>
            <a:ext cx="9674331" cy="9525"/>
          </a:xfrm>
          <a:prstGeom prst="rect">
            <a:avLst/>
          </a:prstGeom>
          <a:solidFill>
            <a:srgbClr val="E2E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769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Sees ad, reads blog 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1635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Compares features, reads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6501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Creates account, starts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1367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Follows setup wizard, imports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6233" y="212953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Uses daily, invites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97159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Touchpoints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6769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Social media, blog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1635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Website, G2,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6501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Signup page,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1367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In-app, help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6233" y="297159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In-app, Slack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1365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Feelings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6769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Curious but skeptical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1635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Interested, cautiously optimistic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6501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Excited to 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1367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Overwhelmed by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6233" y="381365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Productive, sees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65571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Pain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6769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Too many competing 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1635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Unclear pricing tiers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6501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Long form, credit card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1367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Complex 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6233" y="465571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Missing integrations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497776"/>
            <a:ext cx="1331329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100" b="1">
                <a:solidFill>
                  <a:srgbClr val="22201C"/>
                </a:solidFill>
                <a:latin typeface="Instrument Sans"/>
              </a:rPr>
              <a:t>Opportunities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6769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Targeted content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1635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Interactive ROI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6501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Simplified one-click signup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1367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Guided setup with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6233" y="5497776"/>
            <a:ext cx="1818776" cy="81158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000" b="0">
                <a:solidFill>
                  <a:srgbClr val="22201C"/>
                </a:solidFill>
                <a:latin typeface="Instrument Sans"/>
              </a:rPr>
              <a:t>Team collaboration features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3590" y="1723136"/>
            <a:ext cx="6350" cy="4586224"/>
          </a:xfrm>
          <a:prstGeom prst="rect">
            <a:avLst/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38456" y="1723136"/>
            <a:ext cx="6350" cy="4586224"/>
          </a:xfrm>
          <a:prstGeom prst="rect">
            <a:avLst/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3322" y="1723136"/>
            <a:ext cx="6350" cy="4586224"/>
          </a:xfrm>
          <a:prstGeom prst="rect">
            <a:avLst/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08188" y="1723136"/>
            <a:ext cx="6350" cy="4586224"/>
          </a:xfrm>
          <a:prstGeom prst="rect">
            <a:avLst/>
          </a:prstGeom>
          <a:solidFill>
            <a:srgbClr val="E9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