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SaaS onboarding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26769" y="1298448"/>
            <a:ext cx="1818776" cy="57150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26769" y="1298448"/>
            <a:ext cx="1818776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Bricolage Grotesque"/>
              </a:rPr>
              <a:t>Awareness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61635" y="1298448"/>
            <a:ext cx="1818776" cy="571500"/>
          </a:xfrm>
          <a:prstGeom prst="roundRect">
            <a:avLst/>
          </a:prstGeom>
          <a:solidFill>
            <a:srgbClr val="C28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61635" y="1298448"/>
            <a:ext cx="1818776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Bricolage Grotesque"/>
              </a:rPr>
              <a:t>Consideration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6501" y="1298448"/>
            <a:ext cx="1818776" cy="571500"/>
          </a:xfrm>
          <a:prstGeom prst="roundRect">
            <a:avLst/>
          </a:prstGeom>
          <a:solidFill>
            <a:srgbClr val="84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6501" y="1298448"/>
            <a:ext cx="1818776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Bricolage Grotesque"/>
              </a:rPr>
              <a:t>Sign-up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31367" y="1298448"/>
            <a:ext cx="1818776" cy="571500"/>
          </a:xfrm>
          <a:prstGeom prst="roundRect">
            <a:avLst/>
          </a:prstGeom>
          <a:solidFill>
            <a:srgbClr val="47A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1367" y="1298448"/>
            <a:ext cx="1818776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Bricolage Grotesque"/>
              </a:rPr>
              <a:t>Onboarding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66233" y="1298448"/>
            <a:ext cx="1818776" cy="571500"/>
          </a:xfrm>
          <a:prstGeom prst="round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66233" y="1298448"/>
            <a:ext cx="1818776" cy="5715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4EB"/>
                </a:solidFill>
                <a:latin typeface="Bricolage Grotesque"/>
              </a:rPr>
              <a:t>Adoption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6769" y="2089023"/>
            <a:ext cx="9558241" cy="19050"/>
          </a:xfrm>
          <a:prstGeom prst="rect">
            <a:avLst/>
          </a:prstGeom>
          <a:solidFill>
            <a:srgbClr val="DBD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69948"/>
            <a:ext cx="1331329" cy="4572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r"/>
            <a:r>
              <a:rPr sz="1200" b="1">
                <a:solidFill>
                  <a:srgbClr val="1B1B1F"/>
                </a:solidFill>
                <a:latin typeface="Plus Jakarta Sans"/>
              </a:rPr>
              <a:t>Sentiment</a:t>
            </a:r>
          </a:p>
        </p:txBody>
      </p:sp>
      <p:sp>
        <p:nvSpPr>
          <p:cNvPr id="15" name="Oval 14"/>
          <p:cNvSpPr/>
          <p:nvPr/>
        </p:nvSpPr>
        <p:spPr>
          <a:xfrm>
            <a:off x="2844717" y="2007108"/>
            <a:ext cx="182880" cy="182880"/>
          </a:xfrm>
          <a:prstGeom prst="ellipse">
            <a:avLst/>
          </a:prstGeom>
          <a:solidFill>
            <a:srgbClr val="6E6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935763" y="2009021"/>
            <a:ext cx="1935653" cy="99043"/>
          </a:xfrm>
          <a:custGeom>
            <a:avLst/>
            <a:gdLst/>
            <a:ahLst/>
            <a:cxnLst/>
            <a:rect l="l" t="t" r="r" b="b"/>
            <a:pathLst>
              <a:path w="1935653" h="99043">
                <a:moveTo>
                  <a:pt x="787" y="99043"/>
                </a:moveTo>
                <a:lnTo>
                  <a:pt x="0" y="80010"/>
                </a:lnTo>
                <a:lnTo>
                  <a:pt x="1934866" y="0"/>
                </a:lnTo>
                <a:lnTo>
                  <a:pt x="1935653" y="19033"/>
                </a:lnTo>
                <a:close/>
              </a:path>
            </a:pathLst>
          </a:custGeom>
          <a:solidFill>
            <a:srgbClr val="555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79583" y="1927098"/>
            <a:ext cx="182880" cy="182880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4871023" y="2009013"/>
            <a:ext cx="1934866" cy="19050"/>
          </a:xfrm>
          <a:custGeom>
            <a:avLst/>
            <a:gdLst/>
            <a:ahLst/>
            <a:cxnLst/>
            <a:rect l="l" t="t" r="r" b="b"/>
            <a:pathLst>
              <a:path w="1934866" h="19050">
                <a:moveTo>
                  <a:pt x="0" y="19050"/>
                </a:moveTo>
                <a:lnTo>
                  <a:pt x="0" y="0"/>
                </a:lnTo>
                <a:lnTo>
                  <a:pt x="1934866" y="0"/>
                </a:lnTo>
                <a:lnTo>
                  <a:pt x="1934866" y="19050"/>
                </a:lnTo>
                <a:close/>
              </a:path>
            </a:pathLst>
          </a:custGeom>
          <a:solidFill>
            <a:srgbClr val="555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14449" y="1927098"/>
            <a:ext cx="182880" cy="182880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805103" y="2009045"/>
            <a:ext cx="1936437" cy="179005"/>
          </a:xfrm>
          <a:custGeom>
            <a:avLst/>
            <a:gdLst/>
            <a:ahLst/>
            <a:cxnLst/>
            <a:rect l="l" t="t" r="r" b="b"/>
            <a:pathLst>
              <a:path w="1936437" h="179005">
                <a:moveTo>
                  <a:pt x="0" y="18985"/>
                </a:moveTo>
                <a:lnTo>
                  <a:pt x="1571" y="0"/>
                </a:lnTo>
                <a:lnTo>
                  <a:pt x="1936437" y="160020"/>
                </a:lnTo>
                <a:lnTo>
                  <a:pt x="1934866" y="179005"/>
                </a:lnTo>
                <a:close/>
              </a:path>
            </a:pathLst>
          </a:custGeom>
          <a:solidFill>
            <a:srgbClr val="555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49315" y="2087118"/>
            <a:ext cx="182880" cy="1828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8739582" y="1929075"/>
            <a:ext cx="1937211" cy="258935"/>
          </a:xfrm>
          <a:custGeom>
            <a:avLst/>
            <a:gdLst/>
            <a:ahLst/>
            <a:cxnLst/>
            <a:rect l="l" t="t" r="r" b="b"/>
            <a:pathLst>
              <a:path w="1937211" h="258935">
                <a:moveTo>
                  <a:pt x="2345" y="258935"/>
                </a:moveTo>
                <a:lnTo>
                  <a:pt x="0" y="240030"/>
                </a:lnTo>
                <a:lnTo>
                  <a:pt x="1934866" y="0"/>
                </a:lnTo>
                <a:lnTo>
                  <a:pt x="1937211" y="18905"/>
                </a:lnTo>
                <a:close/>
              </a:path>
            </a:pathLst>
          </a:custGeom>
          <a:solidFill>
            <a:srgbClr val="555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84181" y="1847088"/>
            <a:ext cx="182880" cy="182880"/>
          </a:xfrm>
          <a:prstGeom prst="ellipse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327148"/>
            <a:ext cx="1331329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1B1B1F"/>
                </a:solidFill>
                <a:latin typeface="Plus Jakarta Sans"/>
              </a:rPr>
              <a:t>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8724" y="2327148"/>
            <a:ext cx="9674331" cy="9525"/>
          </a:xfrm>
          <a:prstGeom prst="rect">
            <a:avLst/>
          </a:prstGeom>
          <a:solidFill>
            <a:srgbClr val="E2D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6769" y="23271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Sees ad, reads blog 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61635" y="23271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Compares features, reads reviews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6501" y="23271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Creates account, starts trial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1367" y="23271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Follows setup wizard, imports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6233" y="23271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Uses daily, invites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130448"/>
            <a:ext cx="1331329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1B1B1F"/>
                </a:solidFill>
                <a:latin typeface="Plus Jakarta Sans"/>
              </a:rPr>
              <a:t>Touchpoints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6769" y="31304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Social media, blog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1635" y="31304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Website, G2,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96501" y="31304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Signup page,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1367" y="31304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In-app, help docs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66233" y="31304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In-app, Slack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933748"/>
            <a:ext cx="1331329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1B1B1F"/>
                </a:solidFill>
                <a:latin typeface="Plus Jakarta Sans"/>
              </a:rPr>
              <a:t>Feelings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6769" y="39337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Curious but skeptical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61635" y="39337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Interested, cautiously optimistic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6501" y="39337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Excited to try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1367" y="39337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Overwhelmed by features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6233" y="39337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Productive, sees 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737048"/>
            <a:ext cx="1331329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1B1B1F"/>
                </a:solidFill>
                <a:latin typeface="Plus Jakarta Sans"/>
              </a:rPr>
              <a:t>Pain 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26769" y="47370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Too many competing options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61635" y="47370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Unclear pricing tiers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6501" y="47370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Long form, credit card required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31367" y="47370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Complex configuration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66233" y="47370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Missing integrations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540348"/>
            <a:ext cx="1331329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r"/>
            <a:r>
              <a:rPr sz="1200" b="1">
                <a:solidFill>
                  <a:srgbClr val="1B1B1F"/>
                </a:solidFill>
                <a:latin typeface="Plus Jakarta Sans"/>
              </a:rPr>
              <a:t>Opportunities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26769" y="55403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Targeted content marketing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61635" y="55403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Interactive ROI calculator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6501" y="55403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Simplified one-click signup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31367" y="55403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Guided setup with templates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66233" y="5540348"/>
            <a:ext cx="1818776" cy="769010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1100" b="0">
                <a:solidFill>
                  <a:srgbClr val="1B1B1F"/>
                </a:solidFill>
                <a:latin typeface="Plus Jakarta Sans"/>
              </a:rPr>
              <a:t>Team collaboration features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03590" y="1869948"/>
            <a:ext cx="6350" cy="4439412"/>
          </a:xfrm>
          <a:prstGeom prst="rect">
            <a:avLst/>
          </a:prstGeom>
          <a:solidFill>
            <a:srgbClr val="E9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38456" y="1869948"/>
            <a:ext cx="6350" cy="4439412"/>
          </a:xfrm>
          <a:prstGeom prst="rect">
            <a:avLst/>
          </a:prstGeom>
          <a:solidFill>
            <a:srgbClr val="E9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3322" y="1869948"/>
            <a:ext cx="6350" cy="4439412"/>
          </a:xfrm>
          <a:prstGeom prst="rect">
            <a:avLst/>
          </a:prstGeom>
          <a:solidFill>
            <a:srgbClr val="E9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08188" y="1869948"/>
            <a:ext cx="6350" cy="4439412"/>
          </a:xfrm>
          <a:prstGeom prst="rect">
            <a:avLst/>
          </a:prstGeom>
          <a:solidFill>
            <a:srgbClr val="E9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