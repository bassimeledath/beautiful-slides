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Enterprise pipeline, Q1</a:t>
            </a:r>
          </a:p>
        </p:txBody>
      </p:sp>
      <p:sp>
        <p:nvSpPr>
          <p:cNvPr id="4" name="Freeform 3"/>
          <p:cNvSpPr/>
          <p:nvPr/>
        </p:nvSpPr>
        <p:spPr>
          <a:xfrm>
            <a:off x="3219066" y="1167384"/>
            <a:ext cx="6197340" cy="619929"/>
          </a:xfrm>
          <a:custGeom>
            <a:avLst/>
            <a:gdLst/>
            <a:ahLst/>
            <a:cxnLst/>
            <a:rect l="l" t="t" r="r" b="b"/>
            <a:pathLst>
              <a:path w="6197340" h="619929">
                <a:moveTo>
                  <a:pt x="0" y="0"/>
                </a:moveTo>
                <a:lnTo>
                  <a:pt x="6197340" y="0"/>
                </a:lnTo>
                <a:lnTo>
                  <a:pt x="4723612" y="619929"/>
                </a:lnTo>
                <a:lnTo>
                  <a:pt x="1473728" y="619929"/>
                </a:lnTo>
                <a:close/>
              </a:path>
            </a:pathLst>
          </a:cu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67384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061" y="1167384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5827" y="1787313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42% ↓</a:t>
            </a:r>
          </a:p>
        </p:txBody>
      </p:sp>
      <p:sp>
        <p:nvSpPr>
          <p:cNvPr id="8" name="Freeform 7"/>
          <p:cNvSpPr/>
          <p:nvPr/>
        </p:nvSpPr>
        <p:spPr>
          <a:xfrm>
            <a:off x="4692794" y="2071793"/>
            <a:ext cx="3249884" cy="619929"/>
          </a:xfrm>
          <a:custGeom>
            <a:avLst/>
            <a:gdLst/>
            <a:ahLst/>
            <a:cxnLst/>
            <a:rect l="l" t="t" r="r" b="b"/>
            <a:pathLst>
              <a:path w="3249884" h="619929">
                <a:moveTo>
                  <a:pt x="0" y="0"/>
                </a:moveTo>
                <a:lnTo>
                  <a:pt x="3249884" y="0"/>
                </a:lnTo>
                <a:lnTo>
                  <a:pt x="2640066" y="619929"/>
                </a:lnTo>
                <a:lnTo>
                  <a:pt x="609818" y="619929"/>
                </a:lnTo>
                <a:close/>
              </a:path>
            </a:pathLst>
          </a:custGeom>
          <a:solidFill>
            <a:srgbClr val="1A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71793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061" y="2071793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4,200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5827" y="2691722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43% ↓</a:t>
            </a:r>
          </a:p>
        </p:txBody>
      </p:sp>
      <p:sp>
        <p:nvSpPr>
          <p:cNvPr id="12" name="Freeform 11"/>
          <p:cNvSpPr/>
          <p:nvPr/>
        </p:nvSpPr>
        <p:spPr>
          <a:xfrm>
            <a:off x="5302612" y="2976202"/>
            <a:ext cx="2030248" cy="619929"/>
          </a:xfrm>
          <a:custGeom>
            <a:avLst/>
            <a:gdLst/>
            <a:ahLst/>
            <a:cxnLst/>
            <a:rect l="l" t="t" r="r" b="b"/>
            <a:pathLst>
              <a:path w="2030248" h="619929">
                <a:moveTo>
                  <a:pt x="0" y="0"/>
                </a:moveTo>
                <a:lnTo>
                  <a:pt x="2030248" y="0"/>
                </a:lnTo>
                <a:lnTo>
                  <a:pt x="1730420" y="619929"/>
                </a:lnTo>
                <a:lnTo>
                  <a:pt x="299828" y="619929"/>
                </a:lnTo>
                <a:close/>
              </a:path>
            </a:pathLst>
          </a:custGeom>
          <a:solidFill>
            <a:srgbClr val="254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6202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Demo'd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061" y="2976202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1,800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5827" y="3596131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34% ↓</a:t>
            </a:r>
          </a:p>
        </p:txBody>
      </p:sp>
      <p:sp>
        <p:nvSpPr>
          <p:cNvPr id="16" name="Freeform 15"/>
          <p:cNvSpPr/>
          <p:nvPr/>
        </p:nvSpPr>
        <p:spPr>
          <a:xfrm>
            <a:off x="5602440" y="3880611"/>
            <a:ext cx="1430592" cy="619929"/>
          </a:xfrm>
          <a:custGeom>
            <a:avLst/>
            <a:gdLst/>
            <a:ahLst/>
            <a:cxnLst/>
            <a:rect l="l" t="t" r="r" b="b"/>
            <a:pathLst>
              <a:path w="1430592" h="619929">
                <a:moveTo>
                  <a:pt x="0" y="0"/>
                </a:moveTo>
                <a:lnTo>
                  <a:pt x="1430592" y="0"/>
                </a:lnTo>
                <a:lnTo>
                  <a:pt x="1351824" y="619929"/>
                </a:lnTo>
                <a:lnTo>
                  <a:pt x="78768" y="619929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0611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061" y="3880611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620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5827" y="4500540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50% ↓</a:t>
            </a:r>
          </a:p>
        </p:txBody>
      </p:sp>
      <p:sp>
        <p:nvSpPr>
          <p:cNvPr id="20" name="Freeform 19"/>
          <p:cNvSpPr/>
          <p:nvPr/>
        </p:nvSpPr>
        <p:spPr>
          <a:xfrm>
            <a:off x="5681208" y="4785020"/>
            <a:ext cx="1273056" cy="619929"/>
          </a:xfrm>
          <a:custGeom>
            <a:avLst/>
            <a:gdLst/>
            <a:ahLst/>
            <a:cxnLst/>
            <a:rect l="l" t="t" r="r" b="b"/>
            <a:pathLst>
              <a:path w="1273056" h="619929">
                <a:moveTo>
                  <a:pt x="0" y="0"/>
                </a:moveTo>
                <a:lnTo>
                  <a:pt x="1273056" y="0"/>
                </a:lnTo>
                <a:lnTo>
                  <a:pt x="1240024" y="619929"/>
                </a:lnTo>
                <a:lnTo>
                  <a:pt x="33032" y="619929"/>
                </a:lnTo>
                <a:close/>
              </a:path>
            </a:pathLst>
          </a:custGeom>
          <a:solidFill>
            <a:srgbClr val="3C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85020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061" y="4785020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827" y="5404949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58% ↓</a:t>
            </a:r>
          </a:p>
        </p:txBody>
      </p:sp>
      <p:sp>
        <p:nvSpPr>
          <p:cNvPr id="24" name="Freeform 23"/>
          <p:cNvSpPr/>
          <p:nvPr/>
        </p:nvSpPr>
        <p:spPr>
          <a:xfrm>
            <a:off x="5714240" y="5689429"/>
            <a:ext cx="1206992" cy="619929"/>
          </a:xfrm>
          <a:custGeom>
            <a:avLst/>
            <a:gdLst/>
            <a:ahLst/>
            <a:cxnLst/>
            <a:rect l="l" t="t" r="r" b="b"/>
            <a:pathLst>
              <a:path w="1206992" h="619929">
                <a:moveTo>
                  <a:pt x="0" y="0"/>
                </a:moveTo>
                <a:lnTo>
                  <a:pt x="1206992" y="0"/>
                </a:lnTo>
                <a:lnTo>
                  <a:pt x="882376" y="619929"/>
                </a:lnTo>
                <a:lnTo>
                  <a:pt x="324616" y="619929"/>
                </a:lnTo>
                <a:close/>
              </a:path>
            </a:pathLst>
          </a:cu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89429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Closed-won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061" y="5689429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