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B1B1F"/>
                </a:solidFill>
                <a:latin typeface="Bricolage Grotesque"/>
              </a:rPr>
              <a:t>Enterprise pipeline, Q1</a:t>
            </a:r>
          </a:p>
        </p:txBody>
      </p:sp>
      <p:sp>
        <p:nvSpPr>
          <p:cNvPr id="3" name="Freeform 2"/>
          <p:cNvSpPr/>
          <p:nvPr/>
        </p:nvSpPr>
        <p:spPr>
          <a:xfrm>
            <a:off x="3219066" y="1344168"/>
            <a:ext cx="6197340" cy="522732"/>
          </a:xfrm>
          <a:custGeom>
            <a:avLst/>
            <a:gdLst/>
            <a:ahLst/>
            <a:cxnLst/>
            <a:rect l="l" t="t" r="r" b="b"/>
            <a:pathLst>
              <a:path w="6197340" h="522732">
                <a:moveTo>
                  <a:pt x="0" y="0"/>
                </a:moveTo>
                <a:lnTo>
                  <a:pt x="6197340" y="0"/>
                </a:lnTo>
                <a:lnTo>
                  <a:pt x="4723612" y="522732"/>
                </a:lnTo>
                <a:lnTo>
                  <a:pt x="1473728" y="522732"/>
                </a:lnTo>
                <a:close/>
              </a:path>
            </a:pathLst>
          </a:cu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44168"/>
            <a:ext cx="2440771" cy="522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0">
                <a:solidFill>
                  <a:srgbClr val="1B1B1F"/>
                </a:solidFill>
                <a:latin typeface="Plus Jakarta Sans"/>
              </a:rPr>
              <a:t>Leads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061" y="1344168"/>
            <a:ext cx="1996994" cy="522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B1B1F"/>
                </a:solidFill>
                <a:latin typeface="Recursive Mono"/>
              </a:rPr>
              <a:t>10,000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5827" y="1866900"/>
            <a:ext cx="632381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E6A73"/>
                </a:solidFill>
                <a:latin typeface="Recursive Mono"/>
              </a:rPr>
              <a:t>42% ↓</a:t>
            </a:r>
          </a:p>
        </p:txBody>
      </p:sp>
      <p:sp>
        <p:nvSpPr>
          <p:cNvPr id="7" name="Freeform 6"/>
          <p:cNvSpPr/>
          <p:nvPr/>
        </p:nvSpPr>
        <p:spPr>
          <a:xfrm>
            <a:off x="4692794" y="2232660"/>
            <a:ext cx="3249884" cy="522732"/>
          </a:xfrm>
          <a:custGeom>
            <a:avLst/>
            <a:gdLst/>
            <a:ahLst/>
            <a:cxnLst/>
            <a:rect l="l" t="t" r="r" b="b"/>
            <a:pathLst>
              <a:path w="3249884" h="522732">
                <a:moveTo>
                  <a:pt x="0" y="0"/>
                </a:moveTo>
                <a:lnTo>
                  <a:pt x="3249884" y="0"/>
                </a:lnTo>
                <a:lnTo>
                  <a:pt x="2640066" y="522732"/>
                </a:lnTo>
                <a:lnTo>
                  <a:pt x="609818" y="522732"/>
                </a:lnTo>
                <a:close/>
              </a:path>
            </a:pathLst>
          </a:custGeom>
          <a:solidFill>
            <a:srgbClr val="E27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32660"/>
            <a:ext cx="2440771" cy="522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0">
                <a:solidFill>
                  <a:srgbClr val="1B1B1F"/>
                </a:solidFill>
                <a:latin typeface="Plus Jakarta Sans"/>
              </a:rPr>
              <a:t>Qualified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061" y="2232660"/>
            <a:ext cx="1996994" cy="522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B1B1F"/>
                </a:solidFill>
                <a:latin typeface="Recursive Mono"/>
              </a:rPr>
              <a:t>4,200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5827" y="2755392"/>
            <a:ext cx="632381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E6A73"/>
                </a:solidFill>
                <a:latin typeface="Recursive Mono"/>
              </a:rPr>
              <a:t>43% ↓</a:t>
            </a:r>
          </a:p>
        </p:txBody>
      </p:sp>
      <p:sp>
        <p:nvSpPr>
          <p:cNvPr id="11" name="Freeform 10"/>
          <p:cNvSpPr/>
          <p:nvPr/>
        </p:nvSpPr>
        <p:spPr>
          <a:xfrm>
            <a:off x="5302612" y="3121152"/>
            <a:ext cx="2030248" cy="522732"/>
          </a:xfrm>
          <a:custGeom>
            <a:avLst/>
            <a:gdLst/>
            <a:ahLst/>
            <a:cxnLst/>
            <a:rect l="l" t="t" r="r" b="b"/>
            <a:pathLst>
              <a:path w="2030248" h="522732">
                <a:moveTo>
                  <a:pt x="0" y="0"/>
                </a:moveTo>
                <a:lnTo>
                  <a:pt x="2030248" y="0"/>
                </a:lnTo>
                <a:lnTo>
                  <a:pt x="1730420" y="522732"/>
                </a:lnTo>
                <a:lnTo>
                  <a:pt x="299828" y="522732"/>
                </a:lnTo>
                <a:close/>
              </a:path>
            </a:pathLst>
          </a:custGeom>
          <a:solidFill>
            <a:srgbClr val="C57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121152"/>
            <a:ext cx="2440771" cy="522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0">
                <a:solidFill>
                  <a:srgbClr val="1B1B1F"/>
                </a:solidFill>
                <a:latin typeface="Plus Jakarta Sans"/>
              </a:rPr>
              <a:t>Demo'd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061" y="3121152"/>
            <a:ext cx="1996994" cy="522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B1B1F"/>
                </a:solidFill>
                <a:latin typeface="Recursive Mono"/>
              </a:rPr>
              <a:t>1,800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5827" y="3643884"/>
            <a:ext cx="632381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E6A73"/>
                </a:solidFill>
                <a:latin typeface="Recursive Mono"/>
              </a:rPr>
              <a:t>34% ↓</a:t>
            </a:r>
          </a:p>
        </p:txBody>
      </p:sp>
      <p:sp>
        <p:nvSpPr>
          <p:cNvPr id="15" name="Freeform 14"/>
          <p:cNvSpPr/>
          <p:nvPr/>
        </p:nvSpPr>
        <p:spPr>
          <a:xfrm>
            <a:off x="5602440" y="4009644"/>
            <a:ext cx="1430592" cy="522732"/>
          </a:xfrm>
          <a:custGeom>
            <a:avLst/>
            <a:gdLst/>
            <a:ahLst/>
            <a:cxnLst/>
            <a:rect l="l" t="t" r="r" b="b"/>
            <a:pathLst>
              <a:path w="1430592" h="522732">
                <a:moveTo>
                  <a:pt x="0" y="0"/>
                </a:moveTo>
                <a:lnTo>
                  <a:pt x="1430592" y="0"/>
                </a:lnTo>
                <a:lnTo>
                  <a:pt x="1351824" y="522732"/>
                </a:lnTo>
                <a:lnTo>
                  <a:pt x="78768" y="522732"/>
                </a:lnTo>
                <a:close/>
              </a:path>
            </a:pathLst>
          </a:custGeom>
          <a:solidFill>
            <a:srgbClr val="A87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09644"/>
            <a:ext cx="2440771" cy="522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0">
                <a:solidFill>
                  <a:srgbClr val="1B1B1F"/>
                </a:solidFill>
                <a:latin typeface="Plus Jakarta Sans"/>
              </a:rPr>
              <a:t>Proposal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061" y="4009644"/>
            <a:ext cx="1996994" cy="522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B1B1F"/>
                </a:solidFill>
                <a:latin typeface="Recursive Mono"/>
              </a:rPr>
              <a:t>620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5827" y="4532376"/>
            <a:ext cx="632381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E6A73"/>
                </a:solidFill>
                <a:latin typeface="Recursive Mono"/>
              </a:rPr>
              <a:t>50% ↓</a:t>
            </a:r>
          </a:p>
        </p:txBody>
      </p:sp>
      <p:sp>
        <p:nvSpPr>
          <p:cNvPr id="19" name="Freeform 18"/>
          <p:cNvSpPr/>
          <p:nvPr/>
        </p:nvSpPr>
        <p:spPr>
          <a:xfrm>
            <a:off x="5681208" y="4898136"/>
            <a:ext cx="1273056" cy="522732"/>
          </a:xfrm>
          <a:custGeom>
            <a:avLst/>
            <a:gdLst/>
            <a:ahLst/>
            <a:cxnLst/>
            <a:rect l="l" t="t" r="r" b="b"/>
            <a:pathLst>
              <a:path w="1273056" h="522732">
                <a:moveTo>
                  <a:pt x="0" y="0"/>
                </a:moveTo>
                <a:lnTo>
                  <a:pt x="1273056" y="0"/>
                </a:lnTo>
                <a:lnTo>
                  <a:pt x="1240024" y="522732"/>
                </a:lnTo>
                <a:lnTo>
                  <a:pt x="33032" y="522732"/>
                </a:lnTo>
                <a:close/>
              </a:path>
            </a:pathLst>
          </a:custGeom>
          <a:solidFill>
            <a:srgbClr val="8B6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898136"/>
            <a:ext cx="2440771" cy="522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0">
                <a:solidFill>
                  <a:srgbClr val="1B1B1F"/>
                </a:solidFill>
                <a:latin typeface="Plus Jakarta Sans"/>
              </a:rPr>
              <a:t>Negotiation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061" y="4898136"/>
            <a:ext cx="1996994" cy="522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B1B1F"/>
                </a:solidFill>
                <a:latin typeface="Recursive Mono"/>
              </a:rPr>
              <a:t>310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5827" y="5420868"/>
            <a:ext cx="632381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E6A73"/>
                </a:solidFill>
                <a:latin typeface="Recursive Mono"/>
              </a:rPr>
              <a:t>58% ↓</a:t>
            </a:r>
          </a:p>
        </p:txBody>
      </p:sp>
      <p:sp>
        <p:nvSpPr>
          <p:cNvPr id="23" name="Freeform 22"/>
          <p:cNvSpPr/>
          <p:nvPr/>
        </p:nvSpPr>
        <p:spPr>
          <a:xfrm>
            <a:off x="5714240" y="5786628"/>
            <a:ext cx="1206992" cy="522732"/>
          </a:xfrm>
          <a:custGeom>
            <a:avLst/>
            <a:gdLst/>
            <a:ahLst/>
            <a:cxnLst/>
            <a:rect l="l" t="t" r="r" b="b"/>
            <a:pathLst>
              <a:path w="1206992" h="522732">
                <a:moveTo>
                  <a:pt x="0" y="0"/>
                </a:moveTo>
                <a:lnTo>
                  <a:pt x="1206992" y="0"/>
                </a:lnTo>
                <a:lnTo>
                  <a:pt x="882376" y="522732"/>
                </a:lnTo>
                <a:lnTo>
                  <a:pt x="324616" y="522732"/>
                </a:lnTo>
                <a:close/>
              </a:path>
            </a:pathLst>
          </a:custGeom>
          <a:solidFill>
            <a:srgbClr val="6E6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786628"/>
            <a:ext cx="2440771" cy="522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0">
                <a:solidFill>
                  <a:srgbClr val="1B1B1F"/>
                </a:solidFill>
                <a:latin typeface="Plus Jakarta Sans"/>
              </a:rPr>
              <a:t>Closed-won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061" y="5786628"/>
            <a:ext cx="1996994" cy="522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B1B1F"/>
                </a:solidFill>
                <a:latin typeface="Recursive Mono"/>
              </a:rPr>
              <a:t>180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