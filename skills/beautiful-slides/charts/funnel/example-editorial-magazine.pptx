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Enterprise pipeline, Q1</a:t>
            </a:r>
          </a:p>
        </p:txBody>
      </p:sp>
      <p:sp>
        <p:nvSpPr>
          <p:cNvPr id="4" name="Freeform 3"/>
          <p:cNvSpPr/>
          <p:nvPr/>
        </p:nvSpPr>
        <p:spPr>
          <a:xfrm>
            <a:off x="3219066" y="1255776"/>
            <a:ext cx="6197340" cy="571330"/>
          </a:xfrm>
          <a:custGeom>
            <a:avLst/>
            <a:gdLst/>
            <a:ahLst/>
            <a:cxnLst/>
            <a:rect l="l" t="t" r="r" b="b"/>
            <a:pathLst>
              <a:path w="6197340" h="571330">
                <a:moveTo>
                  <a:pt x="0" y="0"/>
                </a:moveTo>
                <a:lnTo>
                  <a:pt x="6197340" y="0"/>
                </a:lnTo>
                <a:lnTo>
                  <a:pt x="4723612" y="571330"/>
                </a:lnTo>
                <a:lnTo>
                  <a:pt x="1473728" y="571330"/>
                </a:lnTo>
                <a:close/>
              </a:path>
            </a:pathLst>
          </a:cu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5577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Leads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061" y="125577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IBM Plex Mono"/>
              </a:rPr>
              <a:t>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5827" y="182710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42% ↓</a:t>
            </a:r>
          </a:p>
        </p:txBody>
      </p:sp>
      <p:sp>
        <p:nvSpPr>
          <p:cNvPr id="8" name="Freeform 7"/>
          <p:cNvSpPr/>
          <p:nvPr/>
        </p:nvSpPr>
        <p:spPr>
          <a:xfrm>
            <a:off x="4692794" y="2152226"/>
            <a:ext cx="3249884" cy="571330"/>
          </a:xfrm>
          <a:custGeom>
            <a:avLst/>
            <a:gdLst/>
            <a:ahLst/>
            <a:cxnLst/>
            <a:rect l="l" t="t" r="r" b="b"/>
            <a:pathLst>
              <a:path w="3249884" h="571330">
                <a:moveTo>
                  <a:pt x="0" y="0"/>
                </a:moveTo>
                <a:lnTo>
                  <a:pt x="3249884" y="0"/>
                </a:lnTo>
                <a:lnTo>
                  <a:pt x="2640066" y="571330"/>
                </a:lnTo>
                <a:lnTo>
                  <a:pt x="609818" y="571330"/>
                </a:lnTo>
                <a:close/>
              </a:path>
            </a:pathLst>
          </a:custGeom>
          <a:solidFill>
            <a:srgbClr val="863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5222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Qualified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061" y="215222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IBM Plex Mono"/>
              </a:rPr>
              <a:t>4,200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5827" y="272355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43% ↓</a:t>
            </a:r>
          </a:p>
        </p:txBody>
      </p:sp>
      <p:sp>
        <p:nvSpPr>
          <p:cNvPr id="12" name="Freeform 11"/>
          <p:cNvSpPr/>
          <p:nvPr/>
        </p:nvSpPr>
        <p:spPr>
          <a:xfrm>
            <a:off x="5302612" y="3048676"/>
            <a:ext cx="2030248" cy="571330"/>
          </a:xfrm>
          <a:custGeom>
            <a:avLst/>
            <a:gdLst/>
            <a:ahLst/>
            <a:cxnLst/>
            <a:rect l="l" t="t" r="r" b="b"/>
            <a:pathLst>
              <a:path w="2030248" h="571330">
                <a:moveTo>
                  <a:pt x="0" y="0"/>
                </a:moveTo>
                <a:lnTo>
                  <a:pt x="2030248" y="0"/>
                </a:lnTo>
                <a:lnTo>
                  <a:pt x="1730420" y="571330"/>
                </a:lnTo>
                <a:lnTo>
                  <a:pt x="299828" y="571330"/>
                </a:lnTo>
                <a:close/>
              </a:path>
            </a:pathLst>
          </a:custGeom>
          <a:solidFill>
            <a:srgbClr val="804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4867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Demo'd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061" y="304867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IBM Plex Mono"/>
              </a:rPr>
              <a:t>1,800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5827" y="362000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34% ↓</a:t>
            </a:r>
          </a:p>
        </p:txBody>
      </p:sp>
      <p:sp>
        <p:nvSpPr>
          <p:cNvPr id="16" name="Freeform 15"/>
          <p:cNvSpPr/>
          <p:nvPr/>
        </p:nvSpPr>
        <p:spPr>
          <a:xfrm>
            <a:off x="5602440" y="3945126"/>
            <a:ext cx="1430592" cy="571330"/>
          </a:xfrm>
          <a:custGeom>
            <a:avLst/>
            <a:gdLst/>
            <a:ahLst/>
            <a:cxnLst/>
            <a:rect l="l" t="t" r="r" b="b"/>
            <a:pathLst>
              <a:path w="1430592" h="571330">
                <a:moveTo>
                  <a:pt x="0" y="0"/>
                </a:moveTo>
                <a:lnTo>
                  <a:pt x="1430592" y="0"/>
                </a:lnTo>
                <a:lnTo>
                  <a:pt x="1351824" y="571330"/>
                </a:lnTo>
                <a:lnTo>
                  <a:pt x="78768" y="571330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4512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061" y="394512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IBM Plex Mono"/>
              </a:rPr>
              <a:t>620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5827" y="451645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50% ↓</a:t>
            </a:r>
          </a:p>
        </p:txBody>
      </p:sp>
      <p:sp>
        <p:nvSpPr>
          <p:cNvPr id="20" name="Freeform 19"/>
          <p:cNvSpPr/>
          <p:nvPr/>
        </p:nvSpPr>
        <p:spPr>
          <a:xfrm>
            <a:off x="5681208" y="4841576"/>
            <a:ext cx="1273056" cy="571330"/>
          </a:xfrm>
          <a:custGeom>
            <a:avLst/>
            <a:gdLst/>
            <a:ahLst/>
            <a:cxnLst/>
            <a:rect l="l" t="t" r="r" b="b"/>
            <a:pathLst>
              <a:path w="1273056" h="571330">
                <a:moveTo>
                  <a:pt x="0" y="0"/>
                </a:moveTo>
                <a:lnTo>
                  <a:pt x="1273056" y="0"/>
                </a:lnTo>
                <a:lnTo>
                  <a:pt x="1240024" y="571330"/>
                </a:lnTo>
                <a:lnTo>
                  <a:pt x="33032" y="571330"/>
                </a:lnTo>
                <a:close/>
              </a:path>
            </a:pathLst>
          </a:custGeom>
          <a:solidFill>
            <a:srgbClr val="75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4157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Negotiation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061" y="484157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IBM Plex Mono"/>
              </a:rPr>
              <a:t>310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5827" y="541290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58% ↓</a:t>
            </a:r>
          </a:p>
        </p:txBody>
      </p:sp>
      <p:sp>
        <p:nvSpPr>
          <p:cNvPr id="24" name="Freeform 23"/>
          <p:cNvSpPr/>
          <p:nvPr/>
        </p:nvSpPr>
        <p:spPr>
          <a:xfrm>
            <a:off x="5714240" y="5738026"/>
            <a:ext cx="1206992" cy="571330"/>
          </a:xfrm>
          <a:custGeom>
            <a:avLst/>
            <a:gdLst/>
            <a:ahLst/>
            <a:cxnLst/>
            <a:rect l="l" t="t" r="r" b="b"/>
            <a:pathLst>
              <a:path w="1206992" h="571330">
                <a:moveTo>
                  <a:pt x="0" y="0"/>
                </a:moveTo>
                <a:lnTo>
                  <a:pt x="1206992" y="0"/>
                </a:lnTo>
                <a:lnTo>
                  <a:pt x="882376" y="571330"/>
                </a:lnTo>
                <a:lnTo>
                  <a:pt x="324616" y="571330"/>
                </a:lnTo>
                <a:close/>
              </a:path>
            </a:pathLst>
          </a:cu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73802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Closed-won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061" y="573802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IBM Plex Mono"/>
              </a:rPr>
              <a:t>180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