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B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48640"/>
            <a:ext cx="11094415" cy="585216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l"/>
            <a:r>
              <a:rPr sz="2400" b="1">
                <a:solidFill>
                  <a:srgbClr val="22201C"/>
                </a:solidFill>
                <a:latin typeface="Instrument Serif"/>
              </a:rPr>
              <a:t>Why is revenue declining?</a:t>
            </a:r>
          </a:p>
        </p:txBody>
      </p:sp>
      <p:sp>
        <p:nvSpPr>
          <p:cNvPr id="3" name="Rectangle 2"/>
          <p:cNvSpPr/>
          <p:nvPr/>
        </p:nvSpPr>
        <p:spPr>
          <a:xfrm>
            <a:off x="7103589" y="1435886"/>
            <a:ext cx="4206632" cy="407537"/>
          </a:xfrm>
          <a:prstGeom prst="rect">
            <a:avLst/>
          </a:prstGeom>
          <a:solidFill>
            <a:srgbClr val="F0EAE1"/>
          </a:solidFill>
          <a:ln w="12700">
            <a:solidFill>
              <a:srgbClr val="9A6B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03589" y="1435886"/>
            <a:ext cx="4206632" cy="407537"/>
          </a:xfrm>
          <a:prstGeom prst="rect">
            <a:avLst/>
          </a:prstGeom>
          <a:noFill/>
        </p:spPr>
        <p:txBody>
          <a:bodyPr wrap="square" lIns="50800" rIns="50800" tIns="25400" bIns="25400" anchor="ctr">
            <a:spAutoFit/>
          </a:bodyPr>
          <a:lstStyle/>
          <a:p>
            <a:pPr algn="l"/>
            <a:r>
              <a:rPr sz="1300" b="0">
                <a:solidFill>
                  <a:srgbClr val="22201C"/>
                </a:solidFill>
                <a:latin typeface="Instrument Sans"/>
              </a:rPr>
              <a:t>Fewer new customers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7103589" y="2284923"/>
            <a:ext cx="4206632" cy="407537"/>
          </a:xfrm>
          <a:prstGeom prst="rect">
            <a:avLst/>
          </a:prstGeom>
          <a:solidFill>
            <a:srgbClr val="F0EAE1"/>
          </a:solidFill>
          <a:ln w="12700">
            <a:solidFill>
              <a:srgbClr val="9A6B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03589" y="2284923"/>
            <a:ext cx="4206632" cy="407537"/>
          </a:xfrm>
          <a:prstGeom prst="rect">
            <a:avLst/>
          </a:prstGeom>
          <a:noFill/>
        </p:spPr>
        <p:txBody>
          <a:bodyPr wrap="square" lIns="50800" rIns="50800" tIns="25400" bIns="25400" anchor="ctr">
            <a:spAutoFit/>
          </a:bodyPr>
          <a:lstStyle/>
          <a:p>
            <a:pPr algn="l"/>
            <a:r>
              <a:rPr sz="1300" b="0">
                <a:solidFill>
                  <a:srgbClr val="22201C"/>
                </a:solidFill>
                <a:latin typeface="Instrument Sans"/>
              </a:rPr>
              <a:t>Higher churn rate</a:t>
            </a:r>
          </a:p>
        </p:txBody>
      </p:sp>
      <p:sp>
        <p:nvSpPr>
          <p:cNvPr id="7" name="Rectangle 6"/>
          <p:cNvSpPr/>
          <p:nvPr/>
        </p:nvSpPr>
        <p:spPr>
          <a:xfrm>
            <a:off x="4246778" y="1860404"/>
            <a:ext cx="2523979" cy="407537"/>
          </a:xfrm>
          <a:prstGeom prst="rect">
            <a:avLst/>
          </a:prstGeom>
          <a:solidFill>
            <a:srgbClr val="F5F3EE"/>
          </a:solidFill>
          <a:ln w="19050">
            <a:solidFill>
              <a:srgbClr val="8B78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46778" y="1860404"/>
            <a:ext cx="2523979" cy="407537"/>
          </a:xfrm>
          <a:prstGeom prst="rect">
            <a:avLst/>
          </a:prstGeom>
          <a:noFill/>
        </p:spPr>
        <p:txBody>
          <a:bodyPr wrap="square" lIns="50800" rIns="50800" tIns="25400" bIns="25400" anchor="ctr">
            <a:spAutoFit/>
          </a:bodyPr>
          <a:lstStyle/>
          <a:p>
            <a:pPr algn="l"/>
            <a:r>
              <a:rPr sz="1600" b="1">
                <a:solidFill>
                  <a:srgbClr val="22201C"/>
                </a:solidFill>
                <a:latin typeface="Instrument Sans"/>
              </a:rPr>
              <a:t>Volume down</a:t>
            </a:r>
          </a:p>
        </p:txBody>
      </p:sp>
      <p:sp>
        <p:nvSpPr>
          <p:cNvPr id="9" name="Rectangle 8"/>
          <p:cNvSpPr/>
          <p:nvPr/>
        </p:nvSpPr>
        <p:spPr>
          <a:xfrm>
            <a:off x="6881701" y="1639654"/>
            <a:ext cx="20320" cy="849037"/>
          </a:xfrm>
          <a:prstGeom prst="rect">
            <a:avLst/>
          </a:prstGeom>
          <a:solidFill>
            <a:srgbClr val="7B7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770757" y="1629494"/>
            <a:ext cx="110944" cy="20320"/>
          </a:xfrm>
          <a:prstGeom prst="rect">
            <a:avLst/>
          </a:prstGeom>
          <a:solidFill>
            <a:srgbClr val="7B7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81701" y="1629494"/>
            <a:ext cx="221888" cy="20320"/>
          </a:xfrm>
          <a:prstGeom prst="rect">
            <a:avLst/>
          </a:prstGeom>
          <a:solidFill>
            <a:srgbClr val="7B7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770757" y="2478531"/>
            <a:ext cx="110944" cy="20320"/>
          </a:xfrm>
          <a:prstGeom prst="rect">
            <a:avLst/>
          </a:prstGeom>
          <a:solidFill>
            <a:srgbClr val="7B7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881701" y="2478531"/>
            <a:ext cx="221888" cy="20320"/>
          </a:xfrm>
          <a:prstGeom prst="rect">
            <a:avLst/>
          </a:prstGeom>
          <a:solidFill>
            <a:srgbClr val="7B7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103589" y="3133960"/>
            <a:ext cx="4206632" cy="407537"/>
          </a:xfrm>
          <a:prstGeom prst="rect">
            <a:avLst/>
          </a:prstGeom>
          <a:solidFill>
            <a:srgbClr val="F0EAE1"/>
          </a:solidFill>
          <a:ln w="12700">
            <a:solidFill>
              <a:srgbClr val="9A6B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03589" y="3133960"/>
            <a:ext cx="4206632" cy="407537"/>
          </a:xfrm>
          <a:prstGeom prst="rect">
            <a:avLst/>
          </a:prstGeom>
          <a:noFill/>
        </p:spPr>
        <p:txBody>
          <a:bodyPr wrap="square" lIns="50800" rIns="50800" tIns="25400" bIns="25400" anchor="ctr">
            <a:spAutoFit/>
          </a:bodyPr>
          <a:lstStyle/>
          <a:p>
            <a:pPr algn="l"/>
            <a:r>
              <a:rPr sz="1300" b="0">
                <a:solidFill>
                  <a:srgbClr val="22201C"/>
                </a:solidFill>
                <a:latin typeface="Instrument Sans"/>
              </a:rPr>
              <a:t>Discount pressure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103589" y="3982997"/>
            <a:ext cx="4206632" cy="407537"/>
          </a:xfrm>
          <a:prstGeom prst="rect">
            <a:avLst/>
          </a:prstGeom>
          <a:solidFill>
            <a:srgbClr val="F0EAE1"/>
          </a:solidFill>
          <a:ln w="12700">
            <a:solidFill>
              <a:srgbClr val="9A6B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103589" y="3982997"/>
            <a:ext cx="4206632" cy="407537"/>
          </a:xfrm>
          <a:prstGeom prst="rect">
            <a:avLst/>
          </a:prstGeom>
          <a:noFill/>
        </p:spPr>
        <p:txBody>
          <a:bodyPr wrap="square" lIns="50800" rIns="50800" tIns="25400" bIns="25400" anchor="ctr">
            <a:spAutoFit/>
          </a:bodyPr>
          <a:lstStyle/>
          <a:p>
            <a:pPr algn="l"/>
            <a:r>
              <a:rPr sz="1300" b="0">
                <a:solidFill>
                  <a:srgbClr val="22201C"/>
                </a:solidFill>
                <a:latin typeface="Instrument Sans"/>
              </a:rPr>
              <a:t>Mix shift to low-tier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46778" y="3558478"/>
            <a:ext cx="2523979" cy="407537"/>
          </a:xfrm>
          <a:prstGeom prst="rect">
            <a:avLst/>
          </a:prstGeom>
          <a:solidFill>
            <a:srgbClr val="F5F3EE"/>
          </a:solidFill>
          <a:ln w="19050">
            <a:solidFill>
              <a:srgbClr val="8B78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246778" y="3558478"/>
            <a:ext cx="2523979" cy="407537"/>
          </a:xfrm>
          <a:prstGeom prst="rect">
            <a:avLst/>
          </a:prstGeom>
          <a:noFill/>
        </p:spPr>
        <p:txBody>
          <a:bodyPr wrap="square" lIns="50800" rIns="50800" tIns="25400" bIns="25400" anchor="ctr">
            <a:spAutoFit/>
          </a:bodyPr>
          <a:lstStyle/>
          <a:p>
            <a:pPr algn="l"/>
            <a:r>
              <a:rPr sz="1600" b="1">
                <a:solidFill>
                  <a:srgbClr val="22201C"/>
                </a:solidFill>
                <a:latin typeface="Instrument Sans"/>
              </a:rPr>
              <a:t>Price down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881701" y="3337728"/>
            <a:ext cx="20320" cy="849037"/>
          </a:xfrm>
          <a:prstGeom prst="rect">
            <a:avLst/>
          </a:prstGeom>
          <a:solidFill>
            <a:srgbClr val="7B7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770757" y="3327568"/>
            <a:ext cx="110944" cy="20320"/>
          </a:xfrm>
          <a:prstGeom prst="rect">
            <a:avLst/>
          </a:prstGeom>
          <a:solidFill>
            <a:srgbClr val="7B7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881701" y="3327568"/>
            <a:ext cx="221888" cy="20320"/>
          </a:xfrm>
          <a:prstGeom prst="rect">
            <a:avLst/>
          </a:prstGeom>
          <a:solidFill>
            <a:srgbClr val="7B7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770757" y="4176605"/>
            <a:ext cx="110944" cy="20320"/>
          </a:xfrm>
          <a:prstGeom prst="rect">
            <a:avLst/>
          </a:prstGeom>
          <a:solidFill>
            <a:srgbClr val="7B7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881701" y="4176605"/>
            <a:ext cx="221888" cy="20320"/>
          </a:xfrm>
          <a:prstGeom prst="rect">
            <a:avLst/>
          </a:prstGeom>
          <a:solidFill>
            <a:srgbClr val="7B7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103589" y="4832034"/>
            <a:ext cx="4206632" cy="407537"/>
          </a:xfrm>
          <a:prstGeom prst="rect">
            <a:avLst/>
          </a:prstGeom>
          <a:solidFill>
            <a:srgbClr val="F0EAE1"/>
          </a:solidFill>
          <a:ln w="12700">
            <a:solidFill>
              <a:srgbClr val="9A6B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103589" y="4832034"/>
            <a:ext cx="4206632" cy="407537"/>
          </a:xfrm>
          <a:prstGeom prst="rect">
            <a:avLst/>
          </a:prstGeom>
          <a:noFill/>
        </p:spPr>
        <p:txBody>
          <a:bodyPr wrap="square" lIns="50800" rIns="50800" tIns="25400" bIns="25400" anchor="ctr">
            <a:spAutoFit/>
          </a:bodyPr>
          <a:lstStyle/>
          <a:p>
            <a:pPr algn="l"/>
            <a:r>
              <a:rPr sz="1300" b="0">
                <a:solidFill>
                  <a:srgbClr val="22201C"/>
                </a:solidFill>
                <a:latin typeface="Instrument Sans"/>
              </a:rPr>
              <a:t>Feature gaps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103589" y="5681071"/>
            <a:ext cx="4206632" cy="407537"/>
          </a:xfrm>
          <a:prstGeom prst="rect">
            <a:avLst/>
          </a:prstGeom>
          <a:solidFill>
            <a:srgbClr val="F0EAE1"/>
          </a:solidFill>
          <a:ln w="12700">
            <a:solidFill>
              <a:srgbClr val="9A6B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103589" y="5681071"/>
            <a:ext cx="4206632" cy="407537"/>
          </a:xfrm>
          <a:prstGeom prst="rect">
            <a:avLst/>
          </a:prstGeom>
          <a:noFill/>
        </p:spPr>
        <p:txBody>
          <a:bodyPr wrap="square" lIns="50800" rIns="50800" tIns="25400" bIns="25400" anchor="ctr">
            <a:spAutoFit/>
          </a:bodyPr>
          <a:lstStyle/>
          <a:p>
            <a:pPr algn="l"/>
            <a:r>
              <a:rPr sz="1300" b="0">
                <a:solidFill>
                  <a:srgbClr val="22201C"/>
                </a:solidFill>
                <a:latin typeface="Instrument Sans"/>
              </a:rPr>
              <a:t>Quality/bugs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246778" y="5256552"/>
            <a:ext cx="2523979" cy="407537"/>
          </a:xfrm>
          <a:prstGeom prst="rect">
            <a:avLst/>
          </a:prstGeom>
          <a:solidFill>
            <a:srgbClr val="F5F3EE"/>
          </a:solidFill>
          <a:ln w="19050">
            <a:solidFill>
              <a:srgbClr val="8B78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246778" y="5256552"/>
            <a:ext cx="2523979" cy="407537"/>
          </a:xfrm>
          <a:prstGeom prst="rect">
            <a:avLst/>
          </a:prstGeom>
          <a:noFill/>
        </p:spPr>
        <p:txBody>
          <a:bodyPr wrap="square" lIns="50800" rIns="50800" tIns="25400" bIns="25400" anchor="ctr">
            <a:spAutoFit/>
          </a:bodyPr>
          <a:lstStyle/>
          <a:p>
            <a:pPr algn="l"/>
            <a:r>
              <a:rPr sz="1600" b="1">
                <a:solidFill>
                  <a:srgbClr val="22201C"/>
                </a:solidFill>
                <a:latin typeface="Instrument Sans"/>
              </a:rPr>
              <a:t>Product issues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881701" y="5035802"/>
            <a:ext cx="20320" cy="849037"/>
          </a:xfrm>
          <a:prstGeom prst="rect">
            <a:avLst/>
          </a:prstGeom>
          <a:solidFill>
            <a:srgbClr val="7B7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770757" y="5025642"/>
            <a:ext cx="110944" cy="20320"/>
          </a:xfrm>
          <a:prstGeom prst="rect">
            <a:avLst/>
          </a:prstGeom>
          <a:solidFill>
            <a:srgbClr val="7B7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881701" y="5025642"/>
            <a:ext cx="221888" cy="20320"/>
          </a:xfrm>
          <a:prstGeom prst="rect">
            <a:avLst/>
          </a:prstGeom>
          <a:solidFill>
            <a:srgbClr val="7B7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770757" y="5874679"/>
            <a:ext cx="110944" cy="20320"/>
          </a:xfrm>
          <a:prstGeom prst="rect">
            <a:avLst/>
          </a:prstGeom>
          <a:solidFill>
            <a:srgbClr val="7B7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881701" y="5874679"/>
            <a:ext cx="221888" cy="20320"/>
          </a:xfrm>
          <a:prstGeom prst="rect">
            <a:avLst/>
          </a:prstGeom>
          <a:solidFill>
            <a:srgbClr val="7B7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548640" y="3558478"/>
            <a:ext cx="3365306" cy="407537"/>
          </a:xfrm>
          <a:prstGeom prst="roundRect">
            <a:avLst/>
          </a:prstGeom>
          <a:solidFill>
            <a:srgbClr val="7C85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48640" y="3558478"/>
            <a:ext cx="3365306" cy="407537"/>
          </a:xfrm>
          <a:prstGeom prst="rect">
            <a:avLst/>
          </a:prstGeom>
          <a:noFill/>
        </p:spPr>
        <p:txBody>
          <a:bodyPr wrap="square" lIns="50800" rIns="50800" tIns="25400" bIns="25400" anchor="ctr">
            <a:spAutoFit/>
          </a:bodyPr>
          <a:lstStyle/>
          <a:p>
            <a:pPr algn="ctr"/>
            <a:r>
              <a:rPr sz="1600" b="1">
                <a:solidFill>
                  <a:srgbClr val="FCFBF8"/>
                </a:solidFill>
                <a:latin typeface="Instrument Sans"/>
              </a:rPr>
              <a:t>Revenue decline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024890" y="2064172"/>
            <a:ext cx="20320" cy="3396148"/>
          </a:xfrm>
          <a:prstGeom prst="rect">
            <a:avLst/>
          </a:prstGeom>
          <a:solidFill>
            <a:srgbClr val="7B7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3913946" y="2054012"/>
            <a:ext cx="110944" cy="20320"/>
          </a:xfrm>
          <a:prstGeom prst="rect">
            <a:avLst/>
          </a:prstGeom>
          <a:solidFill>
            <a:srgbClr val="7B7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024890" y="2054012"/>
            <a:ext cx="221888" cy="20320"/>
          </a:xfrm>
          <a:prstGeom prst="rect">
            <a:avLst/>
          </a:prstGeom>
          <a:solidFill>
            <a:srgbClr val="7B7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3913946" y="3752086"/>
            <a:ext cx="110944" cy="20320"/>
          </a:xfrm>
          <a:prstGeom prst="rect">
            <a:avLst/>
          </a:prstGeom>
          <a:solidFill>
            <a:srgbClr val="7B7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024890" y="3752086"/>
            <a:ext cx="221888" cy="20320"/>
          </a:xfrm>
          <a:prstGeom prst="rect">
            <a:avLst/>
          </a:prstGeom>
          <a:solidFill>
            <a:srgbClr val="7B7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3913946" y="5450160"/>
            <a:ext cx="110944" cy="20320"/>
          </a:xfrm>
          <a:prstGeom prst="rect">
            <a:avLst/>
          </a:prstGeom>
          <a:solidFill>
            <a:srgbClr val="7B7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4024890" y="5450160"/>
            <a:ext cx="221888" cy="20320"/>
          </a:xfrm>
          <a:prstGeom prst="rect">
            <a:avLst/>
          </a:prstGeom>
          <a:solidFill>
            <a:srgbClr val="7B7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