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Why is revenue declining?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7103589" y="1515588"/>
            <a:ext cx="4206632" cy="400872"/>
          </a:xfrm>
          <a:prstGeom prst="rect">
            <a:avLst/>
          </a:prstGeom>
          <a:solidFill>
            <a:srgbClr val="071C16"/>
          </a:solidFill>
          <a:ln w="12700">
            <a:solidFill>
              <a:srgbClr val="17B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03589" y="1515588"/>
            <a:ext cx="4206632" cy="40087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Fewer new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3589" y="2350740"/>
            <a:ext cx="4206632" cy="400872"/>
          </a:xfrm>
          <a:prstGeom prst="rect">
            <a:avLst/>
          </a:prstGeom>
          <a:solidFill>
            <a:srgbClr val="071C16"/>
          </a:solidFill>
          <a:ln w="12700">
            <a:solidFill>
              <a:srgbClr val="17B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03589" y="2350740"/>
            <a:ext cx="4206632" cy="40087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Higher churn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46778" y="1933164"/>
            <a:ext cx="2523979" cy="400872"/>
          </a:xfrm>
          <a:prstGeom prst="rect">
            <a:avLst/>
          </a:prstGeom>
          <a:solidFill>
            <a:srgbClr val="061214"/>
          </a:solidFill>
          <a:ln w="19050">
            <a:solidFill>
              <a:srgbClr val="1CC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46778" y="1933164"/>
            <a:ext cx="2523979" cy="40087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Manrope"/>
              </a:rPr>
              <a:t>Volume 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81701" y="1716024"/>
            <a:ext cx="22860" cy="835152"/>
          </a:xfrm>
          <a:prstGeom prst="rect">
            <a:avLst/>
          </a:prstGeom>
          <a:solidFill>
            <a:srgbClr val="7CB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70757" y="1704594"/>
            <a:ext cx="110944" cy="22860"/>
          </a:xfrm>
          <a:prstGeom prst="rect">
            <a:avLst/>
          </a:prstGeom>
          <a:solidFill>
            <a:srgbClr val="7CB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81701" y="1704594"/>
            <a:ext cx="221888" cy="22860"/>
          </a:xfrm>
          <a:prstGeom prst="rect">
            <a:avLst/>
          </a:prstGeom>
          <a:solidFill>
            <a:srgbClr val="7CB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70757" y="2539746"/>
            <a:ext cx="110944" cy="22860"/>
          </a:xfrm>
          <a:prstGeom prst="rect">
            <a:avLst/>
          </a:prstGeom>
          <a:solidFill>
            <a:srgbClr val="7CB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81701" y="2539746"/>
            <a:ext cx="221888" cy="22860"/>
          </a:xfrm>
          <a:prstGeom prst="rect">
            <a:avLst/>
          </a:prstGeom>
          <a:solidFill>
            <a:srgbClr val="7CB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03589" y="3185892"/>
            <a:ext cx="4206632" cy="400872"/>
          </a:xfrm>
          <a:prstGeom prst="rect">
            <a:avLst/>
          </a:prstGeom>
          <a:solidFill>
            <a:srgbClr val="071C16"/>
          </a:solidFill>
          <a:ln w="12700">
            <a:solidFill>
              <a:srgbClr val="17B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3589" y="3185892"/>
            <a:ext cx="4206632" cy="40087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Discount pressure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03589" y="4021044"/>
            <a:ext cx="4206632" cy="400872"/>
          </a:xfrm>
          <a:prstGeom prst="rect">
            <a:avLst/>
          </a:prstGeom>
          <a:solidFill>
            <a:srgbClr val="071C16"/>
          </a:solidFill>
          <a:ln w="12700">
            <a:solidFill>
              <a:srgbClr val="17B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3589" y="4021044"/>
            <a:ext cx="4206632" cy="40087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Mix shift to low-tier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6778" y="3603468"/>
            <a:ext cx="2523979" cy="400872"/>
          </a:xfrm>
          <a:prstGeom prst="rect">
            <a:avLst/>
          </a:prstGeom>
          <a:solidFill>
            <a:srgbClr val="061214"/>
          </a:solidFill>
          <a:ln w="19050">
            <a:solidFill>
              <a:srgbClr val="1CC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6778" y="3603468"/>
            <a:ext cx="2523979" cy="40087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Manrope"/>
              </a:rPr>
              <a:t>Price down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81701" y="3386328"/>
            <a:ext cx="22860" cy="835152"/>
          </a:xfrm>
          <a:prstGeom prst="rect">
            <a:avLst/>
          </a:prstGeom>
          <a:solidFill>
            <a:srgbClr val="7CB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70757" y="3374898"/>
            <a:ext cx="110944" cy="22860"/>
          </a:xfrm>
          <a:prstGeom prst="rect">
            <a:avLst/>
          </a:prstGeom>
          <a:solidFill>
            <a:srgbClr val="7CB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81701" y="3374898"/>
            <a:ext cx="221888" cy="22860"/>
          </a:xfrm>
          <a:prstGeom prst="rect">
            <a:avLst/>
          </a:prstGeom>
          <a:solidFill>
            <a:srgbClr val="7CB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70757" y="4210050"/>
            <a:ext cx="110944" cy="22860"/>
          </a:xfrm>
          <a:prstGeom prst="rect">
            <a:avLst/>
          </a:prstGeom>
          <a:solidFill>
            <a:srgbClr val="7CB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81701" y="4210050"/>
            <a:ext cx="221888" cy="22860"/>
          </a:xfrm>
          <a:prstGeom prst="rect">
            <a:avLst/>
          </a:prstGeom>
          <a:solidFill>
            <a:srgbClr val="7CB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03589" y="4856196"/>
            <a:ext cx="4206632" cy="400872"/>
          </a:xfrm>
          <a:prstGeom prst="rect">
            <a:avLst/>
          </a:prstGeom>
          <a:solidFill>
            <a:srgbClr val="071C16"/>
          </a:solidFill>
          <a:ln w="12700">
            <a:solidFill>
              <a:srgbClr val="17B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3589" y="4856196"/>
            <a:ext cx="4206632" cy="40087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Feature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03589" y="5691348"/>
            <a:ext cx="4206632" cy="400872"/>
          </a:xfrm>
          <a:prstGeom prst="rect">
            <a:avLst/>
          </a:prstGeom>
          <a:solidFill>
            <a:srgbClr val="071C16"/>
          </a:solidFill>
          <a:ln w="12700">
            <a:solidFill>
              <a:srgbClr val="17B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03589" y="5691348"/>
            <a:ext cx="4206632" cy="40087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Quality/bugs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46778" y="5273772"/>
            <a:ext cx="2523979" cy="400872"/>
          </a:xfrm>
          <a:prstGeom prst="rect">
            <a:avLst/>
          </a:prstGeom>
          <a:solidFill>
            <a:srgbClr val="061214"/>
          </a:solidFill>
          <a:ln w="19050">
            <a:solidFill>
              <a:srgbClr val="1CC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6778" y="5273772"/>
            <a:ext cx="2523979" cy="40087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Manrope"/>
              </a:rPr>
              <a:t>Product issues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81701" y="5056632"/>
            <a:ext cx="22860" cy="835152"/>
          </a:xfrm>
          <a:prstGeom prst="rect">
            <a:avLst/>
          </a:prstGeom>
          <a:solidFill>
            <a:srgbClr val="7CB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70757" y="5045202"/>
            <a:ext cx="110944" cy="22860"/>
          </a:xfrm>
          <a:prstGeom prst="rect">
            <a:avLst/>
          </a:prstGeom>
          <a:solidFill>
            <a:srgbClr val="7CB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81701" y="5045202"/>
            <a:ext cx="221888" cy="22860"/>
          </a:xfrm>
          <a:prstGeom prst="rect">
            <a:avLst/>
          </a:prstGeom>
          <a:solidFill>
            <a:srgbClr val="7CB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70757" y="5880354"/>
            <a:ext cx="110944" cy="22860"/>
          </a:xfrm>
          <a:prstGeom prst="rect">
            <a:avLst/>
          </a:prstGeom>
          <a:solidFill>
            <a:srgbClr val="7CB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81701" y="5880354"/>
            <a:ext cx="221888" cy="22860"/>
          </a:xfrm>
          <a:prstGeom prst="rect">
            <a:avLst/>
          </a:prstGeom>
          <a:solidFill>
            <a:srgbClr val="7CB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8640" y="3603468"/>
            <a:ext cx="3365306" cy="400872"/>
          </a:xfrm>
          <a:prstGeom prst="round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603468"/>
            <a:ext cx="3365306" cy="40087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05070A"/>
                </a:solidFill>
                <a:latin typeface="Manrope"/>
              </a:rPr>
              <a:t>Revenue decline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4890" y="2133600"/>
            <a:ext cx="22860" cy="3340608"/>
          </a:xfrm>
          <a:prstGeom prst="rect">
            <a:avLst/>
          </a:prstGeom>
          <a:solidFill>
            <a:srgbClr val="7CB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913946" y="2122170"/>
            <a:ext cx="110944" cy="22860"/>
          </a:xfrm>
          <a:prstGeom prst="rect">
            <a:avLst/>
          </a:prstGeom>
          <a:solidFill>
            <a:srgbClr val="7CB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24890" y="2122170"/>
            <a:ext cx="221888" cy="22860"/>
          </a:xfrm>
          <a:prstGeom prst="rect">
            <a:avLst/>
          </a:prstGeom>
          <a:solidFill>
            <a:srgbClr val="7CB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13946" y="3792474"/>
            <a:ext cx="110944" cy="22860"/>
          </a:xfrm>
          <a:prstGeom prst="rect">
            <a:avLst/>
          </a:prstGeom>
          <a:solidFill>
            <a:srgbClr val="7CB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24890" y="3792474"/>
            <a:ext cx="221888" cy="22860"/>
          </a:xfrm>
          <a:prstGeom prst="rect">
            <a:avLst/>
          </a:prstGeom>
          <a:solidFill>
            <a:srgbClr val="7CB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13946" y="5462778"/>
            <a:ext cx="110944" cy="22860"/>
          </a:xfrm>
          <a:prstGeom prst="rect">
            <a:avLst/>
          </a:prstGeom>
          <a:solidFill>
            <a:srgbClr val="7CB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024890" y="5462778"/>
            <a:ext cx="221888" cy="22860"/>
          </a:xfrm>
          <a:prstGeom prst="rect">
            <a:avLst/>
          </a:prstGeom>
          <a:solidFill>
            <a:srgbClr val="7CB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