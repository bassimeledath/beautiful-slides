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12064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Why is revenue declining?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103589" y="1356184"/>
            <a:ext cx="4206632" cy="414202"/>
          </a:xfrm>
          <a:prstGeom prst="rect">
            <a:avLst/>
          </a:prstGeom>
          <a:solidFill>
            <a:srgbClr val="E1ECE7"/>
          </a:solidFill>
          <a:ln w="12700">
            <a:solidFill>
              <a:srgbClr val="056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03589" y="1356184"/>
            <a:ext cx="4206632" cy="41420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Fewer new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3589" y="2219106"/>
            <a:ext cx="4206632" cy="414202"/>
          </a:xfrm>
          <a:prstGeom prst="rect">
            <a:avLst/>
          </a:prstGeom>
          <a:solidFill>
            <a:srgbClr val="E1ECE7"/>
          </a:solidFill>
          <a:ln w="12700">
            <a:solidFill>
              <a:srgbClr val="056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03589" y="2219106"/>
            <a:ext cx="4206632" cy="41420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Higher churn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46778" y="1787645"/>
            <a:ext cx="2523979" cy="414202"/>
          </a:xfrm>
          <a:prstGeom prst="rect">
            <a:avLst/>
          </a:prstGeom>
          <a:solidFill>
            <a:srgbClr val="F0F5F5"/>
          </a:solidFill>
          <a:ln w="19050">
            <a:solidFill>
              <a:srgbClr val="0A5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46778" y="1787645"/>
            <a:ext cx="2523979" cy="41420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Public Sans"/>
              </a:rPr>
              <a:t>Volume 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81701" y="1563285"/>
            <a:ext cx="19050" cy="862922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70757" y="1553760"/>
            <a:ext cx="110944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81701" y="1553760"/>
            <a:ext cx="221888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70757" y="2416682"/>
            <a:ext cx="110944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81701" y="2416682"/>
            <a:ext cx="221888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03589" y="3082029"/>
            <a:ext cx="4206632" cy="414202"/>
          </a:xfrm>
          <a:prstGeom prst="rect">
            <a:avLst/>
          </a:prstGeom>
          <a:solidFill>
            <a:srgbClr val="E1ECE7"/>
          </a:solidFill>
          <a:ln w="12700">
            <a:solidFill>
              <a:srgbClr val="056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3589" y="3082029"/>
            <a:ext cx="4206632" cy="41420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Discount pressure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3589" y="3944951"/>
            <a:ext cx="4206632" cy="414202"/>
          </a:xfrm>
          <a:prstGeom prst="rect">
            <a:avLst/>
          </a:prstGeom>
          <a:solidFill>
            <a:srgbClr val="E1ECE7"/>
          </a:solidFill>
          <a:ln w="12700">
            <a:solidFill>
              <a:srgbClr val="056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3589" y="3944951"/>
            <a:ext cx="4206632" cy="41420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Mix shift to low-tier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6778" y="3513490"/>
            <a:ext cx="2523979" cy="414202"/>
          </a:xfrm>
          <a:prstGeom prst="rect">
            <a:avLst/>
          </a:prstGeom>
          <a:solidFill>
            <a:srgbClr val="F0F5F5"/>
          </a:solidFill>
          <a:ln w="19050">
            <a:solidFill>
              <a:srgbClr val="0A5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6778" y="3513490"/>
            <a:ext cx="2523979" cy="41420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Public Sans"/>
              </a:rPr>
              <a:t>Price down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81701" y="3289130"/>
            <a:ext cx="19050" cy="862922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70757" y="3279605"/>
            <a:ext cx="110944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81701" y="3279605"/>
            <a:ext cx="221888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70757" y="4142527"/>
            <a:ext cx="110944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81701" y="4142527"/>
            <a:ext cx="221888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03589" y="4807874"/>
            <a:ext cx="4206632" cy="414202"/>
          </a:xfrm>
          <a:prstGeom prst="rect">
            <a:avLst/>
          </a:prstGeom>
          <a:solidFill>
            <a:srgbClr val="E1ECE7"/>
          </a:solidFill>
          <a:ln w="12700">
            <a:solidFill>
              <a:srgbClr val="056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3589" y="4807874"/>
            <a:ext cx="4206632" cy="41420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Feature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03589" y="5670796"/>
            <a:ext cx="4206632" cy="414202"/>
          </a:xfrm>
          <a:prstGeom prst="rect">
            <a:avLst/>
          </a:prstGeom>
          <a:solidFill>
            <a:srgbClr val="E1ECE7"/>
          </a:solidFill>
          <a:ln w="12700">
            <a:solidFill>
              <a:srgbClr val="056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03589" y="5670796"/>
            <a:ext cx="4206632" cy="41420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Quality/bugs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46778" y="5239335"/>
            <a:ext cx="2523979" cy="414202"/>
          </a:xfrm>
          <a:prstGeom prst="rect">
            <a:avLst/>
          </a:prstGeom>
          <a:solidFill>
            <a:srgbClr val="F0F5F5"/>
          </a:solidFill>
          <a:ln w="19050">
            <a:solidFill>
              <a:srgbClr val="0A5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6778" y="5239335"/>
            <a:ext cx="2523979" cy="41420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Public Sans"/>
              </a:rPr>
              <a:t>Product issues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81701" y="5014975"/>
            <a:ext cx="19050" cy="862922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70757" y="5005450"/>
            <a:ext cx="110944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81701" y="5005450"/>
            <a:ext cx="221888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70757" y="5868372"/>
            <a:ext cx="110944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81701" y="5868372"/>
            <a:ext cx="221888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3513490"/>
            <a:ext cx="3365306" cy="414202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513490"/>
            <a:ext cx="3365306" cy="41420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ublic Sans"/>
              </a:rPr>
              <a:t>Revenue decline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4890" y="1994746"/>
            <a:ext cx="19050" cy="345169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913946" y="1985221"/>
            <a:ext cx="110944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24890" y="1985221"/>
            <a:ext cx="221888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13946" y="3711066"/>
            <a:ext cx="110944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24890" y="3711066"/>
            <a:ext cx="221888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13946" y="5436911"/>
            <a:ext cx="110944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24890" y="5436911"/>
            <a:ext cx="221888" cy="19050"/>
          </a:xfrm>
          <a:prstGeom prst="rect">
            <a:avLst/>
          </a:prstGeom>
          <a:solidFill>
            <a:srgbClr val="39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