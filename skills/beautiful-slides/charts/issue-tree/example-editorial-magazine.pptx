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Why is revenue declining?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7103589" y="1435886"/>
            <a:ext cx="4206632" cy="407537"/>
          </a:xfrm>
          <a:prstGeom prst="rect">
            <a:avLst/>
          </a:prstGeom>
          <a:solidFill>
            <a:srgbClr val="EBDFCC"/>
          </a:solidFill>
          <a:ln w="12700">
            <a:solidFill>
              <a:srgbClr val="9C5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03589" y="1435886"/>
            <a:ext cx="4206632" cy="407537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300" b="0">
                <a:solidFill>
                  <a:srgbClr val="181514"/>
                </a:solidFill>
                <a:latin typeface="Newsreader"/>
              </a:rPr>
              <a:t>Fewer new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3589" y="2284923"/>
            <a:ext cx="4206632" cy="407537"/>
          </a:xfrm>
          <a:prstGeom prst="rect">
            <a:avLst/>
          </a:prstGeom>
          <a:solidFill>
            <a:srgbClr val="EBDFCC"/>
          </a:solidFill>
          <a:ln w="12700">
            <a:solidFill>
              <a:srgbClr val="9C5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03589" y="2284923"/>
            <a:ext cx="4206632" cy="407537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300" b="0">
                <a:solidFill>
                  <a:srgbClr val="181514"/>
                </a:solidFill>
                <a:latin typeface="Newsreader"/>
              </a:rPr>
              <a:t>Higher churn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46778" y="1860404"/>
            <a:ext cx="2523979" cy="407537"/>
          </a:xfrm>
          <a:prstGeom prst="rect">
            <a:avLst/>
          </a:prstGeom>
          <a:solidFill>
            <a:srgbClr val="F0E7DC"/>
          </a:solidFill>
          <a:ln w="19050">
            <a:solidFill>
              <a:srgbClr val="944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46778" y="1860404"/>
            <a:ext cx="2523979" cy="407537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600" b="1">
                <a:solidFill>
                  <a:srgbClr val="181514"/>
                </a:solidFill>
                <a:latin typeface="Newsreader"/>
              </a:rPr>
              <a:t>Volume 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81701" y="1639654"/>
            <a:ext cx="20320" cy="849037"/>
          </a:xfrm>
          <a:prstGeom prst="rect">
            <a:avLst/>
          </a:prstGeom>
          <a:solidFill>
            <a:srgbClr val="765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70757" y="1629494"/>
            <a:ext cx="110944" cy="20320"/>
          </a:xfrm>
          <a:prstGeom prst="rect">
            <a:avLst/>
          </a:prstGeom>
          <a:solidFill>
            <a:srgbClr val="765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81701" y="1629494"/>
            <a:ext cx="221888" cy="20320"/>
          </a:xfrm>
          <a:prstGeom prst="rect">
            <a:avLst/>
          </a:prstGeom>
          <a:solidFill>
            <a:srgbClr val="765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70757" y="2478531"/>
            <a:ext cx="110944" cy="20320"/>
          </a:xfrm>
          <a:prstGeom prst="rect">
            <a:avLst/>
          </a:prstGeom>
          <a:solidFill>
            <a:srgbClr val="765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81701" y="2478531"/>
            <a:ext cx="221888" cy="20320"/>
          </a:xfrm>
          <a:prstGeom prst="rect">
            <a:avLst/>
          </a:prstGeom>
          <a:solidFill>
            <a:srgbClr val="765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03589" y="3133960"/>
            <a:ext cx="4206632" cy="407537"/>
          </a:xfrm>
          <a:prstGeom prst="rect">
            <a:avLst/>
          </a:prstGeom>
          <a:solidFill>
            <a:srgbClr val="EBDFCC"/>
          </a:solidFill>
          <a:ln w="12700">
            <a:solidFill>
              <a:srgbClr val="9C5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3589" y="3133960"/>
            <a:ext cx="4206632" cy="407537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300" b="0">
                <a:solidFill>
                  <a:srgbClr val="181514"/>
                </a:solidFill>
                <a:latin typeface="Newsreader"/>
              </a:rPr>
              <a:t>Discount pressure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03589" y="3982997"/>
            <a:ext cx="4206632" cy="407537"/>
          </a:xfrm>
          <a:prstGeom prst="rect">
            <a:avLst/>
          </a:prstGeom>
          <a:solidFill>
            <a:srgbClr val="EBDFCC"/>
          </a:solidFill>
          <a:ln w="12700">
            <a:solidFill>
              <a:srgbClr val="9C5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3589" y="3982997"/>
            <a:ext cx="4206632" cy="407537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300" b="0">
                <a:solidFill>
                  <a:srgbClr val="181514"/>
                </a:solidFill>
                <a:latin typeface="Newsreader"/>
              </a:rPr>
              <a:t>Mix shift to low-tier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6778" y="3558478"/>
            <a:ext cx="2523979" cy="407537"/>
          </a:xfrm>
          <a:prstGeom prst="rect">
            <a:avLst/>
          </a:prstGeom>
          <a:solidFill>
            <a:srgbClr val="F0E7DC"/>
          </a:solidFill>
          <a:ln w="19050">
            <a:solidFill>
              <a:srgbClr val="944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6778" y="3558478"/>
            <a:ext cx="2523979" cy="407537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600" b="1">
                <a:solidFill>
                  <a:srgbClr val="181514"/>
                </a:solidFill>
                <a:latin typeface="Newsreader"/>
              </a:rPr>
              <a:t>Price down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81701" y="3337728"/>
            <a:ext cx="20320" cy="849037"/>
          </a:xfrm>
          <a:prstGeom prst="rect">
            <a:avLst/>
          </a:prstGeom>
          <a:solidFill>
            <a:srgbClr val="765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70757" y="3327568"/>
            <a:ext cx="110944" cy="20320"/>
          </a:xfrm>
          <a:prstGeom prst="rect">
            <a:avLst/>
          </a:prstGeom>
          <a:solidFill>
            <a:srgbClr val="765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81701" y="3327568"/>
            <a:ext cx="221888" cy="20320"/>
          </a:xfrm>
          <a:prstGeom prst="rect">
            <a:avLst/>
          </a:prstGeom>
          <a:solidFill>
            <a:srgbClr val="765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70757" y="4176605"/>
            <a:ext cx="110944" cy="20320"/>
          </a:xfrm>
          <a:prstGeom prst="rect">
            <a:avLst/>
          </a:prstGeom>
          <a:solidFill>
            <a:srgbClr val="765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81701" y="4176605"/>
            <a:ext cx="221888" cy="20320"/>
          </a:xfrm>
          <a:prstGeom prst="rect">
            <a:avLst/>
          </a:prstGeom>
          <a:solidFill>
            <a:srgbClr val="765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03589" y="4832034"/>
            <a:ext cx="4206632" cy="407537"/>
          </a:xfrm>
          <a:prstGeom prst="rect">
            <a:avLst/>
          </a:prstGeom>
          <a:solidFill>
            <a:srgbClr val="EBDFCC"/>
          </a:solidFill>
          <a:ln w="12700">
            <a:solidFill>
              <a:srgbClr val="9C5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3589" y="4832034"/>
            <a:ext cx="4206632" cy="407537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300" b="0">
                <a:solidFill>
                  <a:srgbClr val="181514"/>
                </a:solidFill>
                <a:latin typeface="Newsreader"/>
              </a:rPr>
              <a:t>Feature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03589" y="5681071"/>
            <a:ext cx="4206632" cy="407537"/>
          </a:xfrm>
          <a:prstGeom prst="rect">
            <a:avLst/>
          </a:prstGeom>
          <a:solidFill>
            <a:srgbClr val="EBDFCC"/>
          </a:solidFill>
          <a:ln w="12700">
            <a:solidFill>
              <a:srgbClr val="9C5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03589" y="5681071"/>
            <a:ext cx="4206632" cy="407537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300" b="0">
                <a:solidFill>
                  <a:srgbClr val="181514"/>
                </a:solidFill>
                <a:latin typeface="Newsreader"/>
              </a:rPr>
              <a:t>Quality/bugs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46778" y="5256552"/>
            <a:ext cx="2523979" cy="407537"/>
          </a:xfrm>
          <a:prstGeom prst="rect">
            <a:avLst/>
          </a:prstGeom>
          <a:solidFill>
            <a:srgbClr val="F0E7DC"/>
          </a:solidFill>
          <a:ln w="19050">
            <a:solidFill>
              <a:srgbClr val="944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6778" y="5256552"/>
            <a:ext cx="2523979" cy="407537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600" b="1">
                <a:solidFill>
                  <a:srgbClr val="181514"/>
                </a:solidFill>
                <a:latin typeface="Newsreader"/>
              </a:rPr>
              <a:t>Product issues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81701" y="5035802"/>
            <a:ext cx="20320" cy="849037"/>
          </a:xfrm>
          <a:prstGeom prst="rect">
            <a:avLst/>
          </a:prstGeom>
          <a:solidFill>
            <a:srgbClr val="765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70757" y="5025642"/>
            <a:ext cx="110944" cy="20320"/>
          </a:xfrm>
          <a:prstGeom prst="rect">
            <a:avLst/>
          </a:prstGeom>
          <a:solidFill>
            <a:srgbClr val="765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81701" y="5025642"/>
            <a:ext cx="221888" cy="20320"/>
          </a:xfrm>
          <a:prstGeom prst="rect">
            <a:avLst/>
          </a:prstGeom>
          <a:solidFill>
            <a:srgbClr val="765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70757" y="5874679"/>
            <a:ext cx="110944" cy="20320"/>
          </a:xfrm>
          <a:prstGeom prst="rect">
            <a:avLst/>
          </a:prstGeom>
          <a:solidFill>
            <a:srgbClr val="765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81701" y="5874679"/>
            <a:ext cx="221888" cy="20320"/>
          </a:xfrm>
          <a:prstGeom prst="rect">
            <a:avLst/>
          </a:prstGeom>
          <a:solidFill>
            <a:srgbClr val="765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8640" y="3558478"/>
            <a:ext cx="3365306" cy="407537"/>
          </a:xfrm>
          <a:prstGeom prst="round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558478"/>
            <a:ext cx="3365306" cy="407537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6F1E8"/>
                </a:solidFill>
                <a:latin typeface="Newsreader"/>
              </a:rPr>
              <a:t>Revenue decline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4890" y="2064172"/>
            <a:ext cx="20320" cy="3396148"/>
          </a:xfrm>
          <a:prstGeom prst="rect">
            <a:avLst/>
          </a:prstGeom>
          <a:solidFill>
            <a:srgbClr val="765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913946" y="2054012"/>
            <a:ext cx="110944" cy="20320"/>
          </a:xfrm>
          <a:prstGeom prst="rect">
            <a:avLst/>
          </a:prstGeom>
          <a:solidFill>
            <a:srgbClr val="765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24890" y="2054012"/>
            <a:ext cx="221888" cy="20320"/>
          </a:xfrm>
          <a:prstGeom prst="rect">
            <a:avLst/>
          </a:prstGeom>
          <a:solidFill>
            <a:srgbClr val="765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13946" y="3752086"/>
            <a:ext cx="110944" cy="20320"/>
          </a:xfrm>
          <a:prstGeom prst="rect">
            <a:avLst/>
          </a:prstGeom>
          <a:solidFill>
            <a:srgbClr val="765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24890" y="3752086"/>
            <a:ext cx="221888" cy="20320"/>
          </a:xfrm>
          <a:prstGeom prst="rect">
            <a:avLst/>
          </a:prstGeom>
          <a:solidFill>
            <a:srgbClr val="765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13946" y="5450160"/>
            <a:ext cx="110944" cy="20320"/>
          </a:xfrm>
          <a:prstGeom prst="rect">
            <a:avLst/>
          </a:prstGeom>
          <a:solidFill>
            <a:srgbClr val="765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024890" y="5450160"/>
            <a:ext cx="221888" cy="20320"/>
          </a:xfrm>
          <a:prstGeom prst="rect">
            <a:avLst/>
          </a:prstGeom>
          <a:solidFill>
            <a:srgbClr val="765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