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22201C"/>
                </a:solidFill>
                <a:latin typeface="Instrument Serif"/>
              </a:rPr>
              <a:t>Q2 program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7819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Budget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318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12818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0317" y="914400"/>
            <a:ext cx="1812737" cy="3657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000" b="1">
                <a:solidFill>
                  <a:srgbClr val="22201C"/>
                </a:solidFill>
                <a:latin typeface="Instrument Sans"/>
              </a:rPr>
              <a:t>Dependencies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Auth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8193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Payment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836227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Analytics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614261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Mobile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392294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70328"/>
            <a:ext cx="1950720" cy="7732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22201C"/>
                </a:solidFill>
                <a:latin typeface="Instrument Sans"/>
              </a:rPr>
              <a:t>Documentation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1280160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Oval 15"/>
          <p:cNvSpPr/>
          <p:nvPr/>
        </p:nvSpPr>
        <p:spPr>
          <a:xfrm>
            <a:off x="3304301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560320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7819" y="1280160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Oval 18"/>
          <p:cNvSpPr/>
          <p:nvPr/>
        </p:nvSpPr>
        <p:spPr>
          <a:xfrm>
            <a:off x="5121801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77819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5318" y="1280160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Oval 21"/>
          <p:cNvSpPr/>
          <p:nvPr/>
        </p:nvSpPr>
        <p:spPr>
          <a:xfrm>
            <a:off x="6939300" y="1396150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95318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2818" y="1280160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Oval 24"/>
          <p:cNvSpPr/>
          <p:nvPr/>
        </p:nvSpPr>
        <p:spPr>
          <a:xfrm>
            <a:off x="8756799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012818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30317" y="1280160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Oval 27"/>
          <p:cNvSpPr/>
          <p:nvPr/>
        </p:nvSpPr>
        <p:spPr>
          <a:xfrm>
            <a:off x="10574299" y="1396150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830317" y="1720924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560320" y="2058193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Oval 30"/>
          <p:cNvSpPr/>
          <p:nvPr/>
        </p:nvSpPr>
        <p:spPr>
          <a:xfrm>
            <a:off x="3304301" y="2174184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560320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77819" y="2058193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Oval 33"/>
          <p:cNvSpPr/>
          <p:nvPr/>
        </p:nvSpPr>
        <p:spPr>
          <a:xfrm>
            <a:off x="5121801" y="2174184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377819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95318" y="2058193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Oval 36"/>
          <p:cNvSpPr/>
          <p:nvPr/>
        </p:nvSpPr>
        <p:spPr>
          <a:xfrm>
            <a:off x="6939300" y="2174184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195318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12818" y="2058193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Oval 39"/>
          <p:cNvSpPr/>
          <p:nvPr/>
        </p:nvSpPr>
        <p:spPr>
          <a:xfrm>
            <a:off x="8756799" y="2174184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012818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30317" y="2058193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Oval 42"/>
          <p:cNvSpPr/>
          <p:nvPr/>
        </p:nvSpPr>
        <p:spPr>
          <a:xfrm>
            <a:off x="10574299" y="2174184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830317" y="2498958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R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560320" y="2836227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Oval 45"/>
          <p:cNvSpPr/>
          <p:nvPr/>
        </p:nvSpPr>
        <p:spPr>
          <a:xfrm>
            <a:off x="3304301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2560320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77819" y="2836227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Oval 48"/>
          <p:cNvSpPr/>
          <p:nvPr/>
        </p:nvSpPr>
        <p:spPr>
          <a:xfrm>
            <a:off x="5121801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377819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95318" y="2836227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2" name="Oval 51"/>
          <p:cNvSpPr/>
          <p:nvPr/>
        </p:nvSpPr>
        <p:spPr>
          <a:xfrm>
            <a:off x="6939300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95318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12818" y="2836227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5" name="Oval 54"/>
          <p:cNvSpPr/>
          <p:nvPr/>
        </p:nvSpPr>
        <p:spPr>
          <a:xfrm>
            <a:off x="8756799" y="2952218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12818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30317" y="2836227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8" name="Oval 57"/>
          <p:cNvSpPr/>
          <p:nvPr/>
        </p:nvSpPr>
        <p:spPr>
          <a:xfrm>
            <a:off x="10574299" y="2952218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830317" y="3276992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560320" y="3614261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1" name="Oval 60"/>
          <p:cNvSpPr/>
          <p:nvPr/>
        </p:nvSpPr>
        <p:spPr>
          <a:xfrm>
            <a:off x="3304301" y="3730251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2560320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R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377819" y="3614261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4" name="Oval 63"/>
          <p:cNvSpPr/>
          <p:nvPr/>
        </p:nvSpPr>
        <p:spPr>
          <a:xfrm>
            <a:off x="5121801" y="3730251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377819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95318" y="3614261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7" name="Oval 66"/>
          <p:cNvSpPr/>
          <p:nvPr/>
        </p:nvSpPr>
        <p:spPr>
          <a:xfrm>
            <a:off x="6939300" y="3730251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195318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12818" y="3614261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0" name="Oval 69"/>
          <p:cNvSpPr/>
          <p:nvPr/>
        </p:nvSpPr>
        <p:spPr>
          <a:xfrm>
            <a:off x="8756799" y="3730251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8012818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R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830317" y="3614261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3" name="Oval 72"/>
          <p:cNvSpPr/>
          <p:nvPr/>
        </p:nvSpPr>
        <p:spPr>
          <a:xfrm>
            <a:off x="10574299" y="3730251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830317" y="4055025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560320" y="4392294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6" name="Oval 75"/>
          <p:cNvSpPr/>
          <p:nvPr/>
        </p:nvSpPr>
        <p:spPr>
          <a:xfrm>
            <a:off x="3304301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2560320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77819" y="4392294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9" name="Oval 78"/>
          <p:cNvSpPr/>
          <p:nvPr/>
        </p:nvSpPr>
        <p:spPr>
          <a:xfrm>
            <a:off x="5121801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4377819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195318" y="4392294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2" name="Oval 81"/>
          <p:cNvSpPr/>
          <p:nvPr/>
        </p:nvSpPr>
        <p:spPr>
          <a:xfrm>
            <a:off x="6939300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195318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8012818" y="4392294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5" name="Oval 84"/>
          <p:cNvSpPr/>
          <p:nvPr/>
        </p:nvSpPr>
        <p:spPr>
          <a:xfrm>
            <a:off x="8756799" y="4508285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012818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830317" y="4392294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8" name="Oval 87"/>
          <p:cNvSpPr/>
          <p:nvPr/>
        </p:nvSpPr>
        <p:spPr>
          <a:xfrm>
            <a:off x="10574299" y="4508285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9830317" y="4833059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2560320" y="5170328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1" name="Oval 90"/>
          <p:cNvSpPr/>
          <p:nvPr/>
        </p:nvSpPr>
        <p:spPr>
          <a:xfrm>
            <a:off x="3304301" y="5286319"/>
            <a:ext cx="324774" cy="32477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560320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A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77819" y="5170328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4" name="Oval 93"/>
          <p:cNvSpPr/>
          <p:nvPr/>
        </p:nvSpPr>
        <p:spPr>
          <a:xfrm>
            <a:off x="5121801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TextBox 94"/>
          <p:cNvSpPr txBox="1"/>
          <p:nvPr/>
        </p:nvSpPr>
        <p:spPr>
          <a:xfrm>
            <a:off x="4377819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195318" y="5170328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7" name="Oval 96"/>
          <p:cNvSpPr/>
          <p:nvPr/>
        </p:nvSpPr>
        <p:spPr>
          <a:xfrm>
            <a:off x="6939300" y="5286319"/>
            <a:ext cx="324774" cy="324774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6195318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R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8012818" y="5170328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0" name="Oval 99"/>
          <p:cNvSpPr/>
          <p:nvPr/>
        </p:nvSpPr>
        <p:spPr>
          <a:xfrm>
            <a:off x="8756799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TextBox 100"/>
          <p:cNvSpPr txBox="1"/>
          <p:nvPr/>
        </p:nvSpPr>
        <p:spPr>
          <a:xfrm>
            <a:off x="8012818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9830317" y="5170328"/>
            <a:ext cx="1812737" cy="773271"/>
          </a:xfrm>
          <a:prstGeom prst="roundRect">
            <a:avLst>
              <a:gd name="adj" fmla="val 2463"/>
            </a:avLst>
          </a:prstGeom>
          <a:solidFill>
            <a:srgbClr val="FCFBF8"/>
          </a:solidFill>
          <a:ln w="2381">
            <a:solidFill>
              <a:srgbClr val="7B77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3" name="Oval 102"/>
          <p:cNvSpPr/>
          <p:nvPr/>
        </p:nvSpPr>
        <p:spPr>
          <a:xfrm>
            <a:off x="10574299" y="5286319"/>
            <a:ext cx="324774" cy="324774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9830317" y="5611093"/>
            <a:ext cx="1812737" cy="332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22201C"/>
                </a:solidFill>
                <a:latin typeface="Instrument Sans"/>
              </a:rPr>
              <a:t>G</a:t>
            </a:r>
          </a:p>
        </p:txBody>
      </p:sp>
      <p:sp>
        <p:nvSpPr>
          <p:cNvPr id="105" name="Oval 104"/>
          <p:cNvSpPr/>
          <p:nvPr/>
        </p:nvSpPr>
        <p:spPr>
          <a:xfrm>
            <a:off x="2560320" y="6065520"/>
            <a:ext cx="121920" cy="121920"/>
          </a:xfrm>
          <a:prstGeom prst="ellipse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TextBox 105"/>
          <p:cNvSpPr txBox="1"/>
          <p:nvPr/>
        </p:nvSpPr>
        <p:spPr>
          <a:xfrm>
            <a:off x="2743200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Red / At Risk</a:t>
            </a:r>
          </a:p>
        </p:txBody>
      </p:sp>
      <p:sp>
        <p:nvSpPr>
          <p:cNvPr id="107" name="Oval 106"/>
          <p:cNvSpPr/>
          <p:nvPr/>
        </p:nvSpPr>
        <p:spPr>
          <a:xfrm>
            <a:off x="5587898" y="6065520"/>
            <a:ext cx="121920" cy="121920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5770778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Amber / Caution</a:t>
            </a:r>
          </a:p>
        </p:txBody>
      </p:sp>
      <p:sp>
        <p:nvSpPr>
          <p:cNvPr id="109" name="Oval 108"/>
          <p:cNvSpPr/>
          <p:nvPr/>
        </p:nvSpPr>
        <p:spPr>
          <a:xfrm>
            <a:off x="8615476" y="6065520"/>
            <a:ext cx="121920" cy="121920"/>
          </a:xfrm>
          <a:prstGeom prst="ellipse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8798356" y="5943600"/>
            <a:ext cx="284469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22201C"/>
                </a:solidFill>
                <a:latin typeface="Instrument Sans"/>
              </a:rPr>
              <a:t>Green / On Track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