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Public Sans"/>
              </a:rPr>
              <a:t>Q2 program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08860" y="873760"/>
            <a:ext cx="1863029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101828"/>
                </a:solidFill>
                <a:latin typeface="Public Sans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6651" y="873760"/>
            <a:ext cx="1863029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101828"/>
                </a:solidFill>
                <a:latin typeface="Public Sans"/>
              </a:rPr>
              <a:t>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44442" y="873760"/>
            <a:ext cx="1863029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101828"/>
                </a:solidFill>
                <a:latin typeface="Public Sans"/>
              </a:rPr>
              <a:t>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12234" y="873760"/>
            <a:ext cx="1863029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101828"/>
                </a:solidFill>
                <a:latin typeface="Public Sans"/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0025" y="873760"/>
            <a:ext cx="1863029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101828"/>
                </a:solidFill>
                <a:latin typeface="Public Sans"/>
              </a:rPr>
              <a:t>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93800"/>
            <a:ext cx="1706880" cy="7952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Auth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847"/>
            <a:ext cx="1706880" cy="7952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Payment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93894"/>
            <a:ext cx="1706880" cy="7952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Analytics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93941"/>
            <a:ext cx="1706880" cy="7952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93988"/>
            <a:ext cx="1706880" cy="7952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94035"/>
            <a:ext cx="1706880" cy="79528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101828"/>
                </a:solidFill>
                <a:latin typeface="Public Sans"/>
              </a:rPr>
              <a:t>Documentation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8860" y="1193800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Oval 15"/>
          <p:cNvSpPr/>
          <p:nvPr/>
        </p:nvSpPr>
        <p:spPr>
          <a:xfrm>
            <a:off x="3073364" y="1313092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308860" y="1647112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76651" y="1193800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Oval 18"/>
          <p:cNvSpPr/>
          <p:nvPr/>
        </p:nvSpPr>
        <p:spPr>
          <a:xfrm>
            <a:off x="4941156" y="1313092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176651" y="1647112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44442" y="1193800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Oval 21"/>
          <p:cNvSpPr/>
          <p:nvPr/>
        </p:nvSpPr>
        <p:spPr>
          <a:xfrm>
            <a:off x="6808947" y="1313092"/>
            <a:ext cx="334019" cy="334019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44442" y="1647112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12234" y="1193800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Oval 24"/>
          <p:cNvSpPr/>
          <p:nvPr/>
        </p:nvSpPr>
        <p:spPr>
          <a:xfrm>
            <a:off x="8676739" y="1313092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912234" y="1647112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0025" y="1193800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Oval 27"/>
          <p:cNvSpPr/>
          <p:nvPr/>
        </p:nvSpPr>
        <p:spPr>
          <a:xfrm>
            <a:off x="10544530" y="1313092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780025" y="1647112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08860" y="1993847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Oval 30"/>
          <p:cNvSpPr/>
          <p:nvPr/>
        </p:nvSpPr>
        <p:spPr>
          <a:xfrm>
            <a:off x="3073364" y="2113139"/>
            <a:ext cx="334019" cy="334019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308860" y="2447159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76651" y="1993847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Oval 33"/>
          <p:cNvSpPr/>
          <p:nvPr/>
        </p:nvSpPr>
        <p:spPr>
          <a:xfrm>
            <a:off x="4941156" y="2113139"/>
            <a:ext cx="334019" cy="334019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176651" y="2447159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44442" y="1993847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Oval 36"/>
          <p:cNvSpPr/>
          <p:nvPr/>
        </p:nvSpPr>
        <p:spPr>
          <a:xfrm>
            <a:off x="6808947" y="2113139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044442" y="2447159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12234" y="1993847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Oval 39"/>
          <p:cNvSpPr/>
          <p:nvPr/>
        </p:nvSpPr>
        <p:spPr>
          <a:xfrm>
            <a:off x="8676739" y="2113139"/>
            <a:ext cx="334019" cy="334019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912234" y="2447159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80025" y="1993847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Oval 42"/>
          <p:cNvSpPr/>
          <p:nvPr/>
        </p:nvSpPr>
        <p:spPr>
          <a:xfrm>
            <a:off x="10544530" y="2113139"/>
            <a:ext cx="334019" cy="334019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780025" y="2447159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08860" y="2793894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Oval 45"/>
          <p:cNvSpPr/>
          <p:nvPr/>
        </p:nvSpPr>
        <p:spPr>
          <a:xfrm>
            <a:off x="3073364" y="2913186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308860" y="3247206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76651" y="2793894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Oval 48"/>
          <p:cNvSpPr/>
          <p:nvPr/>
        </p:nvSpPr>
        <p:spPr>
          <a:xfrm>
            <a:off x="4941156" y="2913186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176651" y="3247206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44442" y="2793894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Oval 51"/>
          <p:cNvSpPr/>
          <p:nvPr/>
        </p:nvSpPr>
        <p:spPr>
          <a:xfrm>
            <a:off x="6808947" y="2913186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044442" y="3247206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12234" y="2793894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5" name="Oval 54"/>
          <p:cNvSpPr/>
          <p:nvPr/>
        </p:nvSpPr>
        <p:spPr>
          <a:xfrm>
            <a:off x="8676739" y="2913186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912234" y="3247206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80025" y="2793894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Oval 57"/>
          <p:cNvSpPr/>
          <p:nvPr/>
        </p:nvSpPr>
        <p:spPr>
          <a:xfrm>
            <a:off x="10544530" y="2913186"/>
            <a:ext cx="334019" cy="334019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780025" y="3247206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08860" y="3593941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1" name="Oval 60"/>
          <p:cNvSpPr/>
          <p:nvPr/>
        </p:nvSpPr>
        <p:spPr>
          <a:xfrm>
            <a:off x="3073364" y="3713233"/>
            <a:ext cx="334019" cy="334019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308860" y="4047253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76651" y="3593941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Oval 63"/>
          <p:cNvSpPr/>
          <p:nvPr/>
        </p:nvSpPr>
        <p:spPr>
          <a:xfrm>
            <a:off x="4941156" y="3713233"/>
            <a:ext cx="334019" cy="334019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176651" y="4047253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44442" y="3593941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7" name="Oval 66"/>
          <p:cNvSpPr/>
          <p:nvPr/>
        </p:nvSpPr>
        <p:spPr>
          <a:xfrm>
            <a:off x="6808947" y="3713233"/>
            <a:ext cx="334019" cy="334019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044442" y="4047253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12234" y="3593941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0" name="Oval 69"/>
          <p:cNvSpPr/>
          <p:nvPr/>
        </p:nvSpPr>
        <p:spPr>
          <a:xfrm>
            <a:off x="8676739" y="3713233"/>
            <a:ext cx="334019" cy="334019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912234" y="4047253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780025" y="3593941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3" name="Oval 72"/>
          <p:cNvSpPr/>
          <p:nvPr/>
        </p:nvSpPr>
        <p:spPr>
          <a:xfrm>
            <a:off x="10544530" y="3713233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780025" y="4047253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308860" y="4393988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Oval 75"/>
          <p:cNvSpPr/>
          <p:nvPr/>
        </p:nvSpPr>
        <p:spPr>
          <a:xfrm>
            <a:off x="3073364" y="4513280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2308860" y="4847300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76651" y="4393988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9" name="Oval 78"/>
          <p:cNvSpPr/>
          <p:nvPr/>
        </p:nvSpPr>
        <p:spPr>
          <a:xfrm>
            <a:off x="4941156" y="4513280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176651" y="4847300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44442" y="4393988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2" name="Oval 81"/>
          <p:cNvSpPr/>
          <p:nvPr/>
        </p:nvSpPr>
        <p:spPr>
          <a:xfrm>
            <a:off x="6808947" y="4513280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044442" y="4847300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912234" y="4393988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5" name="Oval 84"/>
          <p:cNvSpPr/>
          <p:nvPr/>
        </p:nvSpPr>
        <p:spPr>
          <a:xfrm>
            <a:off x="8676739" y="4513280"/>
            <a:ext cx="334019" cy="334019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912234" y="4847300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780025" y="4393988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Oval 87"/>
          <p:cNvSpPr/>
          <p:nvPr/>
        </p:nvSpPr>
        <p:spPr>
          <a:xfrm>
            <a:off x="10544530" y="4513280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780025" y="4847300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308860" y="5194035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1" name="Oval 90"/>
          <p:cNvSpPr/>
          <p:nvPr/>
        </p:nvSpPr>
        <p:spPr>
          <a:xfrm>
            <a:off x="3073364" y="5313327"/>
            <a:ext cx="334019" cy="334019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2308860" y="5647347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76651" y="5194035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Oval 93"/>
          <p:cNvSpPr/>
          <p:nvPr/>
        </p:nvSpPr>
        <p:spPr>
          <a:xfrm>
            <a:off x="4941156" y="5313327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4176651" y="5647347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44442" y="5194035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7" name="Oval 96"/>
          <p:cNvSpPr/>
          <p:nvPr/>
        </p:nvSpPr>
        <p:spPr>
          <a:xfrm>
            <a:off x="6808947" y="5313327"/>
            <a:ext cx="334019" cy="334019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044442" y="5647347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912234" y="5194035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Oval 99"/>
          <p:cNvSpPr/>
          <p:nvPr/>
        </p:nvSpPr>
        <p:spPr>
          <a:xfrm>
            <a:off x="8676739" y="5313327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7912234" y="5647347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80025" y="5194035"/>
            <a:ext cx="1863029" cy="795285"/>
          </a:xfrm>
          <a:prstGeom prst="rect">
            <a:avLst/>
          </a:prstGeom>
          <a:solidFill>
            <a:srgbClr val="FFFFFF"/>
          </a:solidFill>
          <a:ln w="2381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3" name="Oval 102"/>
          <p:cNvSpPr/>
          <p:nvPr/>
        </p:nvSpPr>
        <p:spPr>
          <a:xfrm>
            <a:off x="10544530" y="5313327"/>
            <a:ext cx="334019" cy="334019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9780025" y="5647347"/>
            <a:ext cx="1863029" cy="3419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01828"/>
                </a:solidFill>
                <a:latin typeface="Public Sans"/>
              </a:rPr>
              <a:t>G</a:t>
            </a:r>
          </a:p>
        </p:txBody>
      </p:sp>
      <p:sp>
        <p:nvSpPr>
          <p:cNvPr id="105" name="Oval 104"/>
          <p:cNvSpPr/>
          <p:nvPr/>
        </p:nvSpPr>
        <p:spPr>
          <a:xfrm>
            <a:off x="2308860" y="6096000"/>
            <a:ext cx="106680" cy="10668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2468880" y="5989320"/>
            <a:ext cx="295137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Red / At Risk</a:t>
            </a:r>
          </a:p>
        </p:txBody>
      </p:sp>
      <p:sp>
        <p:nvSpPr>
          <p:cNvPr id="107" name="Oval 106"/>
          <p:cNvSpPr/>
          <p:nvPr/>
        </p:nvSpPr>
        <p:spPr>
          <a:xfrm>
            <a:off x="5420258" y="6096000"/>
            <a:ext cx="106680" cy="1066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5580278" y="5989320"/>
            <a:ext cx="295137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Amber / Caution</a:t>
            </a:r>
          </a:p>
        </p:txBody>
      </p:sp>
      <p:sp>
        <p:nvSpPr>
          <p:cNvPr id="109" name="Oval 108"/>
          <p:cNvSpPr/>
          <p:nvPr/>
        </p:nvSpPr>
        <p:spPr>
          <a:xfrm>
            <a:off x="8531656" y="6096000"/>
            <a:ext cx="106680" cy="10668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8691676" y="5989320"/>
            <a:ext cx="295137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01828"/>
                </a:solidFill>
                <a:latin typeface="Public Sans"/>
              </a:rPr>
              <a:t>Green / On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