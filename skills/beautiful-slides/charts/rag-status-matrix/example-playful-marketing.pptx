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Q2 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780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8987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6194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3402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80609" y="975360"/>
            <a:ext cx="1762445" cy="411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6840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Auth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473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Payment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92107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Analytics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44741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7374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50008"/>
            <a:ext cx="2194560" cy="747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1780" y="1386840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3535949" y="1499020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811780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8987" y="1386840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Oval 18"/>
          <p:cNvSpPr/>
          <p:nvPr/>
        </p:nvSpPr>
        <p:spPr>
          <a:xfrm>
            <a:off x="5303157" y="1499020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8987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6194" y="1386840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Oval 21"/>
          <p:cNvSpPr/>
          <p:nvPr/>
        </p:nvSpPr>
        <p:spPr>
          <a:xfrm>
            <a:off x="7070364" y="1499020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46194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3402" y="1386840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8837571" y="1499020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13402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80609" y="1386840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Oval 27"/>
          <p:cNvSpPr/>
          <p:nvPr/>
        </p:nvSpPr>
        <p:spPr>
          <a:xfrm>
            <a:off x="10604779" y="1499020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80609" y="1813126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1780" y="2139473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Oval 30"/>
          <p:cNvSpPr/>
          <p:nvPr/>
        </p:nvSpPr>
        <p:spPr>
          <a:xfrm>
            <a:off x="3535949" y="2251654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11780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8987" y="2139473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Oval 33"/>
          <p:cNvSpPr/>
          <p:nvPr/>
        </p:nvSpPr>
        <p:spPr>
          <a:xfrm>
            <a:off x="5303157" y="2251654"/>
            <a:ext cx="314106" cy="31410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8987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6194" y="2139473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7070364" y="2251654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46194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13402" y="2139473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Oval 39"/>
          <p:cNvSpPr/>
          <p:nvPr/>
        </p:nvSpPr>
        <p:spPr>
          <a:xfrm>
            <a:off x="8837571" y="2251654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113402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80609" y="2139473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10604779" y="2251654"/>
            <a:ext cx="314106" cy="31410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80609" y="2565760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11780" y="2892107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Oval 45"/>
          <p:cNvSpPr/>
          <p:nvPr/>
        </p:nvSpPr>
        <p:spPr>
          <a:xfrm>
            <a:off x="3535949" y="3004288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811780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8987" y="2892107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Oval 48"/>
          <p:cNvSpPr/>
          <p:nvPr/>
        </p:nvSpPr>
        <p:spPr>
          <a:xfrm>
            <a:off x="5303157" y="3004288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8987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6194" y="2892107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7070364" y="3004288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346194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3402" y="2892107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Oval 54"/>
          <p:cNvSpPr/>
          <p:nvPr/>
        </p:nvSpPr>
        <p:spPr>
          <a:xfrm>
            <a:off x="8837571" y="3004288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113402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80609" y="2892107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10604779" y="3004288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880609" y="3318394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11780" y="3644741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Oval 60"/>
          <p:cNvSpPr/>
          <p:nvPr/>
        </p:nvSpPr>
        <p:spPr>
          <a:xfrm>
            <a:off x="3535949" y="3756921"/>
            <a:ext cx="314106" cy="31410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811780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8987" y="3644741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Oval 63"/>
          <p:cNvSpPr/>
          <p:nvPr/>
        </p:nvSpPr>
        <p:spPr>
          <a:xfrm>
            <a:off x="5303157" y="3756921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8987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46194" y="3644741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Oval 66"/>
          <p:cNvSpPr/>
          <p:nvPr/>
        </p:nvSpPr>
        <p:spPr>
          <a:xfrm>
            <a:off x="7070364" y="3756921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346194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13402" y="3644741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Oval 69"/>
          <p:cNvSpPr/>
          <p:nvPr/>
        </p:nvSpPr>
        <p:spPr>
          <a:xfrm>
            <a:off x="8837571" y="3756921"/>
            <a:ext cx="314106" cy="31410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113402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80609" y="3644741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Oval 72"/>
          <p:cNvSpPr/>
          <p:nvPr/>
        </p:nvSpPr>
        <p:spPr>
          <a:xfrm>
            <a:off x="10604779" y="3756921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880609" y="4071027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811780" y="4397374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Oval 75"/>
          <p:cNvSpPr/>
          <p:nvPr/>
        </p:nvSpPr>
        <p:spPr>
          <a:xfrm>
            <a:off x="3535949" y="4509555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811780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8987" y="4397374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Oval 78"/>
          <p:cNvSpPr/>
          <p:nvPr/>
        </p:nvSpPr>
        <p:spPr>
          <a:xfrm>
            <a:off x="5303157" y="4509555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8987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346194" y="4397374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Oval 81"/>
          <p:cNvSpPr/>
          <p:nvPr/>
        </p:nvSpPr>
        <p:spPr>
          <a:xfrm>
            <a:off x="7070364" y="4509555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46194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113402" y="4397374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Oval 84"/>
          <p:cNvSpPr/>
          <p:nvPr/>
        </p:nvSpPr>
        <p:spPr>
          <a:xfrm>
            <a:off x="8837571" y="4509555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113402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80609" y="4397374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Oval 87"/>
          <p:cNvSpPr/>
          <p:nvPr/>
        </p:nvSpPr>
        <p:spPr>
          <a:xfrm>
            <a:off x="10604779" y="4509555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880609" y="4823661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811780" y="5150008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Oval 90"/>
          <p:cNvSpPr/>
          <p:nvPr/>
        </p:nvSpPr>
        <p:spPr>
          <a:xfrm>
            <a:off x="3535949" y="5262189"/>
            <a:ext cx="314106" cy="31410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811780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578987" y="5150008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Oval 93"/>
          <p:cNvSpPr/>
          <p:nvPr/>
        </p:nvSpPr>
        <p:spPr>
          <a:xfrm>
            <a:off x="5303157" y="5262189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578987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46194" y="5150008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Oval 96"/>
          <p:cNvSpPr/>
          <p:nvPr/>
        </p:nvSpPr>
        <p:spPr>
          <a:xfrm>
            <a:off x="7070364" y="5262189"/>
            <a:ext cx="314106" cy="31410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46194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13402" y="5150008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Oval 99"/>
          <p:cNvSpPr/>
          <p:nvPr/>
        </p:nvSpPr>
        <p:spPr>
          <a:xfrm>
            <a:off x="8837571" y="5262189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113402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80609" y="5150008"/>
            <a:ext cx="1762445" cy="747871"/>
          </a:xfrm>
          <a:prstGeom prst="roundRect">
            <a:avLst>
              <a:gd name="adj" fmla="val 15283"/>
            </a:avLst>
          </a:prstGeom>
          <a:solidFill>
            <a:srgbClr val="FFF4EB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604779" y="5262189"/>
            <a:ext cx="314106" cy="31410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880609" y="5576295"/>
            <a:ext cx="1762445" cy="32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B1B1F"/>
                </a:solidFill>
                <a:latin typeface="Recursive Mono"/>
              </a:rPr>
              <a:t>G</a:t>
            </a:r>
          </a:p>
        </p:txBody>
      </p:sp>
      <p:sp>
        <p:nvSpPr>
          <p:cNvPr id="105" name="Oval 104"/>
          <p:cNvSpPr/>
          <p:nvPr/>
        </p:nvSpPr>
        <p:spPr>
          <a:xfrm>
            <a:off x="2811780" y="6035040"/>
            <a:ext cx="137160" cy="13716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3017520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Red / At Risk</a:t>
            </a:r>
          </a:p>
        </p:txBody>
      </p:sp>
      <p:sp>
        <p:nvSpPr>
          <p:cNvPr id="107" name="Oval 106"/>
          <p:cNvSpPr/>
          <p:nvPr/>
        </p:nvSpPr>
        <p:spPr>
          <a:xfrm>
            <a:off x="5755538" y="603504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961278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Amber / Caution</a:t>
            </a:r>
          </a:p>
        </p:txBody>
      </p:sp>
      <p:sp>
        <p:nvSpPr>
          <p:cNvPr id="109" name="Oval 108"/>
          <p:cNvSpPr/>
          <p:nvPr/>
        </p:nvSpPr>
        <p:spPr>
          <a:xfrm>
            <a:off x="8699296" y="6035040"/>
            <a:ext cx="137160" cy="13716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905036" y="5897880"/>
            <a:ext cx="273801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B1B1F"/>
                </a:solidFill>
                <a:latin typeface="Plus Jakarta Sans"/>
              </a:rPr>
              <a:t>Green / On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