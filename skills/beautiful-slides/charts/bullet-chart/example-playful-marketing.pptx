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B1B1F"/>
                </a:solidFill>
                <a:latin typeface="Bricolage Grotesque"/>
              </a:rPr>
              <a:t>Q1 performance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495044"/>
            <a:ext cx="1676400" cy="95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52624" y="1662509"/>
            <a:ext cx="8332927" cy="622012"/>
          </a:xfrm>
          <a:prstGeom prst="roundRect">
            <a:avLst>
              <a:gd name="adj" fmla="val 9187"/>
            </a:avLst>
          </a:prstGeom>
          <a:solidFill>
            <a:srgbClr val="EEE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52624" y="1662509"/>
            <a:ext cx="6249695" cy="622012"/>
          </a:xfrm>
          <a:prstGeom prst="roundRect">
            <a:avLst>
              <a:gd name="adj" fmla="val 9187"/>
            </a:avLst>
          </a:prstGeom>
          <a:solidFill>
            <a:srgbClr val="DB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52624" y="1662509"/>
            <a:ext cx="4166463" cy="622012"/>
          </a:xfrm>
          <a:prstGeom prst="roundRect">
            <a:avLst>
              <a:gd name="adj" fmla="val 9187"/>
            </a:avLst>
          </a:prstGeom>
          <a:solidFill>
            <a:srgbClr val="C5B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52624" y="1855333"/>
            <a:ext cx="6833000" cy="236364"/>
          </a:xfrm>
          <a:prstGeom prst="roundRect">
            <a:avLst>
              <a:gd name="adj" fmla="val 24178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39558" y="1709160"/>
            <a:ext cx="25400" cy="528710"/>
          </a:xfrm>
          <a:prstGeom prst="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38891" y="1495044"/>
            <a:ext cx="711200" cy="95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B1B1F"/>
                </a:solidFill>
                <a:latin typeface="Recursive Mono"/>
              </a:rPr>
              <a:t>82M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732067"/>
            <a:ext cx="1676400" cy="95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Profit margin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2624" y="2899532"/>
            <a:ext cx="8332927" cy="622012"/>
          </a:xfrm>
          <a:prstGeom prst="roundRect">
            <a:avLst>
              <a:gd name="adj" fmla="val 9187"/>
            </a:avLst>
          </a:prstGeom>
          <a:solidFill>
            <a:srgbClr val="EEE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52624" y="2899532"/>
            <a:ext cx="5555284" cy="622012"/>
          </a:xfrm>
          <a:prstGeom prst="roundRect">
            <a:avLst>
              <a:gd name="adj" fmla="val 9187"/>
            </a:avLst>
          </a:prstGeom>
          <a:solidFill>
            <a:srgbClr val="DB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52624" y="2899532"/>
            <a:ext cx="2777642" cy="622012"/>
          </a:xfrm>
          <a:prstGeom prst="roundRect">
            <a:avLst>
              <a:gd name="adj" fmla="val 9187"/>
            </a:avLst>
          </a:prstGeom>
          <a:solidFill>
            <a:srgbClr val="C5B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52624" y="3092356"/>
            <a:ext cx="6110813" cy="236364"/>
          </a:xfrm>
          <a:prstGeom prst="roundRect">
            <a:avLst>
              <a:gd name="adj" fmla="val 24178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84029" y="2946183"/>
            <a:ext cx="25400" cy="528710"/>
          </a:xfrm>
          <a:prstGeom prst="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8891" y="2732067"/>
            <a:ext cx="711200" cy="95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B1B1F"/>
                </a:solidFill>
                <a:latin typeface="Recursive Mono"/>
              </a:rPr>
              <a:t>22%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969090"/>
            <a:ext cx="1676400" cy="95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NPS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52624" y="4136555"/>
            <a:ext cx="8332927" cy="622012"/>
          </a:xfrm>
          <a:prstGeom prst="roundRect">
            <a:avLst>
              <a:gd name="adj" fmla="val 9187"/>
            </a:avLst>
          </a:prstGeom>
          <a:solidFill>
            <a:srgbClr val="EEE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52624" y="4136555"/>
            <a:ext cx="6249695" cy="622012"/>
          </a:xfrm>
          <a:prstGeom prst="roundRect">
            <a:avLst>
              <a:gd name="adj" fmla="val 9187"/>
            </a:avLst>
          </a:prstGeom>
          <a:solidFill>
            <a:srgbClr val="DB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52624" y="4136555"/>
            <a:ext cx="4166463" cy="622012"/>
          </a:xfrm>
          <a:prstGeom prst="roundRect">
            <a:avLst>
              <a:gd name="adj" fmla="val 9187"/>
            </a:avLst>
          </a:prstGeom>
          <a:solidFill>
            <a:srgbClr val="C5B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52624" y="4329379"/>
            <a:ext cx="6770503" cy="236364"/>
          </a:xfrm>
          <a:prstGeom prst="roundRect">
            <a:avLst>
              <a:gd name="adj" fmla="val 24178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31235" y="4183206"/>
            <a:ext cx="25400" cy="528710"/>
          </a:xfrm>
          <a:prstGeom prst="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38891" y="3969090"/>
            <a:ext cx="711200" cy="95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B1B1F"/>
                </a:solidFill>
                <a:latin typeface="Recursive Mono"/>
              </a:rPr>
              <a:t>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5206113"/>
            <a:ext cx="1676400" cy="95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Retention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52624" y="5373578"/>
            <a:ext cx="8332927" cy="622012"/>
          </a:xfrm>
          <a:prstGeom prst="roundRect">
            <a:avLst>
              <a:gd name="adj" fmla="val 9187"/>
            </a:avLst>
          </a:prstGeom>
          <a:solidFill>
            <a:srgbClr val="EEE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52624" y="5373578"/>
            <a:ext cx="7082987" cy="622012"/>
          </a:xfrm>
          <a:prstGeom prst="roundRect">
            <a:avLst>
              <a:gd name="adj" fmla="val 9187"/>
            </a:avLst>
          </a:prstGeom>
          <a:solidFill>
            <a:srgbClr val="DB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52624" y="5373578"/>
            <a:ext cx="5833048" cy="622012"/>
          </a:xfrm>
          <a:prstGeom prst="roundRect">
            <a:avLst>
              <a:gd name="adj" fmla="val 9187"/>
            </a:avLst>
          </a:prstGeom>
          <a:solidFill>
            <a:srgbClr val="C5B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452624" y="5566402"/>
            <a:ext cx="7582963" cy="236364"/>
          </a:xfrm>
          <a:prstGeom prst="roundRect">
            <a:avLst>
              <a:gd name="adj" fmla="val 24178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56204" y="5420229"/>
            <a:ext cx="25400" cy="528710"/>
          </a:xfrm>
          <a:prstGeom prst="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8891" y="5206113"/>
            <a:ext cx="711200" cy="95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B1B1F"/>
                </a:solidFill>
                <a:latin typeface="Recursive Mono"/>
              </a:rPr>
              <a:t>91%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