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solidFill>
            <a:srgbClr val="050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94415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5F7FA"/>
                </a:solidFill>
                <a:latin typeface="Manrope"/>
              </a:rPr>
              <a:t>Q1 2025 Revenue by Region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82040"/>
            <a:ext cx="3797419" cy="533400"/>
          </a:xfrm>
          <a:prstGeom prst="rect">
            <a:avLst/>
          </a:prstGeom>
          <a:solidFill>
            <a:srgbClr val="050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2940" y="1082040"/>
            <a:ext cx="3568819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Manrope"/>
              </a:rPr>
              <a:t>REGION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6059" y="1082040"/>
            <a:ext cx="1824249" cy="533400"/>
          </a:xfrm>
          <a:prstGeom prst="rect">
            <a:avLst/>
          </a:prstGeom>
          <a:solidFill>
            <a:srgbClr val="050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60359" y="1082040"/>
            <a:ext cx="1595649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>
                <a:solidFill>
                  <a:srgbClr val="F5F7FA"/>
                </a:solidFill>
                <a:latin typeface="Manrope"/>
              </a:rPr>
              <a:t>REVENUE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0308" y="1082040"/>
            <a:ext cx="1563642" cy="533400"/>
          </a:xfrm>
          <a:prstGeom prst="rect">
            <a:avLst/>
          </a:prstGeom>
          <a:solidFill>
            <a:srgbClr val="050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4608" y="1082040"/>
            <a:ext cx="1335042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>
                <a:solidFill>
                  <a:srgbClr val="F5F7FA"/>
                </a:solidFill>
                <a:latin typeface="Manrope"/>
              </a:rPr>
              <a:t>GROWTH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33950" y="1082040"/>
            <a:ext cx="1563642" cy="533400"/>
          </a:xfrm>
          <a:prstGeom prst="rect">
            <a:avLst/>
          </a:prstGeom>
          <a:solidFill>
            <a:srgbClr val="050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48250" y="1082040"/>
            <a:ext cx="1335042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>
                <a:solidFill>
                  <a:srgbClr val="F5F7FA"/>
                </a:solidFill>
                <a:latin typeface="Manrope"/>
              </a:rPr>
              <a:t>MARGIN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97592" y="1082040"/>
            <a:ext cx="2345463" cy="533400"/>
          </a:xfrm>
          <a:prstGeom prst="rect">
            <a:avLst/>
          </a:prstGeom>
          <a:solidFill>
            <a:srgbClr val="050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1892" y="1082040"/>
            <a:ext cx="2116863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>
                <a:solidFill>
                  <a:srgbClr val="F5F7FA"/>
                </a:solidFill>
                <a:latin typeface="Manrope"/>
              </a:rPr>
              <a:t>HEADCOUNT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615440"/>
            <a:ext cx="11094415" cy="14286"/>
          </a:xfrm>
          <a:prstGeom prst="rect">
            <a:avLst/>
          </a:prstGeom>
          <a:solidFill>
            <a:srgbClr val="21D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1629726"/>
            <a:ext cx="3797419" cy="476250"/>
          </a:xfrm>
          <a:prstGeom prst="rect">
            <a:avLst/>
          </a:prstGeom>
          <a:solidFill>
            <a:srgbClr val="050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" y="1629726"/>
            <a:ext cx="3568819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F5F7FA"/>
                </a:solidFill>
                <a:latin typeface="Manrope"/>
              </a:rPr>
              <a:t>North America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6059" y="1629726"/>
            <a:ext cx="1824249" cy="476250"/>
          </a:xfrm>
          <a:prstGeom prst="rect">
            <a:avLst/>
          </a:prstGeom>
          <a:solidFill>
            <a:srgbClr val="09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60359" y="1629726"/>
            <a:ext cx="1595649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>
                <a:solidFill>
                  <a:srgbClr val="21D4FD"/>
                </a:solidFill>
                <a:latin typeface="JetBrains Mono"/>
              </a:rPr>
              <a:t>$12.4M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0308" y="1629726"/>
            <a:ext cx="1563642" cy="476250"/>
          </a:xfrm>
          <a:prstGeom prst="rect">
            <a:avLst/>
          </a:prstGeom>
          <a:solidFill>
            <a:srgbClr val="050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84608" y="1629726"/>
            <a:ext cx="1335042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0">
                <a:solidFill>
                  <a:srgbClr val="F5F7FA"/>
                </a:solidFill>
                <a:latin typeface="JetBrains Mono"/>
              </a:rPr>
              <a:t>+18%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33950" y="1629726"/>
            <a:ext cx="1563642" cy="476250"/>
          </a:xfrm>
          <a:prstGeom prst="rect">
            <a:avLst/>
          </a:prstGeom>
          <a:solidFill>
            <a:srgbClr val="050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48250" y="1629726"/>
            <a:ext cx="1335042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0">
                <a:solidFill>
                  <a:srgbClr val="F5F7FA"/>
                </a:solidFill>
                <a:latin typeface="JetBrains Mono"/>
              </a:rPr>
              <a:t>72%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97592" y="1629726"/>
            <a:ext cx="2345463" cy="476250"/>
          </a:xfrm>
          <a:prstGeom prst="rect">
            <a:avLst/>
          </a:prstGeom>
          <a:solidFill>
            <a:srgbClr val="050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1892" y="1629726"/>
            <a:ext cx="2116863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0">
                <a:solidFill>
                  <a:srgbClr val="F5F7FA"/>
                </a:solidFill>
                <a:latin typeface="JetBrains Mono"/>
              </a:rPr>
              <a:t>142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2105976"/>
            <a:ext cx="11094415" cy="7143"/>
          </a:xfrm>
          <a:prstGeom prst="rect">
            <a:avLst/>
          </a:prstGeom>
          <a:solidFill>
            <a:srgbClr val="9AA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2105976"/>
            <a:ext cx="3797419" cy="476250"/>
          </a:xfrm>
          <a:prstGeom prst="rect">
            <a:avLst/>
          </a:prstGeom>
          <a:solidFill>
            <a:srgbClr val="14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" y="2105976"/>
            <a:ext cx="3568819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F5F7FA"/>
                </a:solidFill>
                <a:latin typeface="Manrope"/>
              </a:rPr>
              <a:t>EMEA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6059" y="2105976"/>
            <a:ext cx="1824249" cy="476250"/>
          </a:xfrm>
          <a:prstGeom prst="rect">
            <a:avLst/>
          </a:prstGeom>
          <a:solidFill>
            <a:srgbClr val="14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60359" y="2105976"/>
            <a:ext cx="1595649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0">
                <a:solidFill>
                  <a:srgbClr val="F5F7FA"/>
                </a:solidFill>
                <a:latin typeface="JetBrains Mono"/>
              </a:rPr>
              <a:t>$8.1M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0308" y="2105976"/>
            <a:ext cx="1563642" cy="476250"/>
          </a:xfrm>
          <a:prstGeom prst="rect">
            <a:avLst/>
          </a:prstGeom>
          <a:solidFill>
            <a:srgbClr val="14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84608" y="2105976"/>
            <a:ext cx="1335042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0">
                <a:solidFill>
                  <a:srgbClr val="F5F7FA"/>
                </a:solidFill>
                <a:latin typeface="JetBrains Mono"/>
              </a:rPr>
              <a:t>+12%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33950" y="2105976"/>
            <a:ext cx="1563642" cy="476250"/>
          </a:xfrm>
          <a:prstGeom prst="rect">
            <a:avLst/>
          </a:prstGeom>
          <a:solidFill>
            <a:srgbClr val="14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48250" y="2105976"/>
            <a:ext cx="1335042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0">
                <a:solidFill>
                  <a:srgbClr val="F5F7FA"/>
                </a:solidFill>
                <a:latin typeface="JetBrains Mono"/>
              </a:rPr>
              <a:t>68%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97592" y="2105976"/>
            <a:ext cx="2345463" cy="476250"/>
          </a:xfrm>
          <a:prstGeom prst="rect">
            <a:avLst/>
          </a:prstGeom>
          <a:solidFill>
            <a:srgbClr val="14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11892" y="2105976"/>
            <a:ext cx="2116863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0">
                <a:solidFill>
                  <a:srgbClr val="F5F7FA"/>
                </a:solidFill>
                <a:latin typeface="JetBrains Mono"/>
              </a:rPr>
              <a:t>89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2582226"/>
            <a:ext cx="11094415" cy="7143"/>
          </a:xfrm>
          <a:prstGeom prst="rect">
            <a:avLst/>
          </a:prstGeom>
          <a:solidFill>
            <a:srgbClr val="9AA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" y="2582226"/>
            <a:ext cx="3797419" cy="476250"/>
          </a:xfrm>
          <a:prstGeom prst="rect">
            <a:avLst/>
          </a:prstGeom>
          <a:solidFill>
            <a:srgbClr val="050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2940" y="2582226"/>
            <a:ext cx="3568819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F5F7FA"/>
                </a:solidFill>
                <a:latin typeface="Manrope"/>
              </a:rPr>
              <a:t>APAC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46059" y="2582226"/>
            <a:ext cx="1824249" cy="476250"/>
          </a:xfrm>
          <a:prstGeom prst="rect">
            <a:avLst/>
          </a:prstGeom>
          <a:solidFill>
            <a:srgbClr val="050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60359" y="2582226"/>
            <a:ext cx="1595649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0">
                <a:solidFill>
                  <a:srgbClr val="F5F7FA"/>
                </a:solidFill>
                <a:latin typeface="JetBrains Mono"/>
              </a:rPr>
              <a:t>$5.6M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70308" y="2582226"/>
            <a:ext cx="1563642" cy="476250"/>
          </a:xfrm>
          <a:prstGeom prst="rect">
            <a:avLst/>
          </a:prstGeom>
          <a:solidFill>
            <a:srgbClr val="09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84608" y="2582226"/>
            <a:ext cx="1335042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>
                <a:solidFill>
                  <a:srgbClr val="21D4FD"/>
                </a:solidFill>
                <a:latin typeface="JetBrains Mono"/>
              </a:rPr>
              <a:t>+34%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33950" y="2582226"/>
            <a:ext cx="1563642" cy="476250"/>
          </a:xfrm>
          <a:prstGeom prst="rect">
            <a:avLst/>
          </a:prstGeom>
          <a:solidFill>
            <a:srgbClr val="050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48250" y="2582226"/>
            <a:ext cx="1335042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0">
                <a:solidFill>
                  <a:srgbClr val="F5F7FA"/>
                </a:solidFill>
                <a:latin typeface="JetBrains Mono"/>
              </a:rPr>
              <a:t>65%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297592" y="2582226"/>
            <a:ext cx="2345463" cy="476250"/>
          </a:xfrm>
          <a:prstGeom prst="rect">
            <a:avLst/>
          </a:prstGeom>
          <a:solidFill>
            <a:srgbClr val="050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411892" y="2582226"/>
            <a:ext cx="2116863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0">
                <a:solidFill>
                  <a:srgbClr val="F5F7FA"/>
                </a:solidFill>
                <a:latin typeface="JetBrains Mono"/>
              </a:rPr>
              <a:t>64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3058476"/>
            <a:ext cx="11094415" cy="7143"/>
          </a:xfrm>
          <a:prstGeom prst="rect">
            <a:avLst/>
          </a:prstGeom>
          <a:solidFill>
            <a:srgbClr val="9AA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48640" y="3058476"/>
            <a:ext cx="3797419" cy="476250"/>
          </a:xfrm>
          <a:prstGeom prst="rect">
            <a:avLst/>
          </a:prstGeom>
          <a:solidFill>
            <a:srgbClr val="14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2940" y="3058476"/>
            <a:ext cx="3568819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F5F7FA"/>
                </a:solidFill>
                <a:latin typeface="Manrope"/>
              </a:rPr>
              <a:t>LATAM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346059" y="3058476"/>
            <a:ext cx="1824249" cy="476250"/>
          </a:xfrm>
          <a:prstGeom prst="rect">
            <a:avLst/>
          </a:prstGeom>
          <a:solidFill>
            <a:srgbClr val="14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460359" y="3058476"/>
            <a:ext cx="1595649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0">
                <a:solidFill>
                  <a:srgbClr val="F5F7FA"/>
                </a:solidFill>
                <a:latin typeface="JetBrains Mono"/>
              </a:rPr>
              <a:t>$2.3M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70308" y="3058476"/>
            <a:ext cx="1563642" cy="476250"/>
          </a:xfrm>
          <a:prstGeom prst="rect">
            <a:avLst/>
          </a:prstGeom>
          <a:solidFill>
            <a:srgbClr val="14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84608" y="3058476"/>
            <a:ext cx="1335042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0">
                <a:solidFill>
                  <a:srgbClr val="F5F7FA"/>
                </a:solidFill>
                <a:latin typeface="JetBrains Mono"/>
              </a:rPr>
              <a:t>+22%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33950" y="3058476"/>
            <a:ext cx="1563642" cy="476250"/>
          </a:xfrm>
          <a:prstGeom prst="rect">
            <a:avLst/>
          </a:prstGeom>
          <a:solidFill>
            <a:srgbClr val="14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848250" y="3058476"/>
            <a:ext cx="1335042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0">
                <a:solidFill>
                  <a:srgbClr val="F5F7FA"/>
                </a:solidFill>
                <a:latin typeface="JetBrains Mono"/>
              </a:rPr>
              <a:t>61%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297592" y="3058476"/>
            <a:ext cx="2345463" cy="476250"/>
          </a:xfrm>
          <a:prstGeom prst="rect">
            <a:avLst/>
          </a:prstGeom>
          <a:solidFill>
            <a:srgbClr val="14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411892" y="3058476"/>
            <a:ext cx="2116863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0">
                <a:solidFill>
                  <a:srgbClr val="F5F7FA"/>
                </a:solidFill>
                <a:latin typeface="JetBrains Mono"/>
              </a:rPr>
              <a:t>31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8640" y="3534726"/>
            <a:ext cx="11094415" cy="7143"/>
          </a:xfrm>
          <a:prstGeom prst="rect">
            <a:avLst/>
          </a:prstGeom>
          <a:solidFill>
            <a:srgbClr val="9AA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48640" y="3534726"/>
            <a:ext cx="3797419" cy="476250"/>
          </a:xfrm>
          <a:prstGeom prst="rect">
            <a:avLst/>
          </a:prstGeom>
          <a:solidFill>
            <a:srgbClr val="050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62940" y="3534726"/>
            <a:ext cx="3568819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F5F7FA"/>
                </a:solidFill>
                <a:latin typeface="Manrope"/>
              </a:rPr>
              <a:t>Middle East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346059" y="3534726"/>
            <a:ext cx="1824249" cy="476250"/>
          </a:xfrm>
          <a:prstGeom prst="rect">
            <a:avLst/>
          </a:prstGeom>
          <a:solidFill>
            <a:srgbClr val="050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460359" y="3534726"/>
            <a:ext cx="1595649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0">
                <a:solidFill>
                  <a:srgbClr val="F5F7FA"/>
                </a:solidFill>
                <a:latin typeface="JetBrains Mono"/>
              </a:rPr>
              <a:t>$1.1M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70308" y="3534726"/>
            <a:ext cx="1563642" cy="476250"/>
          </a:xfrm>
          <a:prstGeom prst="rect">
            <a:avLst/>
          </a:prstGeom>
          <a:solidFill>
            <a:srgbClr val="050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284608" y="3534726"/>
            <a:ext cx="1335042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0">
                <a:solidFill>
                  <a:srgbClr val="F5F7FA"/>
                </a:solidFill>
                <a:latin typeface="JetBrains Mono"/>
              </a:rPr>
              <a:t>+8%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733950" y="3534726"/>
            <a:ext cx="1563642" cy="476250"/>
          </a:xfrm>
          <a:prstGeom prst="rect">
            <a:avLst/>
          </a:prstGeom>
          <a:solidFill>
            <a:srgbClr val="050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848250" y="3534726"/>
            <a:ext cx="1335042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0">
                <a:solidFill>
                  <a:srgbClr val="F5F7FA"/>
                </a:solidFill>
                <a:latin typeface="JetBrains Mono"/>
              </a:rPr>
              <a:t>59%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297592" y="3534726"/>
            <a:ext cx="2345463" cy="476250"/>
          </a:xfrm>
          <a:prstGeom prst="rect">
            <a:avLst/>
          </a:prstGeom>
          <a:solidFill>
            <a:srgbClr val="050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411892" y="3534726"/>
            <a:ext cx="2116863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0">
                <a:solidFill>
                  <a:srgbClr val="F5F7FA"/>
                </a:solidFill>
                <a:latin typeface="JetBrains Mono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