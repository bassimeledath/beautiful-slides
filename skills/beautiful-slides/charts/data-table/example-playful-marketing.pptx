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441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B1B1F"/>
                </a:solidFill>
                <a:latin typeface="Bricolage Grotesque"/>
              </a:rPr>
              <a:t>Q1 2025 Revenue by Region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82040"/>
            <a:ext cx="3797419" cy="53340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" y="1082040"/>
            <a:ext cx="3568819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B1B1F"/>
                </a:solidFill>
                <a:latin typeface="Plus Jakarta Sans"/>
              </a:rPr>
              <a:t>REGION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6059" y="1082040"/>
            <a:ext cx="1824249" cy="53340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0359" y="1082040"/>
            <a:ext cx="1595649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1B1B1F"/>
                </a:solidFill>
                <a:latin typeface="Plus Jakarta Sans"/>
              </a:rPr>
              <a:t>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0308" y="1082040"/>
            <a:ext cx="1563642" cy="53340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4608" y="1082040"/>
            <a:ext cx="1335042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1B1B1F"/>
                </a:solidFill>
                <a:latin typeface="Plus Jakarta Sans"/>
              </a:rPr>
              <a:t>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33950" y="1082040"/>
            <a:ext cx="1563642" cy="53340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8250" y="1082040"/>
            <a:ext cx="1335042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1B1B1F"/>
                </a:solidFill>
                <a:latin typeface="Plus Jakarta Sans"/>
              </a:rPr>
              <a:t>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97592" y="1082040"/>
            <a:ext cx="2345463" cy="53340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1892" y="1082040"/>
            <a:ext cx="2116863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1B1B1F"/>
                </a:solidFill>
                <a:latin typeface="Plus Jakarta Sans"/>
              </a:rPr>
              <a:t>HEADCOUNT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15440"/>
            <a:ext cx="11094415" cy="14286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1629726"/>
            <a:ext cx="3797419" cy="47625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" y="1629726"/>
            <a:ext cx="356881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North America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6059" y="1629726"/>
            <a:ext cx="1824249" cy="476250"/>
          </a:xfrm>
          <a:prstGeom prst="rect">
            <a:avLst/>
          </a:prstGeom>
          <a:solidFill>
            <a:srgbClr val="FFE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0359" y="1629726"/>
            <a:ext cx="159564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FF7A00"/>
                </a:solidFill>
                <a:latin typeface="Recursive Mono"/>
              </a:rPr>
              <a:t>$12.4M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0308" y="1629726"/>
            <a:ext cx="1563642" cy="47625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4608" y="162972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+18%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33950" y="1629726"/>
            <a:ext cx="1563642" cy="47625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8250" y="162972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72%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7592" y="1629726"/>
            <a:ext cx="2345463" cy="47625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1892" y="1629726"/>
            <a:ext cx="2116863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142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105976"/>
            <a:ext cx="11094415" cy="7143"/>
          </a:xfrm>
          <a:prstGeom prst="rect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105976"/>
            <a:ext cx="3797419" cy="476250"/>
          </a:xfrm>
          <a:prstGeom prst="rect">
            <a:avLst/>
          </a:prstGeom>
          <a:solidFill>
            <a:srgbClr val="F3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" y="2105976"/>
            <a:ext cx="356881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EMEA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6059" y="2105976"/>
            <a:ext cx="1824249" cy="476250"/>
          </a:xfrm>
          <a:prstGeom prst="rect">
            <a:avLst/>
          </a:prstGeom>
          <a:solidFill>
            <a:srgbClr val="F3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0359" y="2105976"/>
            <a:ext cx="159564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$8.1M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0308" y="2105976"/>
            <a:ext cx="1563642" cy="476250"/>
          </a:xfrm>
          <a:prstGeom prst="rect">
            <a:avLst/>
          </a:prstGeom>
          <a:solidFill>
            <a:srgbClr val="F3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4608" y="210597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+12%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33950" y="2105976"/>
            <a:ext cx="1563642" cy="476250"/>
          </a:xfrm>
          <a:prstGeom prst="rect">
            <a:avLst/>
          </a:prstGeom>
          <a:solidFill>
            <a:srgbClr val="F3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48250" y="210597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68%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97592" y="2105976"/>
            <a:ext cx="2345463" cy="476250"/>
          </a:xfrm>
          <a:prstGeom prst="rect">
            <a:avLst/>
          </a:prstGeom>
          <a:solidFill>
            <a:srgbClr val="F3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1892" y="2105976"/>
            <a:ext cx="2116863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89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2582226"/>
            <a:ext cx="11094415" cy="7143"/>
          </a:xfrm>
          <a:prstGeom prst="rect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2582226"/>
            <a:ext cx="3797419" cy="47625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" y="2582226"/>
            <a:ext cx="356881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APAC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46059" y="2582226"/>
            <a:ext cx="1824249" cy="47625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0359" y="2582226"/>
            <a:ext cx="159564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$5.6M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0308" y="2582226"/>
            <a:ext cx="1563642" cy="476250"/>
          </a:xfrm>
          <a:prstGeom prst="rect">
            <a:avLst/>
          </a:prstGeom>
          <a:solidFill>
            <a:srgbClr val="FFE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84608" y="258222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>
                <a:solidFill>
                  <a:srgbClr val="FF7A00"/>
                </a:solidFill>
                <a:latin typeface="Recursive Mono"/>
              </a:rPr>
              <a:t>+34%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33950" y="2582226"/>
            <a:ext cx="1563642" cy="47625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48250" y="258222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65%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97592" y="2582226"/>
            <a:ext cx="2345463" cy="47625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1892" y="2582226"/>
            <a:ext cx="2116863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64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058476"/>
            <a:ext cx="11094415" cy="7143"/>
          </a:xfrm>
          <a:prstGeom prst="rect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3058476"/>
            <a:ext cx="3797419" cy="476250"/>
          </a:xfrm>
          <a:prstGeom prst="rect">
            <a:avLst/>
          </a:prstGeom>
          <a:solidFill>
            <a:srgbClr val="F3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" y="3058476"/>
            <a:ext cx="356881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LATAM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46059" y="3058476"/>
            <a:ext cx="1824249" cy="476250"/>
          </a:xfrm>
          <a:prstGeom prst="rect">
            <a:avLst/>
          </a:prstGeom>
          <a:solidFill>
            <a:srgbClr val="F3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60359" y="3058476"/>
            <a:ext cx="159564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$2.3M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0308" y="3058476"/>
            <a:ext cx="1563642" cy="476250"/>
          </a:xfrm>
          <a:prstGeom prst="rect">
            <a:avLst/>
          </a:prstGeom>
          <a:solidFill>
            <a:srgbClr val="F3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84608" y="305847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+22%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33950" y="3058476"/>
            <a:ext cx="1563642" cy="476250"/>
          </a:xfrm>
          <a:prstGeom prst="rect">
            <a:avLst/>
          </a:prstGeom>
          <a:solidFill>
            <a:srgbClr val="F3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48250" y="305847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61%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97592" y="3058476"/>
            <a:ext cx="2345463" cy="476250"/>
          </a:xfrm>
          <a:prstGeom prst="rect">
            <a:avLst/>
          </a:prstGeom>
          <a:solidFill>
            <a:srgbClr val="F3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1892" y="3058476"/>
            <a:ext cx="2116863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31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3534726"/>
            <a:ext cx="11094415" cy="7143"/>
          </a:xfrm>
          <a:prstGeom prst="rect">
            <a:avLst/>
          </a:prstGeom>
          <a:solidFill>
            <a:srgbClr val="6E6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" y="3534726"/>
            <a:ext cx="3797419" cy="47625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2940" y="3534726"/>
            <a:ext cx="356881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Middle East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46059" y="3534726"/>
            <a:ext cx="1824249" cy="47625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60359" y="3534726"/>
            <a:ext cx="1595649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$1.1M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0308" y="3534726"/>
            <a:ext cx="1563642" cy="47625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84608" y="353472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+8%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33950" y="3534726"/>
            <a:ext cx="1563642" cy="47625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48250" y="3534726"/>
            <a:ext cx="1335042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59%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97592" y="3534726"/>
            <a:ext cx="2345463" cy="47625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11892" y="3534726"/>
            <a:ext cx="2116863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0">
                <a:solidFill>
                  <a:srgbClr val="1B1B1F"/>
                </a:solidFill>
                <a:latin typeface="Recursive Mon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