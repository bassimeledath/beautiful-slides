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514"/>
                </a:solidFill>
                <a:latin typeface="Fraunces"/>
              </a:rPr>
              <a:t>Revenue plan vs actual by region</a:t>
            </a:r>
          </a:p>
        </p:txBody>
      </p:sp>
      <p:sp>
        <p:nvSpPr>
          <p:cNvPr id="4" name="Oval 3"/>
          <p:cNvSpPr/>
          <p:nvPr/>
        </p:nvSpPr>
        <p:spPr>
          <a:xfrm>
            <a:off x="9961321" y="1502029"/>
            <a:ext cx="148590" cy="14859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75951" y="1411224"/>
            <a:ext cx="36322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Plan</a:t>
            </a:r>
          </a:p>
        </p:txBody>
      </p:sp>
      <p:sp>
        <p:nvSpPr>
          <p:cNvPr id="6" name="Oval 5"/>
          <p:cNvSpPr/>
          <p:nvPr/>
        </p:nvSpPr>
        <p:spPr>
          <a:xfrm>
            <a:off x="10737291" y="1502029"/>
            <a:ext cx="148590" cy="148590"/>
          </a:xfrm>
          <a:prstGeom prst="ellipse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1921" y="1411224"/>
            <a:ext cx="54483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994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4359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19159" y="1832864"/>
            <a:ext cx="0" cy="40253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71724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76524" y="1832864"/>
            <a:ext cx="0" cy="40253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29089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33889" y="1832864"/>
            <a:ext cx="0" cy="40253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86455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91255" y="1832864"/>
            <a:ext cx="0" cy="40253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43820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48620" y="1832864"/>
            <a:ext cx="0" cy="40253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401185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05985" y="1832864"/>
            <a:ext cx="0" cy="40253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658551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14M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963351" y="1832864"/>
            <a:ext cx="0" cy="40253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61794" y="1832864"/>
            <a:ext cx="0" cy="4025392"/>
          </a:xfrm>
          <a:prstGeom prst="line">
            <a:avLst/>
          </a:prstGeom>
          <a:ln w="9524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4944" y="2211578"/>
            <a:ext cx="139573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North America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05985" y="2336038"/>
            <a:ext cx="880156" cy="0"/>
          </a:xfrm>
          <a:prstGeom prst="line">
            <a:avLst/>
          </a:prstGeom>
          <a:ln w="49174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594225" y="2224278"/>
            <a:ext cx="223520" cy="22352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74381" y="2224278"/>
            <a:ext cx="223520" cy="223520"/>
          </a:xfrm>
          <a:prstGeom prst="ellipse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60825" y="2236978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C2F39"/>
                </a:solidFill>
                <a:latin typeface="IBM Plex Mono"/>
              </a:rPr>
              <a:t>12M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381" y="2236978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C5B00"/>
                </a:solidFill>
                <a:latin typeface="IBM Plex Mono"/>
              </a:rPr>
              <a:t>13.4M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3217926"/>
            <a:ext cx="139573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EMEA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28386" y="3342386"/>
            <a:ext cx="377210" cy="0"/>
          </a:xfrm>
          <a:prstGeom prst="line">
            <a:avLst/>
          </a:prstGeom>
          <a:ln w="49174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93836" y="3230626"/>
            <a:ext cx="223520" cy="22352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16626" y="3230626"/>
            <a:ext cx="223520" cy="223520"/>
          </a:xfrm>
          <a:prstGeom prst="ellipse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38896" y="3032506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8C2F39"/>
                </a:solidFill>
                <a:latin typeface="IBM Plex Mono"/>
              </a:rPr>
              <a:t>8.5M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1686" y="3454146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5B00"/>
                </a:solidFill>
                <a:latin typeface="IBM Plex Mono"/>
              </a:rPr>
              <a:t>7.9M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" y="4224274"/>
            <a:ext cx="139573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APAC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05207" y="4348734"/>
            <a:ext cx="502946" cy="0"/>
          </a:xfrm>
          <a:prstGeom prst="line">
            <a:avLst/>
          </a:prstGeom>
          <a:ln w="49174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193447" y="4236974"/>
            <a:ext cx="223520" cy="22352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96393" y="4236974"/>
            <a:ext cx="223520" cy="223520"/>
          </a:xfrm>
          <a:prstGeom prst="ellipse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38507" y="4038854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8C2F39"/>
                </a:solidFill>
                <a:latin typeface="IBM Plex Mono"/>
              </a:rPr>
              <a:t>5M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41453" y="4460494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5B00"/>
                </a:solidFill>
                <a:latin typeface="IBM Plex Mono"/>
              </a:rPr>
              <a:t>5.8M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" y="5230622"/>
            <a:ext cx="139573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LATAM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670632" y="5355082"/>
            <a:ext cx="377209" cy="0"/>
          </a:xfrm>
          <a:prstGeom prst="line">
            <a:avLst/>
          </a:prstGeom>
          <a:ln w="49174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3936081" y="5243322"/>
            <a:ext cx="223520" cy="22352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58872" y="5243322"/>
            <a:ext cx="223520" cy="223520"/>
          </a:xfrm>
          <a:prstGeom prst="ellipse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81141" y="5045202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8C2F39"/>
                </a:solidFill>
                <a:latin typeface="IBM Plex Mono"/>
              </a:rPr>
              <a:t>3M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03932" y="5466842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5B00"/>
                </a:solidFill>
                <a:latin typeface="IBM Plex Mono"/>
              </a:rPr>
              <a:t>2.4M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