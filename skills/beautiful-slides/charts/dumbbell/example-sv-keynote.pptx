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solidFill>
            <a:srgbClr val="0507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694944"/>
            <a:ext cx="10801807" cy="6629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900" b="1">
                <a:solidFill>
                  <a:srgbClr val="F5F7FA"/>
                </a:solidFill>
                <a:latin typeface="Manrope"/>
              </a:rPr>
              <a:t>Satisfaction score, 2023 vs 2024</a:t>
            </a:r>
          </a:p>
        </p:txBody>
      </p:sp>
      <p:sp>
        <p:nvSpPr>
          <p:cNvPr id="4" name="Oval 3"/>
          <p:cNvSpPr/>
          <p:nvPr/>
        </p:nvSpPr>
        <p:spPr>
          <a:xfrm>
            <a:off x="9934651" y="1599819"/>
            <a:ext cx="171450" cy="171450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182301" y="149504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2023</a:t>
            </a:r>
          </a:p>
        </p:txBody>
      </p:sp>
      <p:sp>
        <p:nvSpPr>
          <p:cNvPr id="6" name="Oval 5"/>
          <p:cNvSpPr/>
          <p:nvPr/>
        </p:nvSpPr>
        <p:spPr>
          <a:xfrm>
            <a:off x="10830001" y="1599819"/>
            <a:ext cx="171450" cy="171450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77651" y="1495044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500" b="0">
                <a:solidFill>
                  <a:srgbClr val="F5F7FA"/>
                </a:solidFill>
                <a:latin typeface="Manrope"/>
              </a:rPr>
              <a:t>2024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80464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14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20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803741" y="1982724"/>
            <a:ext cx="0" cy="3824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15818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40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571418" y="1982724"/>
            <a:ext cx="0" cy="3824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83496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60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339096" y="1982724"/>
            <a:ext cx="0" cy="3824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751173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80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106773" y="1982724"/>
            <a:ext cx="0" cy="3824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0518851" y="5860796"/>
            <a:ext cx="711200" cy="2489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F5F7FA"/>
                </a:solidFill>
                <a:latin typeface="JetBrains Mono"/>
              </a:rPr>
              <a:t>100%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874451" y="1982724"/>
            <a:ext cx="0" cy="3824732"/>
          </a:xfrm>
          <a:prstGeom prst="line">
            <a:avLst/>
          </a:prstGeom>
          <a:ln w="4762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2036064" y="1982724"/>
            <a:ext cx="0" cy="3824732"/>
          </a:xfrm>
          <a:prstGeom prst="line">
            <a:avLst/>
          </a:prstGeom>
          <a:ln w="9524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94944" y="2159211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Onboarding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399702" y="2301451"/>
            <a:ext cx="1414142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97710" y="2199459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711852" y="2199459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75410" y="2185881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1D4FD"/>
                </a:solidFill>
                <a:latin typeface="JetBrains Mono"/>
              </a:rPr>
              <a:t>72%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51396" y="2185881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7B26A"/>
                </a:solidFill>
                <a:latin typeface="JetBrains Mono"/>
              </a:rPr>
              <a:t>88%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" y="2796667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Support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781015" y="2938907"/>
            <a:ext cx="1237374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7679023" y="2836915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916397" y="2836915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56723" y="2823337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1D4FD"/>
                </a:solidFill>
                <a:latin typeface="JetBrains Mono"/>
              </a:rPr>
              <a:t>65%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55941" y="2823337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7B26A"/>
                </a:solidFill>
                <a:latin typeface="JetBrains Mono"/>
              </a:rPr>
              <a:t>79%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3434122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Billing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62328" y="3576362"/>
            <a:ext cx="265152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060336" y="3474370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325488" y="3474370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51178" y="3243230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21D4FD"/>
                </a:solidFill>
                <a:latin typeface="JetBrains Mono"/>
              </a:rPr>
              <a:t>58%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16330" y="3678354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7B26A"/>
                </a:solidFill>
                <a:latin typeface="JetBrains Mono"/>
              </a:rPr>
              <a:t>61%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" y="4071577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Product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9106773" y="4213817"/>
            <a:ext cx="441919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9004781" y="4111825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446700" y="4111825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795623" y="3880685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21D4FD"/>
                </a:solidFill>
                <a:latin typeface="JetBrains Mono"/>
              </a:rPr>
              <a:t>80%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37542" y="4315809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7B26A"/>
                </a:solidFill>
                <a:latin typeface="JetBrains Mono"/>
              </a:rPr>
              <a:t>85%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4944" y="4709033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Docs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897176" y="4851273"/>
            <a:ext cx="1679294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6795184" y="4749281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474478" y="4749281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884" y="4735703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400" b="0">
                <a:solidFill>
                  <a:srgbClr val="21D4FD"/>
                </a:solidFill>
                <a:latin typeface="JetBrains Mono"/>
              </a:rPr>
              <a:t>55%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714022" y="4735703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400" b="0">
                <a:solidFill>
                  <a:srgbClr val="17B26A"/>
                </a:solidFill>
                <a:latin typeface="JetBrains Mono"/>
              </a:rPr>
              <a:t>74%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94944" y="5346488"/>
            <a:ext cx="1259840" cy="284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1600" b="0">
                <a:solidFill>
                  <a:srgbClr val="F5F7FA"/>
                </a:solidFill>
                <a:latin typeface="Manrope"/>
              </a:rPr>
              <a:t>Pricing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515863" y="5488728"/>
            <a:ext cx="530304" cy="0"/>
          </a:xfrm>
          <a:prstGeom prst="line">
            <a:avLst/>
          </a:prstGeom>
          <a:ln w="44876">
            <a:solidFill>
              <a:srgbClr val="9AA4B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Oval 51"/>
          <p:cNvSpPr/>
          <p:nvPr/>
        </p:nvSpPr>
        <p:spPr>
          <a:xfrm>
            <a:off x="7413871" y="5386736"/>
            <a:ext cx="203985" cy="203985"/>
          </a:xfrm>
          <a:prstGeom prst="ellipse">
            <a:avLst/>
          </a:prstGeom>
          <a:solidFill>
            <a:srgbClr val="21D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7944175" y="5386736"/>
            <a:ext cx="203985" cy="203985"/>
          </a:xfrm>
          <a:prstGeom prst="ellipse">
            <a:avLst/>
          </a:prstGeom>
          <a:solidFill>
            <a:srgbClr val="17B2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204713" y="5155596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b">
            <a:spAutoFit/>
          </a:bodyPr>
          <a:lstStyle/>
          <a:p>
            <a:pPr algn="ctr"/>
            <a:r>
              <a:rPr sz="1400" b="0">
                <a:solidFill>
                  <a:srgbClr val="21D4FD"/>
                </a:solidFill>
                <a:latin typeface="JetBrains Mono"/>
              </a:rPr>
              <a:t>62%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735017" y="5590720"/>
            <a:ext cx="622300" cy="2311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17B26A"/>
                </a:solidFill>
                <a:latin typeface="JetBrains Mono"/>
              </a:rPr>
              <a:t>68%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