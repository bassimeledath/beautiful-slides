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Revenue plan vs actual by region</a:t>
            </a:r>
          </a:p>
        </p:txBody>
      </p:sp>
      <p:sp>
        <p:nvSpPr>
          <p:cNvPr id="4" name="Oval 3"/>
          <p:cNvSpPr/>
          <p:nvPr/>
        </p:nvSpPr>
        <p:spPr>
          <a:xfrm>
            <a:off x="10197541" y="1381379"/>
            <a:ext cx="125730" cy="12573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9151" y="1304544"/>
            <a:ext cx="30734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Plan</a:t>
            </a:r>
          </a:p>
        </p:txBody>
      </p:sp>
      <p:sp>
        <p:nvSpPr>
          <p:cNvPr id="6" name="Oval 5"/>
          <p:cNvSpPr/>
          <p:nvPr/>
        </p:nvSpPr>
        <p:spPr>
          <a:xfrm>
            <a:off x="10854131" y="1381379"/>
            <a:ext cx="125730" cy="12573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35741" y="1304544"/>
            <a:ext cx="46101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8244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8245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52245" y="1660144"/>
            <a:ext cx="0" cy="42489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98246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52246" y="1660144"/>
            <a:ext cx="0" cy="42489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98247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247" y="1660144"/>
            <a:ext cx="0" cy="42489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98248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52248" y="1660144"/>
            <a:ext cx="0" cy="42489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98249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52249" y="1660144"/>
            <a:ext cx="0" cy="42489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498250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52250" y="1660144"/>
            <a:ext cx="0" cy="42489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98251" y="594715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14M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052251" y="1660144"/>
            <a:ext cx="0" cy="4248912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952244" y="1660144"/>
            <a:ext cx="0" cy="4248912"/>
          </a:xfrm>
          <a:prstGeom prst="line">
            <a:avLst/>
          </a:prstGeom>
          <a:ln w="9524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4944" y="2084578"/>
            <a:ext cx="119634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North America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52250" y="2191258"/>
            <a:ext cx="910000" cy="0"/>
          </a:xfrm>
          <a:prstGeom prst="line">
            <a:avLst/>
          </a:prstGeom>
          <a:ln w="43027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54460" y="2093468"/>
            <a:ext cx="195580" cy="1955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64460" y="2093468"/>
            <a:ext cx="195580" cy="19558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9960" y="2108708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0F4C81"/>
                </a:solidFill>
                <a:latin typeface="Public Sans"/>
              </a:rPr>
              <a:t>12M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5440" y="2108708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5603A"/>
                </a:solidFill>
                <a:latin typeface="Public Sans"/>
              </a:rPr>
              <a:t>13.4M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3146806"/>
            <a:ext cx="119634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EMEA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87247" y="3253486"/>
            <a:ext cx="390001" cy="0"/>
          </a:xfrm>
          <a:prstGeom prst="line">
            <a:avLst/>
          </a:prstGeom>
          <a:ln w="43027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79458" y="3155696"/>
            <a:ext cx="195580" cy="1955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89457" y="3155696"/>
            <a:ext cx="195580" cy="19558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4998" y="2990596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0F4C81"/>
                </a:solidFill>
                <a:latin typeface="Public Sans"/>
              </a:rPr>
              <a:t>8.5M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4997" y="3351276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5603A"/>
                </a:solidFill>
                <a:latin typeface="Public Sans"/>
              </a:rPr>
              <a:t>7.9M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4209034"/>
            <a:ext cx="119634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APAC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02246" y="4315714"/>
            <a:ext cx="520000" cy="0"/>
          </a:xfrm>
          <a:prstGeom prst="line">
            <a:avLst/>
          </a:prstGeom>
          <a:ln w="43027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104456" y="4217924"/>
            <a:ext cx="195580" cy="1955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24456" y="4217924"/>
            <a:ext cx="195580" cy="19558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79996" y="4052824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0F4C81"/>
                </a:solidFill>
                <a:latin typeface="Public Sans"/>
              </a:rPr>
              <a:t>5M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99996" y="4413504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5603A"/>
                </a:solidFill>
                <a:latin typeface="Public Sans"/>
              </a:rPr>
              <a:t>5.8M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5271262"/>
            <a:ext cx="119634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LATAM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512245" y="5377942"/>
            <a:ext cx="390000" cy="0"/>
          </a:xfrm>
          <a:prstGeom prst="line">
            <a:avLst/>
          </a:prstGeom>
          <a:ln w="43027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3804455" y="5280152"/>
            <a:ext cx="195580" cy="1955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414455" y="5280152"/>
            <a:ext cx="195580" cy="19558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9995" y="5115052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0F4C81"/>
                </a:solidFill>
                <a:latin typeface="Public Sans"/>
              </a:rPr>
              <a:t>3M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89995" y="5475732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5603A"/>
                </a:solidFill>
                <a:latin typeface="Public Sans"/>
              </a:rPr>
              <a:t>2.4M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