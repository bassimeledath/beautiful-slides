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2201C"/>
                </a:solidFill>
                <a:latin typeface="Instrument Serif"/>
              </a:rPr>
              <a:t>Satisfaction score, 2023 vs 2024</a:t>
            </a:r>
          </a:p>
        </p:txBody>
      </p:sp>
      <p:sp>
        <p:nvSpPr>
          <p:cNvPr id="4" name="Oval 3"/>
          <p:cNvSpPr/>
          <p:nvPr/>
        </p:nvSpPr>
        <p:spPr>
          <a:xfrm>
            <a:off x="10142931" y="1502029"/>
            <a:ext cx="148590" cy="148590"/>
          </a:xfrm>
          <a:prstGeom prst="ellips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57561" y="1411224"/>
            <a:ext cx="36322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2023</a:t>
            </a:r>
          </a:p>
        </p:txBody>
      </p:sp>
      <p:sp>
        <p:nvSpPr>
          <p:cNvPr id="6" name="Oval 5"/>
          <p:cNvSpPr/>
          <p:nvPr/>
        </p:nvSpPr>
        <p:spPr>
          <a:xfrm>
            <a:off x="10918901" y="1502029"/>
            <a:ext cx="148590" cy="148590"/>
          </a:xfrm>
          <a:prstGeom prst="ellipse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33531" y="1411224"/>
            <a:ext cx="36322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01C"/>
                </a:solidFill>
                <a:latin typeface="Instrument Sans"/>
              </a:rPr>
              <a:t>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3624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2609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87409" y="1832864"/>
            <a:ext cx="0" cy="4025392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01594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40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06394" y="1832864"/>
            <a:ext cx="0" cy="4025392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020580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60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25380" y="1832864"/>
            <a:ext cx="0" cy="4025392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839565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80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365" y="1832864"/>
            <a:ext cx="0" cy="4025392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658551" y="5903976"/>
            <a:ext cx="609600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100%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963351" y="1832864"/>
            <a:ext cx="0" cy="4025392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68424" y="1832864"/>
            <a:ext cx="0" cy="4025392"/>
          </a:xfrm>
          <a:prstGeom prst="line">
            <a:avLst/>
          </a:prstGeom>
          <a:ln w="9524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4944" y="2043853"/>
            <a:ext cx="110236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Onboarding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16771" y="2168313"/>
            <a:ext cx="1455188" cy="0"/>
          </a:xfrm>
          <a:prstGeom prst="line">
            <a:avLst/>
          </a:prstGeom>
          <a:ln w="47231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309428" y="2060970"/>
            <a:ext cx="214687" cy="214687"/>
          </a:xfrm>
          <a:prstGeom prst="ellips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64616" y="2060970"/>
            <a:ext cx="214687" cy="214687"/>
          </a:xfrm>
          <a:prstGeom prst="ellipse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6028" y="2069253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7C8571"/>
                </a:solidFill>
                <a:latin typeface="Instrument Sans"/>
              </a:rPr>
              <a:t>72%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9782" y="2069253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A6B39"/>
                </a:solidFill>
                <a:latin typeface="Instrument Sans"/>
              </a:rPr>
              <a:t>88%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2714752"/>
            <a:ext cx="110236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Support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80126" y="2839212"/>
            <a:ext cx="1273290" cy="0"/>
          </a:xfrm>
          <a:prstGeom prst="line">
            <a:avLst/>
          </a:prstGeom>
          <a:ln w="47231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672783" y="2731869"/>
            <a:ext cx="214687" cy="214687"/>
          </a:xfrm>
          <a:prstGeom prst="ellips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46073" y="2731869"/>
            <a:ext cx="214687" cy="214687"/>
          </a:xfrm>
          <a:prstGeom prst="ellipse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9383" y="2740152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7C8571"/>
                </a:solidFill>
                <a:latin typeface="Instrument Sans"/>
              </a:rPr>
              <a:t>65%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1239" y="2740152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A6B39"/>
                </a:solidFill>
                <a:latin typeface="Instrument Sans"/>
              </a:rPr>
              <a:t>79%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3385651"/>
            <a:ext cx="110236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Billing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43481" y="3510110"/>
            <a:ext cx="272848" cy="0"/>
          </a:xfrm>
          <a:prstGeom prst="line">
            <a:avLst/>
          </a:prstGeom>
          <a:ln w="47231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036138" y="3402767"/>
            <a:ext cx="214687" cy="214687"/>
          </a:xfrm>
          <a:prstGeom prst="ellips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8986" y="3402767"/>
            <a:ext cx="214687" cy="214687"/>
          </a:xfrm>
          <a:prstGeom prst="ellipse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76781" y="3204647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7C8571"/>
                </a:solidFill>
                <a:latin typeface="Instrument Sans"/>
              </a:rPr>
              <a:t>58%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49629" y="3617453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A6B39"/>
                </a:solidFill>
                <a:latin typeface="Instrument Sans"/>
              </a:rPr>
              <a:t>61%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" y="4056549"/>
            <a:ext cx="110236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Product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365" y="4181009"/>
            <a:ext cx="454746" cy="0"/>
          </a:xfrm>
          <a:prstGeom prst="line">
            <a:avLst/>
          </a:prstGeom>
          <a:ln w="47231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037022" y="4073666"/>
            <a:ext cx="214687" cy="214687"/>
          </a:xfrm>
          <a:prstGeom prst="ellips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491768" y="4073666"/>
            <a:ext cx="214687" cy="214687"/>
          </a:xfrm>
          <a:prstGeom prst="ellipse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77665" y="3875546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7C8571"/>
                </a:solidFill>
                <a:latin typeface="Instrument Sans"/>
              </a:rPr>
              <a:t>80%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32411" y="4288352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A6B39"/>
                </a:solidFill>
                <a:latin typeface="Instrument Sans"/>
              </a:rPr>
              <a:t>85%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" y="4727448"/>
            <a:ext cx="110236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Docs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870633" y="4851907"/>
            <a:ext cx="1728036" cy="0"/>
          </a:xfrm>
          <a:prstGeom prst="line">
            <a:avLst/>
          </a:prstGeom>
          <a:ln w="47231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763290" y="4744564"/>
            <a:ext cx="214687" cy="214687"/>
          </a:xfrm>
          <a:prstGeom prst="ellips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91326" y="4744564"/>
            <a:ext cx="214687" cy="214687"/>
          </a:xfrm>
          <a:prstGeom prst="ellipse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29890" y="4752847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7C8571"/>
                </a:solidFill>
                <a:latin typeface="Instrument Sans"/>
              </a:rPr>
              <a:t>55%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6492" y="4752847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A6B39"/>
                </a:solidFill>
                <a:latin typeface="Instrument Sans"/>
              </a:rPr>
              <a:t>74%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" y="5398347"/>
            <a:ext cx="110236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Pricing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507278" y="5522806"/>
            <a:ext cx="545696" cy="0"/>
          </a:xfrm>
          <a:prstGeom prst="line">
            <a:avLst/>
          </a:prstGeom>
          <a:ln w="47231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7399935" y="5415463"/>
            <a:ext cx="214687" cy="214687"/>
          </a:xfrm>
          <a:prstGeom prst="ellips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945631" y="5415463"/>
            <a:ext cx="214687" cy="214687"/>
          </a:xfrm>
          <a:prstGeom prst="ellipse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40578" y="5217343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7C8571"/>
                </a:solidFill>
                <a:latin typeface="Instrument Sans"/>
              </a:rPr>
              <a:t>62%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86274" y="5630149"/>
            <a:ext cx="5334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9A6B39"/>
                </a:solidFill>
                <a:latin typeface="Instrument Sans"/>
              </a:rPr>
              <a:t>68%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