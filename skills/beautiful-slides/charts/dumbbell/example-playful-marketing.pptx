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F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B1B1F"/>
                </a:solidFill>
                <a:latin typeface="Bricolage Grotesque"/>
              </a:rPr>
              <a:t>Satisfaction score, 2023 vs 2024</a:t>
            </a:r>
          </a:p>
        </p:txBody>
      </p:sp>
      <p:sp>
        <p:nvSpPr>
          <p:cNvPr id="4" name="Oval 3"/>
          <p:cNvSpPr/>
          <p:nvPr/>
        </p:nvSpPr>
        <p:spPr>
          <a:xfrm>
            <a:off x="9934651" y="1599819"/>
            <a:ext cx="171450" cy="17145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82301" y="1495044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B1B1F"/>
                </a:solidFill>
                <a:latin typeface="Plus Jakarta Sans"/>
              </a:rPr>
              <a:t>2023</a:t>
            </a:r>
          </a:p>
        </p:txBody>
      </p:sp>
      <p:sp>
        <p:nvSpPr>
          <p:cNvPr id="6" name="Oval 5"/>
          <p:cNvSpPr/>
          <p:nvPr/>
        </p:nvSpPr>
        <p:spPr>
          <a:xfrm>
            <a:off x="10830001" y="1599819"/>
            <a:ext cx="171450" cy="171450"/>
          </a:xfrm>
          <a:prstGeom prst="ellipse">
            <a:avLst/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77651" y="1495044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1B1B1F"/>
                </a:solidFill>
                <a:latin typeface="Plus Jakarta Sans"/>
              </a:rPr>
              <a:t>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80464" y="5860796"/>
            <a:ext cx="711200" cy="248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Recursive Mono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48141" y="5860796"/>
            <a:ext cx="711200" cy="248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Recursive Mono"/>
              </a:rPr>
              <a:t>20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03741" y="1982724"/>
            <a:ext cx="0" cy="3824732"/>
          </a:xfrm>
          <a:prstGeom prst="line">
            <a:avLst/>
          </a:prstGeom>
          <a:ln w="4762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215818" y="5860796"/>
            <a:ext cx="711200" cy="248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Recursive Mono"/>
              </a:rPr>
              <a:t>40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571418" y="1982724"/>
            <a:ext cx="0" cy="3824732"/>
          </a:xfrm>
          <a:prstGeom prst="line">
            <a:avLst/>
          </a:prstGeom>
          <a:ln w="4762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983496" y="5860796"/>
            <a:ext cx="711200" cy="248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Recursive Mono"/>
              </a:rPr>
              <a:t>60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39096" y="1982724"/>
            <a:ext cx="0" cy="3824732"/>
          </a:xfrm>
          <a:prstGeom prst="line">
            <a:avLst/>
          </a:prstGeom>
          <a:ln w="4762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51173" y="5860796"/>
            <a:ext cx="711200" cy="248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Recursive Mono"/>
              </a:rPr>
              <a:t>80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06773" y="1982724"/>
            <a:ext cx="0" cy="3824732"/>
          </a:xfrm>
          <a:prstGeom prst="line">
            <a:avLst/>
          </a:prstGeom>
          <a:ln w="4762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518851" y="5860796"/>
            <a:ext cx="711200" cy="248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Recursive Mono"/>
              </a:rPr>
              <a:t>100%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874451" y="1982724"/>
            <a:ext cx="0" cy="3824732"/>
          </a:xfrm>
          <a:prstGeom prst="line">
            <a:avLst/>
          </a:prstGeom>
          <a:ln w="4762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036064" y="1982724"/>
            <a:ext cx="0" cy="3824732"/>
          </a:xfrm>
          <a:prstGeom prst="line">
            <a:avLst/>
          </a:prstGeom>
          <a:ln w="9524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94944" y="2159211"/>
            <a:ext cx="125984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B1B1F"/>
                </a:solidFill>
                <a:latin typeface="Plus Jakarta Sans"/>
              </a:rPr>
              <a:t>Onboarding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399702" y="2301451"/>
            <a:ext cx="1414142" cy="0"/>
          </a:xfrm>
          <a:prstGeom prst="line">
            <a:avLst/>
          </a:prstGeom>
          <a:ln w="44876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297710" y="2199459"/>
            <a:ext cx="203985" cy="203985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11852" y="2199459"/>
            <a:ext cx="203985" cy="203985"/>
          </a:xfrm>
          <a:prstGeom prst="ellipse">
            <a:avLst/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75410" y="2185881"/>
            <a:ext cx="622300" cy="231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F7A00"/>
                </a:solidFill>
                <a:latin typeface="Recursive Mono"/>
              </a:rPr>
              <a:t>72%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51396" y="2185881"/>
            <a:ext cx="622300" cy="231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0AB39C"/>
                </a:solidFill>
                <a:latin typeface="Recursive Mono"/>
              </a:rPr>
              <a:t>88%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" y="2796667"/>
            <a:ext cx="125984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B1B1F"/>
                </a:solidFill>
                <a:latin typeface="Plus Jakarta Sans"/>
              </a:rPr>
              <a:t>Support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781015" y="2938907"/>
            <a:ext cx="1237374" cy="0"/>
          </a:xfrm>
          <a:prstGeom prst="line">
            <a:avLst/>
          </a:prstGeom>
          <a:ln w="44876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7679023" y="2836915"/>
            <a:ext cx="203985" cy="203985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916397" y="2836915"/>
            <a:ext cx="203985" cy="203985"/>
          </a:xfrm>
          <a:prstGeom prst="ellipse">
            <a:avLst/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56723" y="2823337"/>
            <a:ext cx="622300" cy="231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F7A00"/>
                </a:solidFill>
                <a:latin typeface="Recursive Mono"/>
              </a:rPr>
              <a:t>65%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55941" y="2823337"/>
            <a:ext cx="622300" cy="231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0AB39C"/>
                </a:solidFill>
                <a:latin typeface="Recursive Mono"/>
              </a:rPr>
              <a:t>79%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" y="3434122"/>
            <a:ext cx="125984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B1B1F"/>
                </a:solidFill>
                <a:latin typeface="Plus Jakarta Sans"/>
              </a:rPr>
              <a:t>Billing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162328" y="3576362"/>
            <a:ext cx="265152" cy="0"/>
          </a:xfrm>
          <a:prstGeom prst="line">
            <a:avLst/>
          </a:prstGeom>
          <a:ln w="44876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7060336" y="3474370"/>
            <a:ext cx="203985" cy="203985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25488" y="3474370"/>
            <a:ext cx="203985" cy="203985"/>
          </a:xfrm>
          <a:prstGeom prst="ellipse">
            <a:avLst/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1178" y="3243230"/>
            <a:ext cx="622300" cy="2311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0">
                <a:solidFill>
                  <a:srgbClr val="FF7A00"/>
                </a:solidFill>
                <a:latin typeface="Recursive Mono"/>
              </a:rPr>
              <a:t>58%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16330" y="3678354"/>
            <a:ext cx="6223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0AB39C"/>
                </a:solidFill>
                <a:latin typeface="Recursive Mono"/>
              </a:rPr>
              <a:t>61%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" y="4071577"/>
            <a:ext cx="125984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B1B1F"/>
                </a:solidFill>
                <a:latin typeface="Plus Jakarta Sans"/>
              </a:rPr>
              <a:t>Product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06773" y="4213817"/>
            <a:ext cx="441919" cy="0"/>
          </a:xfrm>
          <a:prstGeom prst="line">
            <a:avLst/>
          </a:prstGeom>
          <a:ln w="44876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9004781" y="4111825"/>
            <a:ext cx="203985" cy="203985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446700" y="4111825"/>
            <a:ext cx="203985" cy="203985"/>
          </a:xfrm>
          <a:prstGeom prst="ellipse">
            <a:avLst/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95623" y="3880685"/>
            <a:ext cx="622300" cy="2311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0">
                <a:solidFill>
                  <a:srgbClr val="FF7A00"/>
                </a:solidFill>
                <a:latin typeface="Recursive Mono"/>
              </a:rPr>
              <a:t>80%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7542" y="4315809"/>
            <a:ext cx="6223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0AB39C"/>
                </a:solidFill>
                <a:latin typeface="Recursive Mono"/>
              </a:rPr>
              <a:t>85%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" y="4709033"/>
            <a:ext cx="125984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B1B1F"/>
                </a:solidFill>
                <a:latin typeface="Plus Jakarta Sans"/>
              </a:rPr>
              <a:t>Docs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897176" y="4851273"/>
            <a:ext cx="1679294" cy="0"/>
          </a:xfrm>
          <a:prstGeom prst="line">
            <a:avLst/>
          </a:prstGeom>
          <a:ln w="44876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795184" y="4749281"/>
            <a:ext cx="203985" cy="203985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474478" y="4749281"/>
            <a:ext cx="203985" cy="203985"/>
          </a:xfrm>
          <a:prstGeom prst="ellipse">
            <a:avLst/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72884" y="4735703"/>
            <a:ext cx="622300" cy="231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FF7A00"/>
                </a:solidFill>
                <a:latin typeface="Recursive Mono"/>
              </a:rPr>
              <a:t>55%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14022" y="4735703"/>
            <a:ext cx="622300" cy="231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0AB39C"/>
                </a:solidFill>
                <a:latin typeface="Recursive Mono"/>
              </a:rPr>
              <a:t>74%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944" y="5346488"/>
            <a:ext cx="125984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B1B1F"/>
                </a:solidFill>
                <a:latin typeface="Plus Jakarta Sans"/>
              </a:rPr>
              <a:t>Pricing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515863" y="5488728"/>
            <a:ext cx="530304" cy="0"/>
          </a:xfrm>
          <a:prstGeom prst="line">
            <a:avLst/>
          </a:prstGeom>
          <a:ln w="44876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7413871" y="5386736"/>
            <a:ext cx="203985" cy="203985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944175" y="5386736"/>
            <a:ext cx="203985" cy="203985"/>
          </a:xfrm>
          <a:prstGeom prst="ellipse">
            <a:avLst/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04713" y="5155596"/>
            <a:ext cx="622300" cy="2311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0">
                <a:solidFill>
                  <a:srgbClr val="FF7A00"/>
                </a:solidFill>
                <a:latin typeface="Recursive Mono"/>
              </a:rPr>
              <a:t>62%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35017" y="5590720"/>
            <a:ext cx="6223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0AB39C"/>
                </a:solidFill>
                <a:latin typeface="Recursive Mono"/>
              </a:rPr>
              <a:t>68%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