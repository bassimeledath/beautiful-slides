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0186" y="580186"/>
            <a:ext cx="11031323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22201C"/>
                </a:solidFill>
                <a:latin typeface="Instrument Serif"/>
              </a:rPr>
              <a:t>Key metrics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770" y="1451623"/>
            <a:ext cx="3161910" cy="1816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2201C"/>
                </a:solidFill>
                <a:latin typeface="Instrument Sans"/>
              </a:rPr>
              <a:t>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770" y="1665570"/>
            <a:ext cx="3161910" cy="3136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22201C"/>
                </a:solidFill>
                <a:latin typeface="Instrument Serif"/>
              </a:rPr>
              <a:t>$2.40M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770" y="1979260"/>
            <a:ext cx="3161910" cy="165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6B39"/>
                </a:solidFill>
                <a:latin typeface="Instrument Sans"/>
              </a:rPr>
              <a:t>+0.30 vs prev quarter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795770" y="2760278"/>
            <a:ext cx="451701" cy="106680"/>
          </a:xfrm>
          <a:prstGeom prst="line">
            <a:avLst/>
          </a:prstGeom>
          <a:ln w="19050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247471" y="2653598"/>
            <a:ext cx="451701" cy="106680"/>
          </a:xfrm>
          <a:prstGeom prst="line">
            <a:avLst/>
          </a:prstGeom>
          <a:ln w="19050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699172" y="2546918"/>
            <a:ext cx="451702" cy="106680"/>
          </a:xfrm>
          <a:prstGeom prst="line">
            <a:avLst/>
          </a:prstGeom>
          <a:ln w="19050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150874" y="2546918"/>
            <a:ext cx="451701" cy="106680"/>
          </a:xfrm>
          <a:prstGeom prst="line">
            <a:avLst/>
          </a:prstGeom>
          <a:ln w="19050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602575" y="2440238"/>
            <a:ext cx="451702" cy="213360"/>
          </a:xfrm>
          <a:prstGeom prst="line">
            <a:avLst/>
          </a:prstGeom>
          <a:ln w="19050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054277" y="2333558"/>
            <a:ext cx="451701" cy="106680"/>
          </a:xfrm>
          <a:prstGeom prst="line">
            <a:avLst/>
          </a:prstGeom>
          <a:ln w="19050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505978" y="2226878"/>
            <a:ext cx="451702" cy="106680"/>
          </a:xfrm>
          <a:prstGeom prst="line">
            <a:avLst/>
          </a:prstGeom>
          <a:ln w="19050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925930" y="2195128"/>
            <a:ext cx="63500" cy="63500"/>
          </a:xfrm>
          <a:prstGeom prst="ellipse">
            <a:avLst/>
          </a:prstGeom>
          <a:solidFill>
            <a:srgbClr val="9A6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4892" y="1451623"/>
            <a:ext cx="3161910" cy="1816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2201C"/>
                </a:solidFill>
                <a:latin typeface="Instrument Sans"/>
              </a:rPr>
              <a:t>Active 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4892" y="1665570"/>
            <a:ext cx="3161910" cy="3136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22201C"/>
                </a:solidFill>
                <a:latin typeface="Instrument Serif"/>
              </a:rPr>
              <a:t>14200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4892" y="1979260"/>
            <a:ext cx="3161910" cy="165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6B39"/>
                </a:solidFill>
                <a:latin typeface="Instrument Sans"/>
              </a:rPr>
              <a:t>+1200 MoM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4514892" y="2766945"/>
            <a:ext cx="451701" cy="100013"/>
          </a:xfrm>
          <a:prstGeom prst="line">
            <a:avLst/>
          </a:prstGeom>
          <a:ln w="19050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4966593" y="2666933"/>
            <a:ext cx="451701" cy="100012"/>
          </a:xfrm>
          <a:prstGeom prst="line">
            <a:avLst/>
          </a:prstGeom>
          <a:ln w="19050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5418294" y="2506913"/>
            <a:ext cx="451702" cy="160020"/>
          </a:xfrm>
          <a:prstGeom prst="line">
            <a:avLst/>
          </a:prstGeom>
          <a:ln w="19050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5869996" y="2426903"/>
            <a:ext cx="451701" cy="80010"/>
          </a:xfrm>
          <a:prstGeom prst="line">
            <a:avLst/>
          </a:prstGeom>
          <a:ln w="19050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321697" y="2366895"/>
            <a:ext cx="451702" cy="60008"/>
          </a:xfrm>
          <a:prstGeom prst="line">
            <a:avLst/>
          </a:prstGeom>
          <a:ln w="19050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6773399" y="2266883"/>
            <a:ext cx="451701" cy="100012"/>
          </a:xfrm>
          <a:prstGeom prst="line">
            <a:avLst/>
          </a:prstGeom>
          <a:ln w="19050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7225100" y="2226878"/>
            <a:ext cx="451702" cy="40005"/>
          </a:xfrm>
          <a:prstGeom prst="line">
            <a:avLst/>
          </a:prstGeom>
          <a:ln w="19050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645052" y="2195128"/>
            <a:ext cx="63500" cy="63500"/>
          </a:xfrm>
          <a:prstGeom prst="ellipse">
            <a:avLst/>
          </a:prstGeom>
          <a:solidFill>
            <a:srgbClr val="9A6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34014" y="1451623"/>
            <a:ext cx="3161910" cy="1816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2201C"/>
                </a:solidFill>
                <a:latin typeface="Instrument Sans"/>
              </a:rPr>
              <a:t>Churn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34014" y="1665570"/>
            <a:ext cx="3161910" cy="3136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22201C"/>
                </a:solidFill>
                <a:latin typeface="Instrument Serif"/>
              </a:rPr>
              <a:t>3.20%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34014" y="1979260"/>
            <a:ext cx="3161910" cy="165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C8571"/>
                </a:solidFill>
                <a:latin typeface="Instrument Sans"/>
              </a:rPr>
              <a:t>-0.50 vs last month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234014" y="2226878"/>
            <a:ext cx="451701" cy="142240"/>
          </a:xfrm>
          <a:prstGeom prst="line">
            <a:avLst/>
          </a:prstGeom>
          <a:ln w="19050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685715" y="2369118"/>
            <a:ext cx="451701" cy="71120"/>
          </a:xfrm>
          <a:prstGeom prst="line">
            <a:avLst/>
          </a:prstGeom>
          <a:ln w="19050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137416" y="2440238"/>
            <a:ext cx="451702" cy="71120"/>
          </a:xfrm>
          <a:prstGeom prst="line">
            <a:avLst/>
          </a:prstGeom>
          <a:ln w="19050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589118" y="2511358"/>
            <a:ext cx="451701" cy="142240"/>
          </a:xfrm>
          <a:prstGeom prst="line">
            <a:avLst/>
          </a:prstGeom>
          <a:ln w="19050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040819" y="2653598"/>
            <a:ext cx="451702" cy="71120"/>
          </a:xfrm>
          <a:prstGeom prst="line">
            <a:avLst/>
          </a:prstGeom>
          <a:ln w="19050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0492521" y="2724718"/>
            <a:ext cx="451701" cy="71120"/>
          </a:xfrm>
          <a:prstGeom prst="line">
            <a:avLst/>
          </a:prstGeom>
          <a:ln w="19050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944222" y="2795838"/>
            <a:ext cx="451702" cy="71120"/>
          </a:xfrm>
          <a:prstGeom prst="line">
            <a:avLst/>
          </a:prstGeom>
          <a:ln w="19050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11364174" y="2835208"/>
            <a:ext cx="63500" cy="63500"/>
          </a:xfrm>
          <a:prstGeom prst="ellipse">
            <a:avLst/>
          </a:prstGeom>
          <a:solidFill>
            <a:srgbClr val="9A6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770" y="4035532"/>
            <a:ext cx="3161910" cy="1816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2201C"/>
                </a:solidFill>
                <a:latin typeface="Instrument Sans"/>
              </a:rPr>
              <a:t>NPS Score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770" y="4249479"/>
            <a:ext cx="3161910" cy="3136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22201C"/>
                </a:solidFill>
                <a:latin typeface="Instrument Serif"/>
              </a:rPr>
              <a:t>72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770" y="4563169"/>
            <a:ext cx="3161910" cy="165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6B39"/>
                </a:solidFill>
                <a:latin typeface="Instrument Sans"/>
              </a:rPr>
              <a:t>+4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795770" y="5344187"/>
            <a:ext cx="451701" cy="106680"/>
          </a:xfrm>
          <a:prstGeom prst="line">
            <a:avLst/>
          </a:prstGeom>
          <a:ln w="19050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247471" y="5184167"/>
            <a:ext cx="451701" cy="160020"/>
          </a:xfrm>
          <a:prstGeom prst="line">
            <a:avLst/>
          </a:prstGeom>
          <a:ln w="19050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699172" y="5077487"/>
            <a:ext cx="451702" cy="106680"/>
          </a:xfrm>
          <a:prstGeom prst="line">
            <a:avLst/>
          </a:prstGeom>
          <a:ln w="19050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2150874" y="5024147"/>
            <a:ext cx="451701" cy="53340"/>
          </a:xfrm>
          <a:prstGeom prst="line">
            <a:avLst/>
          </a:prstGeom>
          <a:ln w="19050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2602575" y="4917467"/>
            <a:ext cx="451702" cy="106680"/>
          </a:xfrm>
          <a:prstGeom prst="line">
            <a:avLst/>
          </a:prstGeom>
          <a:ln w="19050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054277" y="4864127"/>
            <a:ext cx="451701" cy="53340"/>
          </a:xfrm>
          <a:prstGeom prst="line">
            <a:avLst/>
          </a:prstGeom>
          <a:ln w="19050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505978" y="4810787"/>
            <a:ext cx="451702" cy="53340"/>
          </a:xfrm>
          <a:prstGeom prst="line">
            <a:avLst/>
          </a:prstGeom>
          <a:ln w="19050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3925930" y="4779037"/>
            <a:ext cx="63500" cy="63500"/>
          </a:xfrm>
          <a:prstGeom prst="ellipse">
            <a:avLst/>
          </a:prstGeom>
          <a:solidFill>
            <a:srgbClr val="9A6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14892" y="4035532"/>
            <a:ext cx="3161910" cy="1816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2201C"/>
                </a:solidFill>
                <a:latin typeface="Instrument Sans"/>
              </a:rPr>
              <a:t>Avg Deal Size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14892" y="4249479"/>
            <a:ext cx="3161910" cy="3136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22201C"/>
                </a:solidFill>
                <a:latin typeface="Instrument Serif"/>
              </a:rPr>
              <a:t>$48.5K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14892" y="4563169"/>
            <a:ext cx="3161910" cy="165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6B39"/>
                </a:solidFill>
                <a:latin typeface="Instrument Sans"/>
              </a:rPr>
              <a:t>+3.20 QoQ</a:t>
            </a:r>
          </a:p>
        </p:txBody>
      </p:sp>
      <p:cxnSp>
        <p:nvCxnSpPr>
          <p:cNvPr id="51" name="Connector 50"/>
          <p:cNvCxnSpPr/>
          <p:nvPr/>
        </p:nvCxnSpPr>
        <p:spPr>
          <a:xfrm flipV="1">
            <a:off x="4514892" y="5328947"/>
            <a:ext cx="451701" cy="121920"/>
          </a:xfrm>
          <a:prstGeom prst="line">
            <a:avLst/>
          </a:prstGeom>
          <a:ln w="19050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966593" y="5207027"/>
            <a:ext cx="451701" cy="121920"/>
          </a:xfrm>
          <a:prstGeom prst="line">
            <a:avLst/>
          </a:prstGeom>
          <a:ln w="19050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418294" y="5085107"/>
            <a:ext cx="451702" cy="121920"/>
          </a:xfrm>
          <a:prstGeom prst="line">
            <a:avLst/>
          </a:prstGeom>
          <a:ln w="19050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869996" y="5024147"/>
            <a:ext cx="451701" cy="60960"/>
          </a:xfrm>
          <a:prstGeom prst="line">
            <a:avLst/>
          </a:prstGeom>
          <a:ln w="19050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6321697" y="4963187"/>
            <a:ext cx="451702" cy="60960"/>
          </a:xfrm>
          <a:prstGeom prst="line">
            <a:avLst/>
          </a:prstGeom>
          <a:ln w="19050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6773399" y="4902227"/>
            <a:ext cx="451701" cy="60960"/>
          </a:xfrm>
          <a:prstGeom prst="line">
            <a:avLst/>
          </a:prstGeom>
          <a:ln w="19050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7225100" y="4810787"/>
            <a:ext cx="451702" cy="91440"/>
          </a:xfrm>
          <a:prstGeom prst="line">
            <a:avLst/>
          </a:prstGeom>
          <a:ln w="19050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7645052" y="4779037"/>
            <a:ext cx="63500" cy="63500"/>
          </a:xfrm>
          <a:prstGeom prst="ellipse">
            <a:avLst/>
          </a:prstGeom>
          <a:solidFill>
            <a:srgbClr val="9A6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34014" y="4035532"/>
            <a:ext cx="3161910" cy="1816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2201C"/>
                </a:solidFill>
                <a:latin typeface="Instrument Sans"/>
              </a:rPr>
              <a:t>Support CSAT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34014" y="4249479"/>
            <a:ext cx="3161910" cy="3136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22201C"/>
                </a:solidFill>
                <a:latin typeface="Instrument Serif"/>
              </a:rPr>
              <a:t>94%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34014" y="4563169"/>
            <a:ext cx="3161910" cy="165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A6B39"/>
                </a:solidFill>
                <a:latin typeface="Instrument Sans"/>
              </a:rPr>
              <a:t>+2 vs target</a:t>
            </a:r>
          </a:p>
        </p:txBody>
      </p:sp>
      <p:cxnSp>
        <p:nvCxnSpPr>
          <p:cNvPr id="62" name="Connector 61"/>
          <p:cNvCxnSpPr/>
          <p:nvPr/>
        </p:nvCxnSpPr>
        <p:spPr>
          <a:xfrm flipV="1">
            <a:off x="8234014" y="5344187"/>
            <a:ext cx="451701" cy="106680"/>
          </a:xfrm>
          <a:prstGeom prst="line">
            <a:avLst/>
          </a:prstGeom>
          <a:ln w="19050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8685715" y="5237507"/>
            <a:ext cx="451701" cy="106680"/>
          </a:xfrm>
          <a:prstGeom prst="line">
            <a:avLst/>
          </a:prstGeom>
          <a:ln w="19050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9137416" y="5130827"/>
            <a:ext cx="451702" cy="106680"/>
          </a:xfrm>
          <a:prstGeom prst="line">
            <a:avLst/>
          </a:prstGeom>
          <a:ln w="19050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9589118" y="5024147"/>
            <a:ext cx="451701" cy="106680"/>
          </a:xfrm>
          <a:prstGeom prst="line">
            <a:avLst/>
          </a:prstGeom>
          <a:ln w="19050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10040819" y="4917467"/>
            <a:ext cx="451702" cy="106680"/>
          </a:xfrm>
          <a:prstGeom prst="line">
            <a:avLst/>
          </a:prstGeom>
          <a:ln w="19050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0492521" y="4917467"/>
            <a:ext cx="451701" cy="0"/>
          </a:xfrm>
          <a:prstGeom prst="line">
            <a:avLst/>
          </a:prstGeom>
          <a:ln w="19050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0944222" y="4810787"/>
            <a:ext cx="451702" cy="106680"/>
          </a:xfrm>
          <a:prstGeom prst="line">
            <a:avLst/>
          </a:prstGeom>
          <a:ln w="19050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11364174" y="4779037"/>
            <a:ext cx="63500" cy="63500"/>
          </a:xfrm>
          <a:prstGeom prst="ellipse">
            <a:avLst/>
          </a:prstGeom>
          <a:solidFill>
            <a:srgbClr val="9A6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