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201C"/>
                </a:solidFill>
                <a:latin typeface="Instrument Serif"/>
              </a:rPr>
              <a:t>Usage intensity — weekday ×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6960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57864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8769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19674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00579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1483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2388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3293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198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5102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86007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66912" y="914400"/>
            <a:ext cx="87614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198880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Mon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65766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Tue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532652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199538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Thu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66424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Fri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33310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Sat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00196"/>
            <a:ext cx="467360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Sun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6960" y="119888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2F2ED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76960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57864" y="119888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6F5F1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957864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38769" y="119888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8F7F4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838769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19674" y="119888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8F7F4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719674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3%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00579" y="119888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E5E6E0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00579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18%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1483" y="119888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B6BAAE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481483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55%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62388" y="119888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0A697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62388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72%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43293" y="119888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8F9785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243293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4198" y="119888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8B9381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124198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88%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05102" y="119888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989F8F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005102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78%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86007" y="119888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FB4A7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886007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766912" y="119888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CFD2C9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766912" y="119888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35%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76960" y="186576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3F3EF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76960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7%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57864" y="186576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7F6F3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957864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4%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838769" y="186576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8F7F4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2838769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3%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19674" y="186576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7F6F3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719674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600579" y="186576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E0E1DA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600579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22%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81483" y="186576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B2B7AA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481483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58%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62388" y="186576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9BA191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362388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76%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43293" y="186576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89917E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243293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90%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4198" y="186576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868E7C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124198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92%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05102" y="186576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939A89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005102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82%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886007" y="186576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DB2A4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9886007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62%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766912" y="186576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C9CCC2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0766912" y="186576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40%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76960" y="2532652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0F0EC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076960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9%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957864" y="2532652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4F4F0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957864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838769" y="2532652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7F6F3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2838769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4%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719674" y="2532652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6F5F1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719674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5%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600579" y="2532652"/>
            <a:ext cx="876142" cy="662124"/>
          </a:xfrm>
          <a:prstGeom prst="roundRect">
            <a:avLst>
              <a:gd name="adj" fmla="val 2877"/>
            </a:avLst>
          </a:prstGeom>
          <a:solidFill>
            <a:srgbClr val="DDDFD8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600579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24%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481483" y="2532652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FB4A7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5481483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60%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362388" y="2532652"/>
            <a:ext cx="876142" cy="662124"/>
          </a:xfrm>
          <a:prstGeom prst="roundRect">
            <a:avLst>
              <a:gd name="adj" fmla="val 2877"/>
            </a:avLst>
          </a:prstGeom>
          <a:solidFill>
            <a:srgbClr val="969D8C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6362388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80%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243293" y="2532652"/>
            <a:ext cx="876142" cy="662124"/>
          </a:xfrm>
          <a:prstGeom prst="roundRect">
            <a:avLst>
              <a:gd name="adj" fmla="val 2877"/>
            </a:avLst>
          </a:prstGeom>
          <a:solidFill>
            <a:srgbClr val="848C79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243293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94%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124198" y="2532652"/>
            <a:ext cx="876142" cy="662124"/>
          </a:xfrm>
          <a:prstGeom prst="roundRect">
            <a:avLst>
              <a:gd name="adj" fmla="val 2877"/>
            </a:avLst>
          </a:prstGeom>
          <a:solidFill>
            <a:srgbClr val="818A76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8124198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96%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005102" y="2532652"/>
            <a:ext cx="876142" cy="662124"/>
          </a:xfrm>
          <a:prstGeom prst="roundRect">
            <a:avLst>
              <a:gd name="adj" fmla="val 2877"/>
            </a:avLst>
          </a:prstGeom>
          <a:solidFill>
            <a:srgbClr val="8E9684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005102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86%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886007" y="2532652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8AD9F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886007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66%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766912" y="2532652"/>
            <a:ext cx="876142" cy="662124"/>
          </a:xfrm>
          <a:prstGeom prst="roundRect">
            <a:avLst>
              <a:gd name="adj" fmla="val 2877"/>
            </a:avLst>
          </a:prstGeom>
          <a:solidFill>
            <a:srgbClr val="C2C6BB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766912" y="2532652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45%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076960" y="3199538"/>
            <a:ext cx="876142" cy="662124"/>
          </a:xfrm>
          <a:prstGeom prst="roundRect">
            <a:avLst>
              <a:gd name="adj" fmla="val 2877"/>
            </a:avLst>
          </a:prstGeom>
          <a:solidFill>
            <a:srgbClr val="EFEFEA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076960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10%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957864" y="3199538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4F4F0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1957864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6%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838769" y="3199538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7F6F3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38769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4%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719674" y="3199538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7F6F3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3719674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4%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600579" y="3199538"/>
            <a:ext cx="876142" cy="662124"/>
          </a:xfrm>
          <a:prstGeom prst="roundRect">
            <a:avLst>
              <a:gd name="adj" fmla="val 2877"/>
            </a:avLst>
          </a:prstGeom>
          <a:solidFill>
            <a:srgbClr val="DBDCD5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600579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26%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481483" y="3199538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DB2A4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5481483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62%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362388" y="3199538"/>
            <a:ext cx="876142" cy="662124"/>
          </a:xfrm>
          <a:prstGeom prst="roundRect">
            <a:avLst>
              <a:gd name="adj" fmla="val 2877"/>
            </a:avLst>
          </a:prstGeom>
          <a:solidFill>
            <a:srgbClr val="939A89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362388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82%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243293" y="3199538"/>
            <a:ext cx="876142" cy="662124"/>
          </a:xfrm>
          <a:prstGeom prst="roundRect">
            <a:avLst>
              <a:gd name="adj" fmla="val 2877"/>
            </a:avLst>
          </a:prstGeom>
          <a:solidFill>
            <a:srgbClr val="828B78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243293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95%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124198" y="3199538"/>
            <a:ext cx="876142" cy="662124"/>
          </a:xfrm>
          <a:prstGeom prst="roundRect">
            <a:avLst>
              <a:gd name="adj" fmla="val 2877"/>
            </a:avLst>
          </a:prstGeom>
          <a:solidFill>
            <a:srgbClr val="808975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8124198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97%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005102" y="3199538"/>
            <a:ext cx="876142" cy="662124"/>
          </a:xfrm>
          <a:prstGeom prst="roundRect">
            <a:avLst>
              <a:gd name="adj" fmla="val 2877"/>
            </a:avLst>
          </a:prstGeom>
          <a:solidFill>
            <a:srgbClr val="8B9381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9005102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88%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9886007" y="3199538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2A89A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9886007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70%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766912" y="3199538"/>
            <a:ext cx="876142" cy="662124"/>
          </a:xfrm>
          <a:prstGeom prst="roundRect">
            <a:avLst>
              <a:gd name="adj" fmla="val 2877"/>
            </a:avLst>
          </a:prstGeom>
          <a:solidFill>
            <a:srgbClr val="BFC2B7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0766912" y="3199538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48%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076960" y="3866424"/>
            <a:ext cx="876142" cy="662124"/>
          </a:xfrm>
          <a:prstGeom prst="roundRect">
            <a:avLst>
              <a:gd name="adj" fmla="val 2877"/>
            </a:avLst>
          </a:prstGeom>
          <a:solidFill>
            <a:srgbClr val="EAEAE5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076960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14%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957864" y="3866424"/>
            <a:ext cx="876142" cy="662124"/>
          </a:xfrm>
          <a:prstGeom prst="roundRect">
            <a:avLst>
              <a:gd name="adj" fmla="val 2877"/>
            </a:avLst>
          </a:prstGeom>
          <a:solidFill>
            <a:srgbClr val="EFEFEA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1957864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10%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838769" y="3866424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4F4F0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838769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6%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719674" y="3866424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4F4F0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719674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6%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600579" y="3866424"/>
            <a:ext cx="876142" cy="662124"/>
          </a:xfrm>
          <a:prstGeom prst="roundRect">
            <a:avLst>
              <a:gd name="adj" fmla="val 2877"/>
            </a:avLst>
          </a:prstGeom>
          <a:solidFill>
            <a:srgbClr val="D8DAD2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600579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28%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81483" y="3866424"/>
            <a:ext cx="876142" cy="662124"/>
          </a:xfrm>
          <a:prstGeom prst="roundRect">
            <a:avLst>
              <a:gd name="adj" fmla="val 2877"/>
            </a:avLst>
          </a:prstGeom>
          <a:solidFill>
            <a:srgbClr val="B2B7AA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5481483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58%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362388" y="3866424"/>
            <a:ext cx="876142" cy="662124"/>
          </a:xfrm>
          <a:prstGeom prst="roundRect">
            <a:avLst>
              <a:gd name="adj" fmla="val 2877"/>
            </a:avLst>
          </a:prstGeom>
          <a:solidFill>
            <a:srgbClr val="989F8F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362388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78%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243293" y="3866424"/>
            <a:ext cx="876142" cy="662124"/>
          </a:xfrm>
          <a:prstGeom prst="roundRect">
            <a:avLst>
              <a:gd name="adj" fmla="val 2877"/>
            </a:avLst>
          </a:prstGeom>
          <a:solidFill>
            <a:srgbClr val="8B9381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7243293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88%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124198" y="3866424"/>
            <a:ext cx="876142" cy="662124"/>
          </a:xfrm>
          <a:prstGeom prst="roundRect">
            <a:avLst>
              <a:gd name="adj" fmla="val 2877"/>
            </a:avLst>
          </a:prstGeom>
          <a:solidFill>
            <a:srgbClr val="909887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8124198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84%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9005102" y="3866424"/>
            <a:ext cx="876142" cy="662124"/>
          </a:xfrm>
          <a:prstGeom prst="roundRect">
            <a:avLst>
              <a:gd name="adj" fmla="val 2877"/>
            </a:avLst>
          </a:prstGeom>
          <a:solidFill>
            <a:srgbClr val="969D8C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9005102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80%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886007" y="3866424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0A697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9886007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72%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766912" y="3866424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DB2A4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10766912" y="3866424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62%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076960" y="453331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E0E1DA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1076960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22%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957864" y="453331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E5E6E0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957864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18%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838769" y="453331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EDEDE8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838769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12%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719674" y="453331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2F2ED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3719674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8%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600579" y="453331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E8E8E2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4600579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16%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481483" y="453331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D3D5CD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5481483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32%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362388" y="453331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BCC0B4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6362388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50%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243293" y="453331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B2B7AA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7243293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58%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124198" y="453331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AAFA2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8124198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64%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005102" y="453331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0A697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9005102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72%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886007" y="453331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969D8C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9886007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80%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0766912" y="4533310"/>
            <a:ext cx="876142" cy="662124"/>
          </a:xfrm>
          <a:prstGeom prst="roundRect">
            <a:avLst>
              <a:gd name="adj" fmla="val 2877"/>
            </a:avLst>
          </a:prstGeom>
          <a:solidFill>
            <a:srgbClr val="989F8F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10766912" y="4533310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78%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076960" y="520019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DCDED6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1076960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25%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957864" y="520019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E2E3DD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1957864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20%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2838769" y="520019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EAEAE5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2838769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14%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719674" y="520019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F0F0EC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3719674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9%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4600579" y="520019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EAEAE5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4600579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14%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5481483" y="520019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D8DAD2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5481483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28%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6362388" y="520019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C6C9BF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6362388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42%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7243293" y="520019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BCC0B4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7243293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50%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8124198" y="520019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B7BBAF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8124198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54%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9005102" y="520019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FB4A7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9005102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60%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9886007" y="520019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A8AD9F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9886007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66%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0766912" y="5200196"/>
            <a:ext cx="876142" cy="662124"/>
          </a:xfrm>
          <a:prstGeom prst="roundRect">
            <a:avLst>
              <a:gd name="adj" fmla="val 2877"/>
            </a:avLst>
          </a:prstGeom>
          <a:solidFill>
            <a:srgbClr val="B2B7AA"/>
          </a:solidFill>
          <a:ln w="2381">
            <a:solidFill>
              <a:srgbClr val="7B77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10766912" y="5200196"/>
            <a:ext cx="876142" cy="6621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2201C"/>
                </a:solidFill>
                <a:latin typeface="Instrument Sans"/>
              </a:rPr>
              <a:t>58%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798255" y="5923280"/>
            <a:ext cx="118534" cy="11176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2" name="Rectangle 191"/>
          <p:cNvSpPr/>
          <p:nvPr/>
        </p:nvSpPr>
        <p:spPr>
          <a:xfrm>
            <a:off x="8916788" y="5923280"/>
            <a:ext cx="118534" cy="111760"/>
          </a:xfrm>
          <a:prstGeom prst="rect">
            <a:avLst/>
          </a:prstGeom>
          <a:solidFill>
            <a:srgbClr val="F6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3" name="Rectangle 192"/>
          <p:cNvSpPr/>
          <p:nvPr/>
        </p:nvSpPr>
        <p:spPr>
          <a:xfrm>
            <a:off x="9035321" y="5923280"/>
            <a:ext cx="118534" cy="111760"/>
          </a:xfrm>
          <a:prstGeom prst="rect">
            <a:avLst/>
          </a:prstGeom>
          <a:solidFill>
            <a:srgbClr val="F1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4" name="Rectangle 193"/>
          <p:cNvSpPr/>
          <p:nvPr/>
        </p:nvSpPr>
        <p:spPr>
          <a:xfrm>
            <a:off x="9153855" y="5923280"/>
            <a:ext cx="118534" cy="111760"/>
          </a:xfrm>
          <a:prstGeom prst="rect">
            <a:avLst/>
          </a:prstGeom>
          <a:solidFill>
            <a:srgbClr val="EB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5" name="Rectangle 194"/>
          <p:cNvSpPr/>
          <p:nvPr/>
        </p:nvSpPr>
        <p:spPr>
          <a:xfrm>
            <a:off x="9272388" y="5923280"/>
            <a:ext cx="118534" cy="111760"/>
          </a:xfrm>
          <a:prstGeom prst="rect">
            <a:avLst/>
          </a:prstGeom>
          <a:solidFill>
            <a:srgbClr val="E6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6" name="Rectangle 195"/>
          <p:cNvSpPr/>
          <p:nvPr/>
        </p:nvSpPr>
        <p:spPr>
          <a:xfrm>
            <a:off x="9390921" y="5923280"/>
            <a:ext cx="118534" cy="111760"/>
          </a:xfrm>
          <a:prstGeom prst="rect">
            <a:avLst/>
          </a:prstGeom>
          <a:solidFill>
            <a:srgbClr val="E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7" name="Rectangle 196"/>
          <p:cNvSpPr/>
          <p:nvPr/>
        </p:nvSpPr>
        <p:spPr>
          <a:xfrm>
            <a:off x="9509455" y="5923280"/>
            <a:ext cx="118534" cy="111760"/>
          </a:xfrm>
          <a:prstGeom prst="rect">
            <a:avLst/>
          </a:prstGeom>
          <a:solidFill>
            <a:srgbClr val="DB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8" name="Rectangle 197"/>
          <p:cNvSpPr/>
          <p:nvPr/>
        </p:nvSpPr>
        <p:spPr>
          <a:xfrm>
            <a:off x="9627988" y="5923280"/>
            <a:ext cx="118534" cy="111760"/>
          </a:xfrm>
          <a:prstGeom prst="rect">
            <a:avLst/>
          </a:prstGeom>
          <a:solidFill>
            <a:srgbClr val="D5D7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9" name="Rectangle 198"/>
          <p:cNvSpPr/>
          <p:nvPr/>
        </p:nvSpPr>
        <p:spPr>
          <a:xfrm>
            <a:off x="9746521" y="5923280"/>
            <a:ext cx="118534" cy="111760"/>
          </a:xfrm>
          <a:prstGeom prst="rect">
            <a:avLst/>
          </a:prstGeom>
          <a:solidFill>
            <a:srgbClr val="CFD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0" name="Rectangle 199"/>
          <p:cNvSpPr/>
          <p:nvPr/>
        </p:nvSpPr>
        <p:spPr>
          <a:xfrm>
            <a:off x="9865055" y="5923280"/>
            <a:ext cx="118534" cy="111760"/>
          </a:xfrm>
          <a:prstGeom prst="rect">
            <a:avLst/>
          </a:prstGeom>
          <a:solidFill>
            <a:srgbClr val="CAC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1" name="Rectangle 200"/>
          <p:cNvSpPr/>
          <p:nvPr/>
        </p:nvSpPr>
        <p:spPr>
          <a:xfrm>
            <a:off x="9983588" y="5923280"/>
            <a:ext cx="118534" cy="111760"/>
          </a:xfrm>
          <a:prstGeom prst="rect">
            <a:avLst/>
          </a:prstGeom>
          <a:solidFill>
            <a:srgbClr val="C4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10102121" y="5923280"/>
            <a:ext cx="118534" cy="111760"/>
          </a:xfrm>
          <a:prstGeom prst="rect">
            <a:avLst/>
          </a:prstGeom>
          <a:solidFill>
            <a:srgbClr val="BFC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3" name="Rectangle 202"/>
          <p:cNvSpPr/>
          <p:nvPr/>
        </p:nvSpPr>
        <p:spPr>
          <a:xfrm>
            <a:off x="10220655" y="5923280"/>
            <a:ext cx="118534" cy="111760"/>
          </a:xfrm>
          <a:prstGeom prst="rect">
            <a:avLst/>
          </a:prstGeom>
          <a:solidFill>
            <a:srgbClr val="B9B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4" name="Rectangle 203"/>
          <p:cNvSpPr/>
          <p:nvPr/>
        </p:nvSpPr>
        <p:spPr>
          <a:xfrm>
            <a:off x="10339188" y="5923280"/>
            <a:ext cx="118534" cy="111760"/>
          </a:xfrm>
          <a:prstGeom prst="rect">
            <a:avLst/>
          </a:prstGeom>
          <a:solidFill>
            <a:srgbClr val="B4B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10457721" y="5923280"/>
            <a:ext cx="118534" cy="111760"/>
          </a:xfrm>
          <a:prstGeom prst="rect">
            <a:avLst/>
          </a:prstGeom>
          <a:solidFill>
            <a:srgbClr val="AE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6" name="Rectangle 205"/>
          <p:cNvSpPr/>
          <p:nvPr/>
        </p:nvSpPr>
        <p:spPr>
          <a:xfrm>
            <a:off x="10576255" y="5923280"/>
            <a:ext cx="118534" cy="111760"/>
          </a:xfrm>
          <a:prstGeom prst="rect">
            <a:avLst/>
          </a:prstGeom>
          <a:solidFill>
            <a:srgbClr val="A9A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7" name="Rectangle 206"/>
          <p:cNvSpPr/>
          <p:nvPr/>
        </p:nvSpPr>
        <p:spPr>
          <a:xfrm>
            <a:off x="10694788" y="5923280"/>
            <a:ext cx="118534" cy="111760"/>
          </a:xfrm>
          <a:prstGeom prst="rect">
            <a:avLst/>
          </a:prstGeom>
          <a:solidFill>
            <a:srgbClr val="A3A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10813321" y="5923280"/>
            <a:ext cx="118534" cy="111760"/>
          </a:xfrm>
          <a:prstGeom prst="rect">
            <a:avLst/>
          </a:prstGeom>
          <a:solidFill>
            <a:srgbClr val="9DA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9" name="Rectangle 208"/>
          <p:cNvSpPr/>
          <p:nvPr/>
        </p:nvSpPr>
        <p:spPr>
          <a:xfrm>
            <a:off x="10931855" y="5923280"/>
            <a:ext cx="118534" cy="111760"/>
          </a:xfrm>
          <a:prstGeom prst="rect">
            <a:avLst/>
          </a:prstGeom>
          <a:solidFill>
            <a:srgbClr val="98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0" name="Rectangle 209"/>
          <p:cNvSpPr/>
          <p:nvPr/>
        </p:nvSpPr>
        <p:spPr>
          <a:xfrm>
            <a:off x="11050388" y="5923280"/>
            <a:ext cx="118534" cy="111760"/>
          </a:xfrm>
          <a:prstGeom prst="rect">
            <a:avLst/>
          </a:prstGeom>
          <a:solidFill>
            <a:srgbClr val="929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1" name="Rectangle 210"/>
          <p:cNvSpPr/>
          <p:nvPr/>
        </p:nvSpPr>
        <p:spPr>
          <a:xfrm>
            <a:off x="11168921" y="5923280"/>
            <a:ext cx="118534" cy="111760"/>
          </a:xfrm>
          <a:prstGeom prst="rect">
            <a:avLst/>
          </a:prstGeom>
          <a:solidFill>
            <a:srgbClr val="8D9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2" name="Rectangle 211"/>
          <p:cNvSpPr/>
          <p:nvPr/>
        </p:nvSpPr>
        <p:spPr>
          <a:xfrm>
            <a:off x="11287455" y="5923280"/>
            <a:ext cx="118534" cy="111760"/>
          </a:xfrm>
          <a:prstGeom prst="rect">
            <a:avLst/>
          </a:prstGeom>
          <a:solidFill>
            <a:srgbClr val="878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3" name="Rectangle 212"/>
          <p:cNvSpPr/>
          <p:nvPr/>
        </p:nvSpPr>
        <p:spPr>
          <a:xfrm>
            <a:off x="11405988" y="5923280"/>
            <a:ext cx="118534" cy="111760"/>
          </a:xfrm>
          <a:prstGeom prst="rect">
            <a:avLst/>
          </a:prstGeom>
          <a:solidFill>
            <a:srgbClr val="828A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4" name="Rectangle 213"/>
          <p:cNvSpPr/>
          <p:nvPr/>
        </p:nvSpPr>
        <p:spPr>
          <a:xfrm>
            <a:off x="11524521" y="5923280"/>
            <a:ext cx="118534" cy="111760"/>
          </a:xfrm>
          <a:prstGeom prst="rect">
            <a:avLst/>
          </a:prstGeom>
          <a:solidFill>
            <a:srgbClr val="7C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5" name="TextBox 214"/>
          <p:cNvSpPr txBox="1"/>
          <p:nvPr/>
        </p:nvSpPr>
        <p:spPr>
          <a:xfrm>
            <a:off x="8798255" y="6065520"/>
            <a:ext cx="1422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2201C"/>
                </a:solidFill>
                <a:latin typeface="Instrument Sans"/>
              </a:rPr>
              <a:t>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220655" y="6065520"/>
            <a:ext cx="1422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22201C"/>
                </a:solidFill>
                <a:latin typeface="Instrument Sans"/>
              </a:rPr>
              <a:t>100%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