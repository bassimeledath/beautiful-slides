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0819" y="610819"/>
            <a:ext cx="10970057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Revenue Mix</a:t>
            </a:r>
          </a:p>
        </p:txBody>
      </p:sp>
      <p:sp>
        <p:nvSpPr>
          <p:cNvPr id="4" name="Freeform 3"/>
          <p:cNvSpPr/>
          <p:nvPr/>
        </p:nvSpPr>
        <p:spPr>
          <a:xfrm>
            <a:off x="4500765" y="1569354"/>
            <a:ext cx="3223025" cy="3255721"/>
          </a:xfrm>
          <a:custGeom>
            <a:avLst/>
            <a:gdLst/>
            <a:ahLst/>
            <a:cxnLst/>
            <a:rect l="l" t="t" r="r" b="b"/>
            <a:pathLst>
              <a:path w="3223025" h="3255721">
                <a:moveTo>
                  <a:pt x="1595083" y="1628506"/>
                </a:moveTo>
                <a:lnTo>
                  <a:pt x="1619512" y="0"/>
                </a:lnTo>
                <a:lnTo>
                  <a:pt x="1762728" y="8468"/>
                </a:lnTo>
                <a:lnTo>
                  <a:pt x="1904644" y="29507"/>
                </a:lnTo>
                <a:lnTo>
                  <a:pt x="2044157" y="62952"/>
                </a:lnTo>
                <a:lnTo>
                  <a:pt x="2180186" y="108545"/>
                </a:lnTo>
                <a:lnTo>
                  <a:pt x="2311675" y="165932"/>
                </a:lnTo>
                <a:lnTo>
                  <a:pt x="2437604" y="234668"/>
                </a:lnTo>
                <a:lnTo>
                  <a:pt x="2556995" y="314219"/>
                </a:lnTo>
                <a:lnTo>
                  <a:pt x="2668922" y="403967"/>
                </a:lnTo>
                <a:lnTo>
                  <a:pt x="2772518" y="503218"/>
                </a:lnTo>
                <a:lnTo>
                  <a:pt x="2866977" y="611200"/>
                </a:lnTo>
                <a:lnTo>
                  <a:pt x="2951567" y="727075"/>
                </a:lnTo>
                <a:lnTo>
                  <a:pt x="3025631" y="849945"/>
                </a:lnTo>
                <a:lnTo>
                  <a:pt x="3088596" y="978856"/>
                </a:lnTo>
                <a:lnTo>
                  <a:pt x="3139972" y="1112808"/>
                </a:lnTo>
                <a:lnTo>
                  <a:pt x="3179360" y="1250762"/>
                </a:lnTo>
                <a:lnTo>
                  <a:pt x="3206456" y="1391646"/>
                </a:lnTo>
                <a:lnTo>
                  <a:pt x="3221048" y="1534368"/>
                </a:lnTo>
                <a:lnTo>
                  <a:pt x="3223025" y="1677821"/>
                </a:lnTo>
                <a:lnTo>
                  <a:pt x="3212369" y="1820891"/>
                </a:lnTo>
                <a:lnTo>
                  <a:pt x="3189164" y="1962469"/>
                </a:lnTo>
                <a:lnTo>
                  <a:pt x="3153590" y="2101455"/>
                </a:lnTo>
                <a:lnTo>
                  <a:pt x="3105924" y="2236771"/>
                </a:lnTo>
                <a:lnTo>
                  <a:pt x="3046534" y="2367368"/>
                </a:lnTo>
                <a:lnTo>
                  <a:pt x="2975882" y="2492231"/>
                </a:lnTo>
                <a:lnTo>
                  <a:pt x="2894515" y="2610393"/>
                </a:lnTo>
                <a:lnTo>
                  <a:pt x="2803067" y="2720935"/>
                </a:lnTo>
                <a:lnTo>
                  <a:pt x="2702244" y="2823002"/>
                </a:lnTo>
                <a:lnTo>
                  <a:pt x="2592832" y="2915799"/>
                </a:lnTo>
                <a:lnTo>
                  <a:pt x="2475677" y="2998608"/>
                </a:lnTo>
                <a:lnTo>
                  <a:pt x="2351689" y="3070787"/>
                </a:lnTo>
                <a:lnTo>
                  <a:pt x="2221831" y="3131774"/>
                </a:lnTo>
                <a:lnTo>
                  <a:pt x="2087109" y="3181096"/>
                </a:lnTo>
                <a:lnTo>
                  <a:pt x="1948570" y="3218372"/>
                </a:lnTo>
                <a:lnTo>
                  <a:pt x="1807288" y="3243311"/>
                </a:lnTo>
                <a:lnTo>
                  <a:pt x="1664359" y="3255721"/>
                </a:lnTo>
                <a:lnTo>
                  <a:pt x="1520893" y="3255504"/>
                </a:lnTo>
                <a:lnTo>
                  <a:pt x="1378002" y="3242663"/>
                </a:lnTo>
                <a:lnTo>
                  <a:pt x="1236796" y="3217297"/>
                </a:lnTo>
                <a:lnTo>
                  <a:pt x="1098370" y="3179604"/>
                </a:lnTo>
                <a:lnTo>
                  <a:pt x="963798" y="3129874"/>
                </a:lnTo>
                <a:lnTo>
                  <a:pt x="834125" y="3068496"/>
                </a:lnTo>
                <a:lnTo>
                  <a:pt x="710356" y="2995944"/>
                </a:lnTo>
                <a:lnTo>
                  <a:pt x="593451" y="2912781"/>
                </a:lnTo>
                <a:lnTo>
                  <a:pt x="484319" y="2819653"/>
                </a:lnTo>
                <a:lnTo>
                  <a:pt x="383806" y="2717283"/>
                </a:lnTo>
                <a:lnTo>
                  <a:pt x="292691" y="2606465"/>
                </a:lnTo>
                <a:lnTo>
                  <a:pt x="211682" y="2488058"/>
                </a:lnTo>
                <a:lnTo>
                  <a:pt x="141407" y="2362982"/>
                </a:lnTo>
                <a:lnTo>
                  <a:pt x="82412" y="2232207"/>
                </a:lnTo>
                <a:lnTo>
                  <a:pt x="35154" y="2096747"/>
                </a:lnTo>
                <a:lnTo>
                  <a:pt x="0" y="1957654"/>
                </a:lnTo>
                <a:lnTo>
                  <a:pt x="1595083" y="1628506"/>
                </a:lnTo>
                <a:close/>
              </a:path>
            </a:pathLst>
          </a:cu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467240" y="1894731"/>
            <a:ext cx="1628608" cy="1584284"/>
          </a:xfrm>
          <a:custGeom>
            <a:avLst/>
            <a:gdLst/>
            <a:ahLst/>
            <a:cxnLst/>
            <a:rect l="l" t="t" r="r" b="b"/>
            <a:pathLst>
              <a:path w="1628608" h="1584284">
                <a:moveTo>
                  <a:pt x="1628608" y="1303129"/>
                </a:moveTo>
                <a:lnTo>
                  <a:pt x="24370" y="1584284"/>
                </a:lnTo>
                <a:lnTo>
                  <a:pt x="5358" y="1436122"/>
                </a:lnTo>
                <a:lnTo>
                  <a:pt x="0" y="1286842"/>
                </a:lnTo>
                <a:lnTo>
                  <a:pt x="8342" y="1137699"/>
                </a:lnTo>
                <a:lnTo>
                  <a:pt x="30313" y="989948"/>
                </a:lnTo>
                <a:lnTo>
                  <a:pt x="65729" y="844831"/>
                </a:lnTo>
                <a:lnTo>
                  <a:pt x="114291" y="703569"/>
                </a:lnTo>
                <a:lnTo>
                  <a:pt x="175591" y="567350"/>
                </a:lnTo>
                <a:lnTo>
                  <a:pt x="249114" y="437321"/>
                </a:lnTo>
                <a:lnTo>
                  <a:pt x="334240" y="314574"/>
                </a:lnTo>
                <a:lnTo>
                  <a:pt x="430255" y="200143"/>
                </a:lnTo>
                <a:lnTo>
                  <a:pt x="536350" y="94990"/>
                </a:lnTo>
                <a:lnTo>
                  <a:pt x="651632" y="0"/>
                </a:lnTo>
                <a:lnTo>
                  <a:pt x="1628608" y="1303129"/>
                </a:lnTo>
                <a:close/>
              </a:path>
            </a:pathLst>
          </a:cu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158400" y="1569354"/>
            <a:ext cx="937448" cy="1628506"/>
          </a:xfrm>
          <a:custGeom>
            <a:avLst/>
            <a:gdLst/>
            <a:ahLst/>
            <a:cxnLst/>
            <a:rect l="l" t="t" r="r" b="b"/>
            <a:pathLst>
              <a:path w="937448" h="1628506">
                <a:moveTo>
                  <a:pt x="937448" y="1628506"/>
                </a:moveTo>
                <a:lnTo>
                  <a:pt x="0" y="296658"/>
                </a:lnTo>
                <a:lnTo>
                  <a:pt x="67543" y="251592"/>
                </a:lnTo>
                <a:lnTo>
                  <a:pt x="137248" y="209947"/>
                </a:lnTo>
                <a:lnTo>
                  <a:pt x="208943" y="171829"/>
                </a:lnTo>
                <a:lnTo>
                  <a:pt x="282448" y="137331"/>
                </a:lnTo>
                <a:lnTo>
                  <a:pt x="357581" y="106540"/>
                </a:lnTo>
                <a:lnTo>
                  <a:pt x="434155" y="79531"/>
                </a:lnTo>
                <a:lnTo>
                  <a:pt x="511980" y="56372"/>
                </a:lnTo>
                <a:lnTo>
                  <a:pt x="590863" y="37121"/>
                </a:lnTo>
                <a:lnTo>
                  <a:pt x="670607" y="21825"/>
                </a:lnTo>
                <a:lnTo>
                  <a:pt x="751014" y="10523"/>
                </a:lnTo>
                <a:lnTo>
                  <a:pt x="831885" y="3242"/>
                </a:lnTo>
                <a:lnTo>
                  <a:pt x="913018" y="0"/>
                </a:lnTo>
                <a:lnTo>
                  <a:pt x="937448" y="1628506"/>
                </a:lnTo>
                <a:close/>
              </a:path>
            </a:pathLst>
          </a:custGeom>
          <a:solidFill>
            <a:srgbClr val="31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51207" y="2253220"/>
            <a:ext cx="1889279" cy="188927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92903" y="2631076"/>
            <a:ext cx="1605887" cy="67691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100" b="1">
                <a:solidFill>
                  <a:srgbClr val="101828"/>
                </a:solidFill>
                <a:latin typeface="Public Sans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2903" y="3307986"/>
            <a:ext cx="1605887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Subscription</a:t>
            </a:r>
          </a:p>
        </p:txBody>
      </p:sp>
      <p:sp>
        <p:nvSpPr>
          <p:cNvPr id="10" name="Oval 9"/>
          <p:cNvSpPr/>
          <p:nvPr/>
        </p:nvSpPr>
        <p:spPr>
          <a:xfrm>
            <a:off x="610819" y="5367071"/>
            <a:ext cx="124459" cy="124459"/>
          </a:xfrm>
          <a:prstGeom prst="ellipse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398" y="5269281"/>
            <a:ext cx="1077447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828"/>
                </a:solidFill>
                <a:latin typeface="Public Sans"/>
              </a:rPr>
              <a:t>Subscription  72%</a:t>
            </a:r>
          </a:p>
        </p:txBody>
      </p:sp>
      <p:sp>
        <p:nvSpPr>
          <p:cNvPr id="12" name="Oval 11"/>
          <p:cNvSpPr/>
          <p:nvPr/>
        </p:nvSpPr>
        <p:spPr>
          <a:xfrm>
            <a:off x="610819" y="5687111"/>
            <a:ext cx="124459" cy="124459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398" y="5589321"/>
            <a:ext cx="1077447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828"/>
                </a:solidFill>
                <a:latin typeface="Public Sans"/>
              </a:rPr>
              <a:t>Services  18%</a:t>
            </a:r>
          </a:p>
        </p:txBody>
      </p:sp>
      <p:sp>
        <p:nvSpPr>
          <p:cNvPr id="14" name="Oval 13"/>
          <p:cNvSpPr/>
          <p:nvPr/>
        </p:nvSpPr>
        <p:spPr>
          <a:xfrm>
            <a:off x="610819" y="6007151"/>
            <a:ext cx="124459" cy="124459"/>
          </a:xfrm>
          <a:prstGeom prst="ellipse">
            <a:avLst/>
          </a:prstGeom>
          <a:solidFill>
            <a:srgbClr val="31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398" y="5909361"/>
            <a:ext cx="1077447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01828"/>
                </a:solidFill>
                <a:latin typeface="Public Sans"/>
              </a:rPr>
              <a:t>Other 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