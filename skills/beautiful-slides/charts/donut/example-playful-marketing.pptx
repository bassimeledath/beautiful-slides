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0819" y="610819"/>
            <a:ext cx="10970057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Revenue Mix</a:t>
            </a:r>
          </a:p>
        </p:txBody>
      </p:sp>
      <p:sp>
        <p:nvSpPr>
          <p:cNvPr id="4" name="Freeform 3"/>
          <p:cNvSpPr/>
          <p:nvPr/>
        </p:nvSpPr>
        <p:spPr>
          <a:xfrm>
            <a:off x="4675891" y="1682110"/>
            <a:ext cx="2869165" cy="2898271"/>
          </a:xfrm>
          <a:custGeom>
            <a:avLst/>
            <a:gdLst/>
            <a:ahLst/>
            <a:cxnLst/>
            <a:rect l="l" t="t" r="r" b="b"/>
            <a:pathLst>
              <a:path w="2869165" h="2898271">
                <a:moveTo>
                  <a:pt x="1419957" y="1449710"/>
                </a:moveTo>
                <a:lnTo>
                  <a:pt x="1441704" y="0"/>
                </a:lnTo>
                <a:lnTo>
                  <a:pt x="1569196" y="7538"/>
                </a:lnTo>
                <a:lnTo>
                  <a:pt x="1695531" y="26267"/>
                </a:lnTo>
                <a:lnTo>
                  <a:pt x="1819727" y="56040"/>
                </a:lnTo>
                <a:lnTo>
                  <a:pt x="1940821" y="96628"/>
                </a:lnTo>
                <a:lnTo>
                  <a:pt x="2057873" y="147714"/>
                </a:lnTo>
                <a:lnTo>
                  <a:pt x="2169976" y="208903"/>
                </a:lnTo>
                <a:lnTo>
                  <a:pt x="2276259" y="279720"/>
                </a:lnTo>
                <a:lnTo>
                  <a:pt x="2375898" y="359615"/>
                </a:lnTo>
                <a:lnTo>
                  <a:pt x="2468119" y="447969"/>
                </a:lnTo>
                <a:lnTo>
                  <a:pt x="2552208" y="544095"/>
                </a:lnTo>
                <a:lnTo>
                  <a:pt x="2627510" y="647248"/>
                </a:lnTo>
                <a:lnTo>
                  <a:pt x="2693443" y="756628"/>
                </a:lnTo>
                <a:lnTo>
                  <a:pt x="2749495" y="871386"/>
                </a:lnTo>
                <a:lnTo>
                  <a:pt x="2795230" y="990631"/>
                </a:lnTo>
                <a:lnTo>
                  <a:pt x="2830294" y="1113439"/>
                </a:lnTo>
                <a:lnTo>
                  <a:pt x="2854415" y="1238855"/>
                </a:lnTo>
                <a:lnTo>
                  <a:pt x="2867405" y="1365908"/>
                </a:lnTo>
                <a:lnTo>
                  <a:pt x="2869165" y="1493611"/>
                </a:lnTo>
                <a:lnTo>
                  <a:pt x="2859679" y="1620973"/>
                </a:lnTo>
                <a:lnTo>
                  <a:pt x="2839022" y="1747006"/>
                </a:lnTo>
                <a:lnTo>
                  <a:pt x="2807354" y="1870733"/>
                </a:lnTo>
                <a:lnTo>
                  <a:pt x="2764920" y="1991193"/>
                </a:lnTo>
                <a:lnTo>
                  <a:pt x="2712051" y="2107451"/>
                </a:lnTo>
                <a:lnTo>
                  <a:pt x="2649156" y="2218605"/>
                </a:lnTo>
                <a:lnTo>
                  <a:pt x="2576723" y="2323794"/>
                </a:lnTo>
                <a:lnTo>
                  <a:pt x="2495314" y="2422200"/>
                </a:lnTo>
                <a:lnTo>
                  <a:pt x="2405562" y="2513060"/>
                </a:lnTo>
                <a:lnTo>
                  <a:pt x="2308161" y="2595670"/>
                </a:lnTo>
                <a:lnTo>
                  <a:pt x="2203869" y="2669387"/>
                </a:lnTo>
                <a:lnTo>
                  <a:pt x="2093494" y="2733641"/>
                </a:lnTo>
                <a:lnTo>
                  <a:pt x="1977893" y="2787932"/>
                </a:lnTo>
                <a:lnTo>
                  <a:pt x="1857963" y="2831839"/>
                </a:lnTo>
                <a:lnTo>
                  <a:pt x="1734634" y="2865022"/>
                </a:lnTo>
                <a:lnTo>
                  <a:pt x="1608864" y="2887224"/>
                </a:lnTo>
                <a:lnTo>
                  <a:pt x="1481627" y="2898271"/>
                </a:lnTo>
                <a:lnTo>
                  <a:pt x="1353912" y="2898078"/>
                </a:lnTo>
                <a:lnTo>
                  <a:pt x="1226710" y="2886647"/>
                </a:lnTo>
                <a:lnTo>
                  <a:pt x="1101007" y="2864066"/>
                </a:lnTo>
                <a:lnTo>
                  <a:pt x="977779" y="2830511"/>
                </a:lnTo>
                <a:lnTo>
                  <a:pt x="857982" y="2786241"/>
                </a:lnTo>
                <a:lnTo>
                  <a:pt x="742545" y="2731601"/>
                </a:lnTo>
                <a:lnTo>
                  <a:pt x="632365" y="2667015"/>
                </a:lnTo>
                <a:lnTo>
                  <a:pt x="528296" y="2592983"/>
                </a:lnTo>
                <a:lnTo>
                  <a:pt x="431145" y="2510080"/>
                </a:lnTo>
                <a:lnTo>
                  <a:pt x="341667" y="2418949"/>
                </a:lnTo>
                <a:lnTo>
                  <a:pt x="260556" y="2320297"/>
                </a:lnTo>
                <a:lnTo>
                  <a:pt x="188441" y="2214891"/>
                </a:lnTo>
                <a:lnTo>
                  <a:pt x="125882" y="2103547"/>
                </a:lnTo>
                <a:lnTo>
                  <a:pt x="73364" y="1987129"/>
                </a:lnTo>
                <a:lnTo>
                  <a:pt x="31295" y="1866542"/>
                </a:lnTo>
                <a:lnTo>
                  <a:pt x="0" y="1742721"/>
                </a:lnTo>
                <a:lnTo>
                  <a:pt x="1419957" y="1449710"/>
                </a:lnTo>
                <a:close/>
              </a:path>
            </a:pathLst>
          </a:cu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646047" y="1971763"/>
            <a:ext cx="1449801" cy="1410343"/>
          </a:xfrm>
          <a:custGeom>
            <a:avLst/>
            <a:gdLst/>
            <a:ahLst/>
            <a:cxnLst/>
            <a:rect l="l" t="t" r="r" b="b"/>
            <a:pathLst>
              <a:path w="1449801" h="1410343">
                <a:moveTo>
                  <a:pt x="1449801" y="1160057"/>
                </a:moveTo>
                <a:lnTo>
                  <a:pt x="21694" y="1410343"/>
                </a:lnTo>
                <a:lnTo>
                  <a:pt x="4770" y="1278449"/>
                </a:lnTo>
                <a:lnTo>
                  <a:pt x="0" y="1145559"/>
                </a:lnTo>
                <a:lnTo>
                  <a:pt x="7426" y="1012790"/>
                </a:lnTo>
                <a:lnTo>
                  <a:pt x="26985" y="881260"/>
                </a:lnTo>
                <a:lnTo>
                  <a:pt x="58512" y="752076"/>
                </a:lnTo>
                <a:lnTo>
                  <a:pt x="101743" y="626323"/>
                </a:lnTo>
                <a:lnTo>
                  <a:pt x="156313" y="505060"/>
                </a:lnTo>
                <a:lnTo>
                  <a:pt x="221763" y="389307"/>
                </a:lnTo>
                <a:lnTo>
                  <a:pt x="297544" y="280037"/>
                </a:lnTo>
                <a:lnTo>
                  <a:pt x="383017" y="178169"/>
                </a:lnTo>
                <a:lnTo>
                  <a:pt x="477463" y="84561"/>
                </a:lnTo>
                <a:lnTo>
                  <a:pt x="580089" y="0"/>
                </a:lnTo>
                <a:lnTo>
                  <a:pt x="1449801" y="1160057"/>
                </a:lnTo>
                <a:close/>
              </a:path>
            </a:pathLst>
          </a:cu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261323" y="1682110"/>
            <a:ext cx="834525" cy="1449710"/>
          </a:xfrm>
          <a:custGeom>
            <a:avLst/>
            <a:gdLst/>
            <a:ahLst/>
            <a:cxnLst/>
            <a:rect l="l" t="t" r="r" b="b"/>
            <a:pathLst>
              <a:path w="834525" h="1449710">
                <a:moveTo>
                  <a:pt x="834525" y="1449710"/>
                </a:moveTo>
                <a:lnTo>
                  <a:pt x="0" y="264087"/>
                </a:lnTo>
                <a:lnTo>
                  <a:pt x="60128" y="223969"/>
                </a:lnTo>
                <a:lnTo>
                  <a:pt x="122180" y="186897"/>
                </a:lnTo>
                <a:lnTo>
                  <a:pt x="186003" y="152964"/>
                </a:lnTo>
                <a:lnTo>
                  <a:pt x="251438" y="122253"/>
                </a:lnTo>
                <a:lnTo>
                  <a:pt x="318322" y="94842"/>
                </a:lnTo>
                <a:lnTo>
                  <a:pt x="386489" y="70799"/>
                </a:lnTo>
                <a:lnTo>
                  <a:pt x="455770" y="50183"/>
                </a:lnTo>
                <a:lnTo>
                  <a:pt x="525992" y="33045"/>
                </a:lnTo>
                <a:lnTo>
                  <a:pt x="596981" y="19429"/>
                </a:lnTo>
                <a:lnTo>
                  <a:pt x="668560" y="9367"/>
                </a:lnTo>
                <a:lnTo>
                  <a:pt x="740552" y="2886"/>
                </a:lnTo>
                <a:lnTo>
                  <a:pt x="812777" y="0"/>
                </a:lnTo>
                <a:lnTo>
                  <a:pt x="834525" y="1449710"/>
                </a:lnTo>
                <a:close/>
              </a:path>
            </a:pathLst>
          </a:custGeom>
          <a:solidFill>
            <a:srgbClr val="4D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54921" y="2290893"/>
            <a:ext cx="1681852" cy="1681852"/>
          </a:xfrm>
          <a:prstGeom prst="ellipse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81060" y="2627264"/>
            <a:ext cx="1429574" cy="61087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3700" b="1">
                <a:solidFill>
                  <a:srgbClr val="1B1B1F"/>
                </a:solidFill>
                <a:latin typeface="Bricolage Grotesque"/>
              </a:rPr>
              <a:t>72%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81060" y="3238134"/>
            <a:ext cx="142957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Plus Jakarta Sans"/>
              </a:rPr>
              <a:t>Subscription</a:t>
            </a:r>
          </a:p>
        </p:txBody>
      </p:sp>
      <p:sp>
        <p:nvSpPr>
          <p:cNvPr id="10" name="Oval 9"/>
          <p:cNvSpPr/>
          <p:nvPr/>
        </p:nvSpPr>
        <p:spPr>
          <a:xfrm>
            <a:off x="610819" y="5115611"/>
            <a:ext cx="160020" cy="16002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2279" y="4989881"/>
            <a:ext cx="1071859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B1B1F"/>
                </a:solidFill>
                <a:latin typeface="Plus Jakarta Sans"/>
              </a:rPr>
              <a:t>Subscription  72%</a:t>
            </a:r>
          </a:p>
        </p:txBody>
      </p:sp>
      <p:sp>
        <p:nvSpPr>
          <p:cNvPr id="12" name="Oval 11"/>
          <p:cNvSpPr/>
          <p:nvPr/>
        </p:nvSpPr>
        <p:spPr>
          <a:xfrm>
            <a:off x="610819" y="5527091"/>
            <a:ext cx="160020" cy="160020"/>
          </a:xfrm>
          <a:prstGeom prst="ellipse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279" y="5401361"/>
            <a:ext cx="1071859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B1B1F"/>
                </a:solidFill>
                <a:latin typeface="Plus Jakarta Sans"/>
              </a:rPr>
              <a:t>Services  18%</a:t>
            </a:r>
          </a:p>
        </p:txBody>
      </p:sp>
      <p:sp>
        <p:nvSpPr>
          <p:cNvPr id="14" name="Oval 13"/>
          <p:cNvSpPr/>
          <p:nvPr/>
        </p:nvSpPr>
        <p:spPr>
          <a:xfrm>
            <a:off x="610819" y="5938571"/>
            <a:ext cx="160020" cy="160020"/>
          </a:xfrm>
          <a:prstGeom prst="ellipse">
            <a:avLst/>
          </a:prstGeom>
          <a:solidFill>
            <a:srgbClr val="4D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" y="5812841"/>
            <a:ext cx="1071859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B1B1F"/>
                </a:solidFill>
                <a:latin typeface="Plus Jakarta Sans"/>
              </a:rPr>
              <a:t>Other  10%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