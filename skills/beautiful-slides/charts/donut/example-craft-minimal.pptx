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0819" y="610819"/>
            <a:ext cx="1097005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Revenue Mix</a:t>
            </a:r>
          </a:p>
        </p:txBody>
      </p:sp>
      <p:sp>
        <p:nvSpPr>
          <p:cNvPr id="4" name="Freeform 3"/>
          <p:cNvSpPr/>
          <p:nvPr/>
        </p:nvSpPr>
        <p:spPr>
          <a:xfrm>
            <a:off x="4588328" y="1625732"/>
            <a:ext cx="3046095" cy="3076996"/>
          </a:xfrm>
          <a:custGeom>
            <a:avLst/>
            <a:gdLst/>
            <a:ahLst/>
            <a:cxnLst/>
            <a:rect l="l" t="t" r="r" b="b"/>
            <a:pathLst>
              <a:path w="3046095" h="3076996">
                <a:moveTo>
                  <a:pt x="1507520" y="1539108"/>
                </a:moveTo>
                <a:lnTo>
                  <a:pt x="1530608" y="0"/>
                </a:lnTo>
                <a:lnTo>
                  <a:pt x="1665962" y="8003"/>
                </a:lnTo>
                <a:lnTo>
                  <a:pt x="1800087" y="27887"/>
                </a:lnTo>
                <a:lnTo>
                  <a:pt x="1931942" y="59496"/>
                </a:lnTo>
                <a:lnTo>
                  <a:pt x="2060503" y="102586"/>
                </a:lnTo>
                <a:lnTo>
                  <a:pt x="2184774" y="156823"/>
                </a:lnTo>
                <a:lnTo>
                  <a:pt x="2303790" y="221785"/>
                </a:lnTo>
                <a:lnTo>
                  <a:pt x="2416627" y="296969"/>
                </a:lnTo>
                <a:lnTo>
                  <a:pt x="2522410" y="381791"/>
                </a:lnTo>
                <a:lnTo>
                  <a:pt x="2620319" y="475593"/>
                </a:lnTo>
                <a:lnTo>
                  <a:pt x="2709592" y="577647"/>
                </a:lnTo>
                <a:lnTo>
                  <a:pt x="2789539" y="687162"/>
                </a:lnTo>
                <a:lnTo>
                  <a:pt x="2859537" y="803287"/>
                </a:lnTo>
                <a:lnTo>
                  <a:pt x="2919045" y="925121"/>
                </a:lnTo>
                <a:lnTo>
                  <a:pt x="2967601" y="1051720"/>
                </a:lnTo>
                <a:lnTo>
                  <a:pt x="3004827" y="1182100"/>
                </a:lnTo>
                <a:lnTo>
                  <a:pt x="3030436" y="1315251"/>
                </a:lnTo>
                <a:lnTo>
                  <a:pt x="3044227" y="1450138"/>
                </a:lnTo>
                <a:lnTo>
                  <a:pt x="3046095" y="1585716"/>
                </a:lnTo>
                <a:lnTo>
                  <a:pt x="3036024" y="1720932"/>
                </a:lnTo>
                <a:lnTo>
                  <a:pt x="3014093" y="1854738"/>
                </a:lnTo>
                <a:lnTo>
                  <a:pt x="2980472" y="1986094"/>
                </a:lnTo>
                <a:lnTo>
                  <a:pt x="2935422" y="2113982"/>
                </a:lnTo>
                <a:lnTo>
                  <a:pt x="2879292" y="2237409"/>
                </a:lnTo>
                <a:lnTo>
                  <a:pt x="2812519" y="2355418"/>
                </a:lnTo>
                <a:lnTo>
                  <a:pt x="2735619" y="2467093"/>
                </a:lnTo>
                <a:lnTo>
                  <a:pt x="2649190" y="2571568"/>
                </a:lnTo>
                <a:lnTo>
                  <a:pt x="2553903" y="2668031"/>
                </a:lnTo>
                <a:lnTo>
                  <a:pt x="2450496" y="2755734"/>
                </a:lnTo>
                <a:lnTo>
                  <a:pt x="2339773" y="2833998"/>
                </a:lnTo>
                <a:lnTo>
                  <a:pt x="2222592" y="2902214"/>
                </a:lnTo>
                <a:lnTo>
                  <a:pt x="2099862" y="2959853"/>
                </a:lnTo>
                <a:lnTo>
                  <a:pt x="1972536" y="3006468"/>
                </a:lnTo>
                <a:lnTo>
                  <a:pt x="1841602" y="3041697"/>
                </a:lnTo>
                <a:lnTo>
                  <a:pt x="1708076" y="3065267"/>
                </a:lnTo>
                <a:lnTo>
                  <a:pt x="1572993" y="3076996"/>
                </a:lnTo>
                <a:lnTo>
                  <a:pt x="1437403" y="3076791"/>
                </a:lnTo>
                <a:lnTo>
                  <a:pt x="1302356" y="3064655"/>
                </a:lnTo>
                <a:lnTo>
                  <a:pt x="1168902" y="3040682"/>
                </a:lnTo>
                <a:lnTo>
                  <a:pt x="1038075" y="3005057"/>
                </a:lnTo>
                <a:lnTo>
                  <a:pt x="910890" y="2958058"/>
                </a:lnTo>
                <a:lnTo>
                  <a:pt x="788335" y="2900048"/>
                </a:lnTo>
                <a:lnTo>
                  <a:pt x="671360" y="2831479"/>
                </a:lnTo>
                <a:lnTo>
                  <a:pt x="560874" y="2752882"/>
                </a:lnTo>
                <a:lnTo>
                  <a:pt x="457732" y="2664866"/>
                </a:lnTo>
                <a:lnTo>
                  <a:pt x="362737" y="2568116"/>
                </a:lnTo>
                <a:lnTo>
                  <a:pt x="276624" y="2463381"/>
                </a:lnTo>
                <a:lnTo>
                  <a:pt x="200062" y="2351474"/>
                </a:lnTo>
                <a:lnTo>
                  <a:pt x="133645" y="2233264"/>
                </a:lnTo>
                <a:lnTo>
                  <a:pt x="77888" y="2109668"/>
                </a:lnTo>
                <a:lnTo>
                  <a:pt x="33224" y="1981645"/>
                </a:lnTo>
                <a:lnTo>
                  <a:pt x="0" y="1850187"/>
                </a:lnTo>
                <a:lnTo>
                  <a:pt x="1507520" y="1539108"/>
                </a:lnTo>
                <a:close/>
              </a:path>
            </a:pathLst>
          </a:cu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56644" y="1933247"/>
            <a:ext cx="1539204" cy="1497314"/>
          </a:xfrm>
          <a:custGeom>
            <a:avLst/>
            <a:gdLst/>
            <a:ahLst/>
            <a:cxnLst/>
            <a:rect l="l" t="t" r="r" b="b"/>
            <a:pathLst>
              <a:path w="1539204" h="1497314">
                <a:moveTo>
                  <a:pt x="1539204" y="1231593"/>
                </a:moveTo>
                <a:lnTo>
                  <a:pt x="23031" y="1497314"/>
                </a:lnTo>
                <a:lnTo>
                  <a:pt x="5063" y="1357286"/>
                </a:lnTo>
                <a:lnTo>
                  <a:pt x="0" y="1216200"/>
                </a:lnTo>
                <a:lnTo>
                  <a:pt x="7884" y="1075245"/>
                </a:lnTo>
                <a:lnTo>
                  <a:pt x="28649" y="935604"/>
                </a:lnTo>
                <a:lnTo>
                  <a:pt x="62120" y="798453"/>
                </a:lnTo>
                <a:lnTo>
                  <a:pt x="108016" y="664946"/>
                </a:lnTo>
                <a:lnTo>
                  <a:pt x="165952" y="536205"/>
                </a:lnTo>
                <a:lnTo>
                  <a:pt x="235438" y="413314"/>
                </a:lnTo>
                <a:lnTo>
                  <a:pt x="315892" y="297305"/>
                </a:lnTo>
                <a:lnTo>
                  <a:pt x="406635" y="189156"/>
                </a:lnTo>
                <a:lnTo>
                  <a:pt x="506906" y="89776"/>
                </a:lnTo>
                <a:lnTo>
                  <a:pt x="615860" y="0"/>
                </a:lnTo>
                <a:lnTo>
                  <a:pt x="1539204" y="1231593"/>
                </a:lnTo>
                <a:close/>
              </a:path>
            </a:pathLst>
          </a:cu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09862" y="1625732"/>
            <a:ext cx="885986" cy="1539108"/>
          </a:xfrm>
          <a:custGeom>
            <a:avLst/>
            <a:gdLst/>
            <a:ahLst/>
            <a:cxnLst/>
            <a:rect l="l" t="t" r="r" b="b"/>
            <a:pathLst>
              <a:path w="885986" h="1539108">
                <a:moveTo>
                  <a:pt x="885986" y="1539108"/>
                </a:moveTo>
                <a:lnTo>
                  <a:pt x="0" y="280373"/>
                </a:lnTo>
                <a:lnTo>
                  <a:pt x="63835" y="237780"/>
                </a:lnTo>
                <a:lnTo>
                  <a:pt x="129714" y="198422"/>
                </a:lnTo>
                <a:lnTo>
                  <a:pt x="197473" y="162396"/>
                </a:lnTo>
                <a:lnTo>
                  <a:pt x="266942" y="129792"/>
                </a:lnTo>
                <a:lnTo>
                  <a:pt x="337951" y="100691"/>
                </a:lnTo>
                <a:lnTo>
                  <a:pt x="410322" y="75165"/>
                </a:lnTo>
                <a:lnTo>
                  <a:pt x="483874" y="53278"/>
                </a:lnTo>
                <a:lnTo>
                  <a:pt x="558427" y="35083"/>
                </a:lnTo>
                <a:lnTo>
                  <a:pt x="633793" y="20627"/>
                </a:lnTo>
                <a:lnTo>
                  <a:pt x="709787" y="9945"/>
                </a:lnTo>
                <a:lnTo>
                  <a:pt x="786218" y="3064"/>
                </a:lnTo>
                <a:lnTo>
                  <a:pt x="862897" y="0"/>
                </a:lnTo>
                <a:lnTo>
                  <a:pt x="885986" y="1539108"/>
                </a:lnTo>
                <a:close/>
              </a:path>
            </a:pathLst>
          </a:custGeom>
          <a:solidFill>
            <a:srgbClr val="565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03064" y="2272057"/>
            <a:ext cx="1785565" cy="1785565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6982" y="2629170"/>
            <a:ext cx="1517730" cy="64389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3900" b="1">
                <a:solidFill>
                  <a:srgbClr val="22201C"/>
                </a:solidFill>
                <a:latin typeface="Instrument Serif"/>
              </a:rPr>
              <a:t>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6982" y="3273060"/>
            <a:ext cx="1517730" cy="231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Subscription</a:t>
            </a:r>
          </a:p>
        </p:txBody>
      </p:sp>
      <p:sp>
        <p:nvSpPr>
          <p:cNvPr id="10" name="Oval 9"/>
          <p:cNvSpPr/>
          <p:nvPr/>
        </p:nvSpPr>
        <p:spPr>
          <a:xfrm>
            <a:off x="610819" y="5241341"/>
            <a:ext cx="142240" cy="14224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39" y="5129581"/>
            <a:ext cx="1074653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22201C"/>
                </a:solidFill>
                <a:latin typeface="Instrument Sans"/>
              </a:rPr>
              <a:t>Subscription  72%</a:t>
            </a:r>
          </a:p>
        </p:txBody>
      </p:sp>
      <p:sp>
        <p:nvSpPr>
          <p:cNvPr id="12" name="Oval 11"/>
          <p:cNvSpPr/>
          <p:nvPr/>
        </p:nvSpPr>
        <p:spPr>
          <a:xfrm>
            <a:off x="610819" y="5607101"/>
            <a:ext cx="142240" cy="14224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39" y="5495341"/>
            <a:ext cx="1074653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22201C"/>
                </a:solidFill>
                <a:latin typeface="Instrument Sans"/>
              </a:rPr>
              <a:t>Services  18%</a:t>
            </a:r>
          </a:p>
        </p:txBody>
      </p:sp>
      <p:sp>
        <p:nvSpPr>
          <p:cNvPr id="14" name="Oval 13"/>
          <p:cNvSpPr/>
          <p:nvPr/>
        </p:nvSpPr>
        <p:spPr>
          <a:xfrm>
            <a:off x="610819" y="5972861"/>
            <a:ext cx="142240" cy="142240"/>
          </a:xfrm>
          <a:prstGeom prst="ellipse">
            <a:avLst/>
          </a:prstGeom>
          <a:solidFill>
            <a:srgbClr val="565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39" y="5861101"/>
            <a:ext cx="1074653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22201C"/>
                </a:solidFill>
                <a:latin typeface="Instrument Sans"/>
              </a:rPr>
              <a:t>Other  10%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