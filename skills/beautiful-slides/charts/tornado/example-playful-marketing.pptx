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B1B1F"/>
                </a:solidFill>
                <a:latin typeface="Bricolage Grotesque"/>
              </a:rPr>
              <a:t>Feature satisfaction: Product A vs. B</a:t>
            </a:r>
          </a:p>
        </p:txBody>
      </p:sp>
      <p:sp>
        <p:nvSpPr>
          <p:cNvPr id="4" name="Oval 3"/>
          <p:cNvSpPr/>
          <p:nvPr/>
        </p:nvSpPr>
        <p:spPr>
          <a:xfrm>
            <a:off x="8886901" y="1599819"/>
            <a:ext cx="171450" cy="17145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34551" y="1495044"/>
            <a:ext cx="9429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Product A</a:t>
            </a:r>
          </a:p>
        </p:txBody>
      </p:sp>
      <p:sp>
        <p:nvSpPr>
          <p:cNvPr id="6" name="Oval 5"/>
          <p:cNvSpPr/>
          <p:nvPr/>
        </p:nvSpPr>
        <p:spPr>
          <a:xfrm>
            <a:off x="10306126" y="1599819"/>
            <a:ext cx="171450" cy="171450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53776" y="1495044"/>
            <a:ext cx="9429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Product 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1944624"/>
            <a:ext cx="0" cy="4218430"/>
          </a:xfrm>
          <a:prstGeom prst="line">
            <a:avLst/>
          </a:prstGeom>
          <a:ln w="9524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369407" y="1944624"/>
            <a:ext cx="1452880" cy="706502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9407" y="1944624"/>
            <a:ext cx="145288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Plus Jakarta Sans"/>
              </a:rPr>
              <a:t>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7437" y="2068262"/>
            <a:ext cx="3691970" cy="459226"/>
          </a:xfrm>
          <a:prstGeom prst="roundRect">
            <a:avLst>
              <a:gd name="adj" fmla="val 12444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22287" y="2068262"/>
            <a:ext cx="3511874" cy="459226"/>
          </a:xfrm>
          <a:prstGeom prst="roundRect">
            <a:avLst>
              <a:gd name="adj" fmla="val 12444"/>
            </a:avLst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5137" y="1944624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7501" y="1944624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78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69407" y="2822606"/>
            <a:ext cx="1452880" cy="706502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9407" y="2822606"/>
            <a:ext cx="145288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Plus Jakarta Sans"/>
              </a:rPr>
              <a:t>Reliability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92605" y="2946244"/>
            <a:ext cx="3376802" cy="459226"/>
          </a:xfrm>
          <a:prstGeom prst="roundRect">
            <a:avLst>
              <a:gd name="adj" fmla="val 12444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22287" y="2946244"/>
            <a:ext cx="3962114" cy="459226"/>
          </a:xfrm>
          <a:prstGeom prst="roundRect">
            <a:avLst>
              <a:gd name="adj" fmla="val 12444"/>
            </a:avLst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0305" y="2822606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7741" y="2822606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88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69407" y="3700588"/>
            <a:ext cx="1452880" cy="706502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69407" y="3700588"/>
            <a:ext cx="145288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Plus Jakarta Sans"/>
              </a:rPr>
              <a:t>UX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7244" y="3824226"/>
            <a:ext cx="4052163" cy="459226"/>
          </a:xfrm>
          <a:prstGeom prst="roundRect">
            <a:avLst>
              <a:gd name="adj" fmla="val 12444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22287" y="3824226"/>
            <a:ext cx="2926562" cy="459226"/>
          </a:xfrm>
          <a:prstGeom prst="roundRect">
            <a:avLst>
              <a:gd name="adj" fmla="val 12444"/>
            </a:avLst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3700588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189" y="3700588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69407" y="4578570"/>
            <a:ext cx="1452880" cy="706502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69407" y="4578570"/>
            <a:ext cx="145288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Plus Jakarta Sans"/>
              </a:rPr>
              <a:t>Support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07773" y="4702208"/>
            <a:ext cx="3061634" cy="459226"/>
          </a:xfrm>
          <a:prstGeom prst="roundRect">
            <a:avLst>
              <a:gd name="adj" fmla="val 12444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22287" y="4702208"/>
            <a:ext cx="3646946" cy="459226"/>
          </a:xfrm>
          <a:prstGeom prst="roundRect">
            <a:avLst>
              <a:gd name="adj" fmla="val 12444"/>
            </a:avLst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85473" y="4578570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22573" y="4578570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81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9407" y="5456552"/>
            <a:ext cx="1452880" cy="706502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69407" y="5456552"/>
            <a:ext cx="145288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Plus Jakarta Sans"/>
              </a:rPr>
              <a:t>Price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27677" y="5580190"/>
            <a:ext cx="3241730" cy="459226"/>
          </a:xfrm>
          <a:prstGeom prst="roundRect">
            <a:avLst>
              <a:gd name="adj" fmla="val 12444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822287" y="5580190"/>
            <a:ext cx="3151682" cy="459226"/>
          </a:xfrm>
          <a:prstGeom prst="roundRect">
            <a:avLst>
              <a:gd name="adj" fmla="val 12444"/>
            </a:avLst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05377" y="5456552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27309" y="5456552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