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694944"/>
            <a:ext cx="1080180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01828"/>
                </a:solidFill>
                <a:latin typeface="Public Sans"/>
              </a:rPr>
              <a:t>Sensitivity analysis: NPV drivers</a:t>
            </a:r>
          </a:p>
        </p:txBody>
      </p:sp>
      <p:sp>
        <p:nvSpPr>
          <p:cNvPr id="4" name="Oval 3"/>
          <p:cNvSpPr/>
          <p:nvPr/>
        </p:nvSpPr>
        <p:spPr>
          <a:xfrm>
            <a:off x="9890201" y="1381379"/>
            <a:ext cx="125730" cy="125730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71811" y="1304544"/>
            <a:ext cx="61468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Public Sans"/>
              </a:rPr>
              <a:t>Downside</a:t>
            </a:r>
          </a:p>
        </p:txBody>
      </p:sp>
      <p:sp>
        <p:nvSpPr>
          <p:cNvPr id="6" name="Oval 5"/>
          <p:cNvSpPr/>
          <p:nvPr/>
        </p:nvSpPr>
        <p:spPr>
          <a:xfrm>
            <a:off x="10854131" y="1381379"/>
            <a:ext cx="125730" cy="125730"/>
          </a:xfrm>
          <a:prstGeom prst="ellipse">
            <a:avLst/>
          </a:prstGeom>
          <a:solidFill>
            <a:srgbClr val="05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35741" y="1304544"/>
            <a:ext cx="46101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Public Sans"/>
              </a:rPr>
              <a:t>Upside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5847" y="1637284"/>
            <a:ext cx="0" cy="4525771"/>
          </a:xfrm>
          <a:prstGeom prst="line">
            <a:avLst/>
          </a:prstGeom>
          <a:ln w="9524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425287" y="1637284"/>
            <a:ext cx="1341120" cy="758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25287" y="1637284"/>
            <a:ext cx="1341120" cy="758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01828"/>
                </a:solidFill>
                <a:latin typeface="Public Sans"/>
              </a:rPr>
              <a:t>Discount rate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47620" y="1770043"/>
            <a:ext cx="3877667" cy="493104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66407" y="1770043"/>
            <a:ext cx="4285843" cy="493104"/>
          </a:xfrm>
          <a:prstGeom prst="rect">
            <a:avLst/>
          </a:prstGeom>
          <a:solidFill>
            <a:srgbClr val="05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3120" y="1637284"/>
            <a:ext cx="406400" cy="758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01828"/>
                </a:solidFill>
                <a:latin typeface="Public Sans"/>
              </a:rPr>
              <a:t>38M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0350" y="1637284"/>
            <a:ext cx="406400" cy="758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01828"/>
                </a:solidFill>
                <a:latin typeface="Public Sans"/>
              </a:rPr>
              <a:t>42M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25287" y="2579071"/>
            <a:ext cx="1341120" cy="758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25287" y="2579071"/>
            <a:ext cx="1341120" cy="758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01828"/>
                </a:solidFill>
                <a:latin typeface="Public Sans"/>
              </a:rPr>
              <a:t>Revenue growth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74190" y="2711830"/>
            <a:ext cx="2551097" cy="493104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66407" y="2711830"/>
            <a:ext cx="3061316" cy="493104"/>
          </a:xfrm>
          <a:prstGeom prst="rect">
            <a:avLst/>
          </a:prstGeom>
          <a:solidFill>
            <a:srgbClr val="05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29690" y="2579071"/>
            <a:ext cx="406400" cy="758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01828"/>
                </a:solidFill>
                <a:latin typeface="Public Sans"/>
              </a:rPr>
              <a:t>25M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65823" y="2579071"/>
            <a:ext cx="406400" cy="758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01828"/>
                </a:solidFill>
                <a:latin typeface="Public Sans"/>
              </a:rPr>
              <a:t>30M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25287" y="3520858"/>
            <a:ext cx="1341120" cy="758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25287" y="3520858"/>
            <a:ext cx="1341120" cy="758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01828"/>
                </a:solidFill>
                <a:latin typeface="Public Sans"/>
              </a:rPr>
              <a:t>COGS 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80322" y="3653617"/>
            <a:ext cx="2244965" cy="493104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66407" y="3653617"/>
            <a:ext cx="1938833" cy="493104"/>
          </a:xfrm>
          <a:prstGeom prst="rect">
            <a:avLst/>
          </a:prstGeom>
          <a:solidFill>
            <a:srgbClr val="05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35822" y="3520858"/>
            <a:ext cx="406400" cy="758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01828"/>
                </a:solidFill>
                <a:latin typeface="Public Sans"/>
              </a:rPr>
              <a:t>22M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43340" y="3520858"/>
            <a:ext cx="406400" cy="758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01828"/>
                </a:solidFill>
                <a:latin typeface="Public Sans"/>
              </a:rPr>
              <a:t>19M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25287" y="4462645"/>
            <a:ext cx="1341120" cy="758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25287" y="4462645"/>
            <a:ext cx="1341120" cy="758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01828"/>
                </a:solidFill>
                <a:latin typeface="Public Sans"/>
              </a:rPr>
              <a:t>CapEx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88498" y="4595404"/>
            <a:ext cx="1836789" cy="493104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766407" y="4595404"/>
            <a:ext cx="1428614" cy="493104"/>
          </a:xfrm>
          <a:prstGeom prst="rect">
            <a:avLst/>
          </a:prstGeom>
          <a:solidFill>
            <a:srgbClr val="05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43998" y="4462645"/>
            <a:ext cx="406400" cy="758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01828"/>
                </a:solidFill>
                <a:latin typeface="Public Sans"/>
              </a:rPr>
              <a:t>18M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3121" y="4462645"/>
            <a:ext cx="406400" cy="758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01828"/>
                </a:solidFill>
                <a:latin typeface="Public Sans"/>
              </a:rPr>
              <a:t>14M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25287" y="5404432"/>
            <a:ext cx="1341120" cy="758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25287" y="5404432"/>
            <a:ext cx="1341120" cy="758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01828"/>
                </a:solidFill>
                <a:latin typeface="Public Sans"/>
              </a:rPr>
              <a:t>Terminal value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94629" y="5537191"/>
            <a:ext cx="1530658" cy="493104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766407" y="5537191"/>
            <a:ext cx="1224526" cy="493104"/>
          </a:xfrm>
          <a:prstGeom prst="rect">
            <a:avLst/>
          </a:prstGeom>
          <a:solidFill>
            <a:srgbClr val="05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50129" y="5404432"/>
            <a:ext cx="406400" cy="758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01828"/>
                </a:solidFill>
                <a:latin typeface="Public Sans"/>
              </a:rPr>
              <a:t>15M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29033" y="5404432"/>
            <a:ext cx="406400" cy="758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01828"/>
                </a:solidFill>
                <a:latin typeface="Public Sans"/>
              </a:rPr>
              <a:t>12M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