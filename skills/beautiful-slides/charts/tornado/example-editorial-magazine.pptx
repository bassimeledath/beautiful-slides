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694944"/>
            <a:ext cx="10801807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81514"/>
                </a:solidFill>
                <a:latin typeface="Fraunces"/>
              </a:rPr>
              <a:t>Population by age group, 2024</a:t>
            </a:r>
          </a:p>
        </p:txBody>
      </p:sp>
      <p:sp>
        <p:nvSpPr>
          <p:cNvPr id="4" name="Oval 3"/>
          <p:cNvSpPr/>
          <p:nvPr/>
        </p:nvSpPr>
        <p:spPr>
          <a:xfrm>
            <a:off x="9961321" y="1502029"/>
            <a:ext cx="148590" cy="148590"/>
          </a:xfrm>
          <a:prstGeom prst="ellipse">
            <a:avLst/>
          </a:prstGeom>
          <a:solidFill>
            <a:srgbClr val="8C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75951" y="1411224"/>
            <a:ext cx="363220" cy="33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181514"/>
                </a:solidFill>
                <a:latin typeface="Newsreader"/>
              </a:rPr>
              <a:t>Male</a:t>
            </a:r>
          </a:p>
        </p:txBody>
      </p:sp>
      <p:sp>
        <p:nvSpPr>
          <p:cNvPr id="6" name="Oval 5"/>
          <p:cNvSpPr/>
          <p:nvPr/>
        </p:nvSpPr>
        <p:spPr>
          <a:xfrm>
            <a:off x="10737291" y="1502029"/>
            <a:ext cx="148590" cy="148590"/>
          </a:xfrm>
          <a:prstGeom prst="ellipse">
            <a:avLst/>
          </a:prstGeom>
          <a:solidFill>
            <a:srgbClr val="9C5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1921" y="1411224"/>
            <a:ext cx="544830" cy="33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181514"/>
                </a:solidFill>
                <a:latin typeface="Newsreader"/>
              </a:rPr>
              <a:t>Female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95847" y="1802384"/>
            <a:ext cx="0" cy="4360668"/>
          </a:xfrm>
          <a:prstGeom prst="line">
            <a:avLst/>
          </a:prstGeom>
          <a:ln w="9524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5447739" y="1802384"/>
            <a:ext cx="1296216" cy="471354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47739" y="1802384"/>
            <a:ext cx="1296216" cy="4713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181514"/>
                </a:solidFill>
                <a:latin typeface="Newsreader"/>
              </a:rPr>
              <a:t>0-14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15198" y="1884871"/>
            <a:ext cx="3732541" cy="306380"/>
          </a:xfrm>
          <a:prstGeom prst="rect">
            <a:avLst/>
          </a:prstGeom>
          <a:solidFill>
            <a:srgbClr val="8C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743955" y="1884871"/>
            <a:ext cx="3570257" cy="306380"/>
          </a:xfrm>
          <a:prstGeom prst="rect">
            <a:avLst/>
          </a:prstGeom>
          <a:solidFill>
            <a:srgbClr val="9C5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1798" y="1802384"/>
            <a:ext cx="487680" cy="4713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181514"/>
                </a:solidFill>
                <a:latin typeface="IBM Plex Mono"/>
              </a:rPr>
              <a:t>9.2%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59932" y="1802384"/>
            <a:ext cx="487680" cy="4713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81514"/>
                </a:solidFill>
                <a:latin typeface="IBM Plex Mono"/>
              </a:rPr>
              <a:t>8.8%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47739" y="2450603"/>
            <a:ext cx="1296216" cy="471354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47739" y="2450603"/>
            <a:ext cx="1296216" cy="4713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181514"/>
                </a:solidFill>
                <a:latin typeface="Newsreader"/>
              </a:rPr>
              <a:t>15-24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39767" y="2533090"/>
            <a:ext cx="3407972" cy="306380"/>
          </a:xfrm>
          <a:prstGeom prst="rect">
            <a:avLst/>
          </a:prstGeom>
          <a:solidFill>
            <a:srgbClr val="8C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743955" y="2533090"/>
            <a:ext cx="3286259" cy="306380"/>
          </a:xfrm>
          <a:prstGeom prst="rect">
            <a:avLst/>
          </a:prstGeom>
          <a:solidFill>
            <a:srgbClr val="9C5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6367" y="2450603"/>
            <a:ext cx="487680" cy="4713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181514"/>
                </a:solidFill>
                <a:latin typeface="IBM Plex Mono"/>
              </a:rPr>
              <a:t>8.4%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75934" y="2450603"/>
            <a:ext cx="487680" cy="4713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81514"/>
                </a:solidFill>
                <a:latin typeface="IBM Plex Mono"/>
              </a:rPr>
              <a:t>8.1%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47739" y="3098822"/>
            <a:ext cx="1296216" cy="471354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47739" y="3098822"/>
            <a:ext cx="1296216" cy="4713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181514"/>
                </a:solidFill>
                <a:latin typeface="Newsreader"/>
              </a:rPr>
              <a:t>25-34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50058" y="3181309"/>
            <a:ext cx="4097681" cy="306380"/>
          </a:xfrm>
          <a:prstGeom prst="rect">
            <a:avLst/>
          </a:prstGeom>
          <a:solidFill>
            <a:srgbClr val="8C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743955" y="3181309"/>
            <a:ext cx="4219395" cy="306380"/>
          </a:xfrm>
          <a:prstGeom prst="rect">
            <a:avLst/>
          </a:prstGeom>
          <a:solidFill>
            <a:srgbClr val="9C5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6658" y="3098822"/>
            <a:ext cx="487680" cy="4713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181514"/>
                </a:solidFill>
                <a:latin typeface="IBM Plex Mono"/>
              </a:rPr>
              <a:t>10.1%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9070" y="3098822"/>
            <a:ext cx="487680" cy="4713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81514"/>
                </a:solidFill>
                <a:latin typeface="IBM Plex Mono"/>
              </a:rPr>
              <a:t>10.4%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47739" y="3747041"/>
            <a:ext cx="1296216" cy="471354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47739" y="3747041"/>
            <a:ext cx="1296216" cy="4713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181514"/>
                </a:solidFill>
                <a:latin typeface="Newsreader"/>
              </a:rPr>
              <a:t>35-44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471771" y="3829528"/>
            <a:ext cx="3975968" cy="306380"/>
          </a:xfrm>
          <a:prstGeom prst="rect">
            <a:avLst/>
          </a:prstGeom>
          <a:solidFill>
            <a:srgbClr val="8C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743955" y="3829528"/>
            <a:ext cx="4057110" cy="306380"/>
          </a:xfrm>
          <a:prstGeom prst="rect">
            <a:avLst/>
          </a:prstGeom>
          <a:solidFill>
            <a:srgbClr val="9C5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8371" y="3747041"/>
            <a:ext cx="487680" cy="4713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181514"/>
                </a:solidFill>
                <a:latin typeface="IBM Plex Mono"/>
              </a:rPr>
              <a:t>9.8%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46785" y="3747041"/>
            <a:ext cx="487680" cy="4713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81514"/>
                </a:solidFill>
                <a:latin typeface="IBM Plex Mono"/>
              </a:rPr>
              <a:t>10%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47739" y="4395260"/>
            <a:ext cx="1296216" cy="471354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47739" y="4395260"/>
            <a:ext cx="1296216" cy="4713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181514"/>
                </a:solidFill>
                <a:latin typeface="Newsreader"/>
              </a:rPr>
              <a:t>45-54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958624" y="4477747"/>
            <a:ext cx="3489115" cy="306380"/>
          </a:xfrm>
          <a:prstGeom prst="rect">
            <a:avLst/>
          </a:prstGeom>
          <a:solidFill>
            <a:srgbClr val="8C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743955" y="4477747"/>
            <a:ext cx="3610828" cy="306380"/>
          </a:xfrm>
          <a:prstGeom prst="rect">
            <a:avLst/>
          </a:prstGeom>
          <a:solidFill>
            <a:srgbClr val="9C5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425224" y="4395260"/>
            <a:ext cx="487680" cy="4713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181514"/>
                </a:solidFill>
                <a:latin typeface="IBM Plex Mono"/>
              </a:rPr>
              <a:t>8.6%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00503" y="4395260"/>
            <a:ext cx="487680" cy="4713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81514"/>
                </a:solidFill>
                <a:latin typeface="IBM Plex Mono"/>
              </a:rPr>
              <a:t>8.9%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47739" y="5043479"/>
            <a:ext cx="1296216" cy="471354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47739" y="5043479"/>
            <a:ext cx="1296216" cy="4713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181514"/>
                </a:solidFill>
                <a:latin typeface="Newsreader"/>
              </a:rPr>
              <a:t>55-64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526620" y="5125966"/>
            <a:ext cx="2921119" cy="306380"/>
          </a:xfrm>
          <a:prstGeom prst="rect">
            <a:avLst/>
          </a:prstGeom>
          <a:solidFill>
            <a:srgbClr val="8C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743955" y="5125966"/>
            <a:ext cx="3083404" cy="306380"/>
          </a:xfrm>
          <a:prstGeom prst="rect">
            <a:avLst/>
          </a:prstGeom>
          <a:solidFill>
            <a:srgbClr val="9C5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993220" y="5043479"/>
            <a:ext cx="487680" cy="4713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181514"/>
                </a:solidFill>
                <a:latin typeface="IBM Plex Mono"/>
              </a:rPr>
              <a:t>7.2%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73079" y="5043479"/>
            <a:ext cx="487680" cy="4713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81514"/>
                </a:solidFill>
                <a:latin typeface="IBM Plex Mono"/>
              </a:rPr>
              <a:t>7.6%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47739" y="5691698"/>
            <a:ext cx="1296216" cy="471354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47739" y="5691698"/>
            <a:ext cx="1296216" cy="4713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181514"/>
                </a:solidFill>
                <a:latin typeface="Newsreader"/>
              </a:rPr>
              <a:t>65+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094615" y="5774185"/>
            <a:ext cx="2353124" cy="306380"/>
          </a:xfrm>
          <a:prstGeom prst="rect">
            <a:avLst/>
          </a:prstGeom>
          <a:solidFill>
            <a:srgbClr val="8C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743955" y="5774185"/>
            <a:ext cx="2799406" cy="306380"/>
          </a:xfrm>
          <a:prstGeom prst="rect">
            <a:avLst/>
          </a:prstGeom>
          <a:solidFill>
            <a:srgbClr val="9C5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561215" y="5691698"/>
            <a:ext cx="487680" cy="4713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181514"/>
                </a:solidFill>
                <a:latin typeface="IBM Plex Mono"/>
              </a:rPr>
              <a:t>5.8%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89081" y="5691698"/>
            <a:ext cx="487680" cy="4713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81514"/>
                </a:solidFill>
                <a:latin typeface="IBM Plex Mono"/>
              </a:rPr>
              <a:t>6.9%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