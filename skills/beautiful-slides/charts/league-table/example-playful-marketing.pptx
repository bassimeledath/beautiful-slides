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B1B1F"/>
                </a:solidFill>
                <a:latin typeface="Bricolage Grotesque"/>
              </a:rPr>
              <a:t>Sales leaderboard, Q1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472184"/>
            <a:ext cx="6481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B1B1F"/>
                </a:solidFill>
                <a:latin typeface="Plus Jakarta Sans"/>
              </a:rP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3052" y="1472184"/>
            <a:ext cx="33845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B1B1F"/>
                </a:solidFill>
                <a:latin typeface="Plus Jakarta Sans"/>
              </a:rPr>
              <a:t>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618" y="1472184"/>
            <a:ext cx="16922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B1B1F"/>
                </a:solidFill>
                <a:latin typeface="Plus Jakarta Sans"/>
              </a:rP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901" y="1472184"/>
            <a:ext cx="16922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1B1B1F"/>
                </a:solidFill>
                <a:latin typeface="Plus Jakarta Sans"/>
              </a:rPr>
              <a:t>Deals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2184" y="1472184"/>
            <a:ext cx="16922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B1B1F"/>
                </a:solidFill>
                <a:latin typeface="Plus Jakarta Sans"/>
              </a:rPr>
              <a:t>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04467" y="1472184"/>
            <a:ext cx="16922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1B1B1F"/>
                </a:solidFill>
                <a:latin typeface="Plus Jakarta Sans"/>
              </a:rPr>
              <a:t>Tier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" y="1929384"/>
            <a:ext cx="10801807" cy="0"/>
          </a:xfrm>
          <a:prstGeom prst="line">
            <a:avLst/>
          </a:prstGeom>
          <a:ln w="9524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94944" y="1929384"/>
            <a:ext cx="10801807" cy="529209"/>
          </a:xfrm>
          <a:prstGeom prst="rect">
            <a:avLst/>
          </a:prstGeom>
          <a:solidFill>
            <a:srgbClr val="FF7A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929384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Recursive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4012" y="1929384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B1B1F"/>
                </a:solidFill>
                <a:latin typeface="Plus Jakarta Sans"/>
              </a:rPr>
              <a:t>Alice 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8578" y="1929384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420K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9146" y="2101377"/>
            <a:ext cx="930755" cy="185223"/>
          </a:xfrm>
          <a:prstGeom prst="roundRect">
            <a:avLst>
              <a:gd name="adj" fmla="val 3085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861" y="1929384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18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8877045" y="2112708"/>
            <a:ext cx="162560" cy="162560"/>
          </a:xfrm>
          <a:prstGeom prst="triangl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06768" y="2072068"/>
            <a:ext cx="487680" cy="243840"/>
          </a:xfrm>
          <a:prstGeom prst="roundRect">
            <a:avLst>
              <a:gd name="adj" fmla="val 23437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06768" y="2072068"/>
            <a:ext cx="48768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4EB"/>
                </a:solidFill>
                <a:latin typeface="Recursive Mono"/>
              </a:rPr>
              <a:t>Gold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2458593"/>
            <a:ext cx="10801807" cy="529209"/>
          </a:xfrm>
          <a:prstGeom prst="rect">
            <a:avLst/>
          </a:prstGeom>
          <a:solidFill>
            <a:srgbClr val="FF7A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94944" y="2458593"/>
            <a:ext cx="1080180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4944" y="2458593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Recursive Mon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4012" y="2458593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B1B1F"/>
                </a:solidFill>
                <a:latin typeface="Plus Jakarta Sans"/>
              </a:rPr>
              <a:t>Bob Martinez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8578" y="2458593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380K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9146" y="2630586"/>
            <a:ext cx="842111" cy="185223"/>
          </a:xfrm>
          <a:prstGeom prst="roundRect">
            <a:avLst>
              <a:gd name="adj" fmla="val 3085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861" y="2458593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15</a:t>
            </a:r>
          </a:p>
        </p:txBody>
      </p:sp>
      <p:sp>
        <p:nvSpPr>
          <p:cNvPr id="27" name="Isosceles Triangle 26"/>
          <p:cNvSpPr/>
          <p:nvPr/>
        </p:nvSpPr>
        <p:spPr>
          <a:xfrm>
            <a:off x="8877045" y="2641917"/>
            <a:ext cx="162560" cy="162560"/>
          </a:xfrm>
          <a:prstGeom prst="triangl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06768" y="2601277"/>
            <a:ext cx="487680" cy="243840"/>
          </a:xfrm>
          <a:prstGeom prst="roundRect">
            <a:avLst>
              <a:gd name="adj" fmla="val 23437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06768" y="2601277"/>
            <a:ext cx="48768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4EB"/>
                </a:solidFill>
                <a:latin typeface="Recursive Mono"/>
              </a:rPr>
              <a:t>Gold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4944" y="2987802"/>
            <a:ext cx="1080180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4944" y="2987802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Recursive Mon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4012" y="2987802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Carlos Diaz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8578" y="2987802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310K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9146" y="3159795"/>
            <a:ext cx="686985" cy="185223"/>
          </a:xfrm>
          <a:prstGeom prst="roundRect">
            <a:avLst>
              <a:gd name="adj" fmla="val 3085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0861" y="2987802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77045" y="3236150"/>
            <a:ext cx="162560" cy="32512"/>
          </a:xfrm>
          <a:prstGeom prst="rect">
            <a:avLst/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15328" y="3130486"/>
            <a:ext cx="670560" cy="243840"/>
          </a:xfrm>
          <a:prstGeom prst="roundRect">
            <a:avLst>
              <a:gd name="adj" fmla="val 23437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15328" y="3130486"/>
            <a:ext cx="6705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4EB"/>
                </a:solidFill>
                <a:latin typeface="Recursive Mono"/>
              </a:rPr>
              <a:t>Silver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94944" y="3517011"/>
            <a:ext cx="1080180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94944" y="3517011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Recursive Mono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4012" y="3517011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Dana Kim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8578" y="3517011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280K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9146" y="3689004"/>
            <a:ext cx="620503" cy="185223"/>
          </a:xfrm>
          <a:prstGeom prst="roundRect">
            <a:avLst>
              <a:gd name="adj" fmla="val 3085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0861" y="3517011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10</a:t>
            </a:r>
          </a:p>
        </p:txBody>
      </p:sp>
      <p:sp>
        <p:nvSpPr>
          <p:cNvPr id="45" name="Isosceles Triangle 44"/>
          <p:cNvSpPr/>
          <p:nvPr/>
        </p:nvSpPr>
        <p:spPr>
          <a:xfrm rot="10800000">
            <a:off x="8877045" y="3700335"/>
            <a:ext cx="162560" cy="162560"/>
          </a:xfrm>
          <a:prstGeom prst="triangl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15328" y="3659695"/>
            <a:ext cx="670560" cy="243840"/>
          </a:xfrm>
          <a:prstGeom prst="roundRect">
            <a:avLst>
              <a:gd name="adj" fmla="val 23437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15328" y="3659695"/>
            <a:ext cx="6705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4EB"/>
                </a:solidFill>
                <a:latin typeface="Recursive Mono"/>
              </a:rPr>
              <a:t>Silver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94944" y="4046220"/>
            <a:ext cx="1080180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94944" y="4046220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Recursive Mono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04012" y="4046220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Eve Okonkwo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88578" y="4046220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250K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9146" y="4218213"/>
            <a:ext cx="554020" cy="185223"/>
          </a:xfrm>
          <a:prstGeom prst="roundRect">
            <a:avLst>
              <a:gd name="adj" fmla="val 3085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0861" y="4046220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9</a:t>
            </a:r>
          </a:p>
        </p:txBody>
      </p:sp>
      <p:sp>
        <p:nvSpPr>
          <p:cNvPr id="54" name="Isosceles Triangle 53"/>
          <p:cNvSpPr/>
          <p:nvPr/>
        </p:nvSpPr>
        <p:spPr>
          <a:xfrm>
            <a:off x="8877045" y="4229544"/>
            <a:ext cx="162560" cy="162560"/>
          </a:xfrm>
          <a:prstGeom prst="triangl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315328" y="4188904"/>
            <a:ext cx="670560" cy="243840"/>
          </a:xfrm>
          <a:prstGeom prst="roundRect">
            <a:avLst>
              <a:gd name="adj" fmla="val 23437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15328" y="4188904"/>
            <a:ext cx="6705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4EB"/>
                </a:solidFill>
                <a:latin typeface="Recursive Mono"/>
              </a:rPr>
              <a:t>Silver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94944" y="4575429"/>
            <a:ext cx="1080180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94944" y="4575429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Recursive Mono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04012" y="4575429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Frank Rossi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88578" y="4575429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210K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9146" y="4747422"/>
            <a:ext cx="465377" cy="185223"/>
          </a:xfrm>
          <a:prstGeom prst="roundRect">
            <a:avLst>
              <a:gd name="adj" fmla="val 3085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0861" y="4575429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77045" y="4823777"/>
            <a:ext cx="162560" cy="32512"/>
          </a:xfrm>
          <a:prstGeom prst="rect">
            <a:avLst/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315328" y="4718113"/>
            <a:ext cx="670560" cy="243840"/>
          </a:xfrm>
          <a:prstGeom prst="roundRect">
            <a:avLst>
              <a:gd name="adj" fmla="val 23437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15328" y="4718113"/>
            <a:ext cx="6705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4EB"/>
                </a:solidFill>
                <a:latin typeface="Recursive Mono"/>
              </a:rPr>
              <a:t>Bronze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4944" y="5104638"/>
            <a:ext cx="10801807" cy="529209"/>
          </a:xfrm>
          <a:prstGeom prst="rect">
            <a:avLst/>
          </a:prstGeom>
          <a:solidFill>
            <a:srgbClr val="0AB39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694944" y="5104638"/>
            <a:ext cx="1080180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94944" y="5104638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Recursive Mono"/>
              </a:rP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04012" y="5104638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Grace Tanaka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88578" y="5104638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190K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9146" y="5276631"/>
            <a:ext cx="421055" cy="185223"/>
          </a:xfrm>
          <a:prstGeom prst="roundRect">
            <a:avLst>
              <a:gd name="adj" fmla="val 3085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80861" y="5104638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7</a:t>
            </a:r>
          </a:p>
        </p:txBody>
      </p:sp>
      <p:sp>
        <p:nvSpPr>
          <p:cNvPr id="73" name="Isosceles Triangle 72"/>
          <p:cNvSpPr/>
          <p:nvPr/>
        </p:nvSpPr>
        <p:spPr>
          <a:xfrm rot="10800000">
            <a:off x="8877045" y="5287962"/>
            <a:ext cx="162560" cy="162560"/>
          </a:xfrm>
          <a:prstGeom prst="triangl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315328" y="5247322"/>
            <a:ext cx="670560" cy="243840"/>
          </a:xfrm>
          <a:prstGeom prst="roundRect">
            <a:avLst>
              <a:gd name="adj" fmla="val 23437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315328" y="5247322"/>
            <a:ext cx="6705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4EB"/>
                </a:solidFill>
                <a:latin typeface="Recursive Mono"/>
              </a:rPr>
              <a:t>Bronze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4944" y="5633847"/>
            <a:ext cx="10801807" cy="529209"/>
          </a:xfrm>
          <a:prstGeom prst="rect">
            <a:avLst/>
          </a:prstGeom>
          <a:solidFill>
            <a:srgbClr val="0AB39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694944" y="5633847"/>
            <a:ext cx="1080180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94944" y="5633847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Recursive Mono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04012" y="5633847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Hiro Patel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88578" y="5633847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140K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9146" y="5805840"/>
            <a:ext cx="310251" cy="185223"/>
          </a:xfrm>
          <a:prstGeom prst="roundRect">
            <a:avLst>
              <a:gd name="adj" fmla="val 3085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80861" y="5633847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Recursive Mono"/>
              </a:rPr>
              <a:t>5</a:t>
            </a:r>
          </a:p>
        </p:txBody>
      </p:sp>
      <p:sp>
        <p:nvSpPr>
          <p:cNvPr id="83" name="Isosceles Triangle 82"/>
          <p:cNvSpPr/>
          <p:nvPr/>
        </p:nvSpPr>
        <p:spPr>
          <a:xfrm rot="10800000">
            <a:off x="8877045" y="5817171"/>
            <a:ext cx="162560" cy="162560"/>
          </a:xfrm>
          <a:prstGeom prst="triangl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315328" y="5776531"/>
            <a:ext cx="670560" cy="243840"/>
          </a:xfrm>
          <a:prstGeom prst="roundRect">
            <a:avLst>
              <a:gd name="adj" fmla="val 23437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315328" y="5776531"/>
            <a:ext cx="6705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4EB"/>
                </a:solidFill>
                <a:latin typeface="Recursive Mono"/>
              </a:rPr>
              <a:t>Bronze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