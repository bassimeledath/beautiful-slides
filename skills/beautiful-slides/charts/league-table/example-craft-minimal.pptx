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2201C"/>
                </a:solidFill>
                <a:latin typeface="Instrument Serif"/>
              </a:rPr>
              <a:t>Sales leaderboard, Q1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390904"/>
            <a:ext cx="648108" cy="39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201C"/>
                </a:solidFill>
                <a:latin typeface="Instrument Sans"/>
              </a:rPr>
              <a:t>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3052" y="1390904"/>
            <a:ext cx="3384566" cy="39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2201C"/>
                </a:solidFill>
                <a:latin typeface="Instrument Sans"/>
              </a:rPr>
              <a:t>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7618" y="1390904"/>
            <a:ext cx="1692283" cy="39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2201C"/>
                </a:solidFill>
                <a:latin typeface="Instrument Sans"/>
              </a:rP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901" y="1390904"/>
            <a:ext cx="1692283" cy="39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22201C"/>
                </a:solidFill>
                <a:latin typeface="Instrument Sans"/>
              </a:rPr>
              <a:t>Deals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2184" y="1390904"/>
            <a:ext cx="1692283" cy="39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22201C"/>
                </a:solidFill>
                <a:latin typeface="Instrument Sans"/>
              </a:rPr>
              <a:t>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04467" y="1390904"/>
            <a:ext cx="1692283" cy="39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22201C"/>
                </a:solidFill>
                <a:latin typeface="Instrument Sans"/>
              </a:rPr>
              <a:t>Tier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" y="1787144"/>
            <a:ext cx="10801807" cy="0"/>
          </a:xfrm>
          <a:prstGeom prst="line">
            <a:avLst/>
          </a:prstGeom>
          <a:ln w="9524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94944" y="1787144"/>
            <a:ext cx="10801807" cy="533400"/>
          </a:xfrm>
          <a:prstGeom prst="rect">
            <a:avLst/>
          </a:prstGeom>
          <a:solidFill>
            <a:srgbClr val="7C857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787144"/>
            <a:ext cx="64810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6392" y="1787144"/>
            <a:ext cx="3277886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201C"/>
                </a:solidFill>
                <a:latin typeface="Instrument Sans"/>
              </a:rPr>
              <a:t>Alice 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0958" y="1787144"/>
            <a:ext cx="65484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420K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9146" y="1960499"/>
            <a:ext cx="930755" cy="186690"/>
          </a:xfrm>
          <a:prstGeom prst="roundRect">
            <a:avLst>
              <a:gd name="adj" fmla="val 5102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241" y="1787144"/>
            <a:ext cx="1585603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18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8887205" y="1982724"/>
            <a:ext cx="142240" cy="142240"/>
          </a:xfrm>
          <a:prstGeom prst="triangle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29628" y="1942084"/>
            <a:ext cx="441960" cy="223520"/>
          </a:xfrm>
          <a:prstGeom prst="roundRect">
            <a:avLst>
              <a:gd name="adj" fmla="val 4261"/>
            </a:avLst>
          </a:pr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9628" y="1942084"/>
            <a:ext cx="441960" cy="22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CFBF8"/>
                </a:solidFill>
                <a:latin typeface="Instrument Sans"/>
              </a:rPr>
              <a:t>Gold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" y="2320544"/>
            <a:ext cx="10801807" cy="533400"/>
          </a:xfrm>
          <a:prstGeom prst="rect">
            <a:avLst/>
          </a:prstGeom>
          <a:solidFill>
            <a:srgbClr val="7C857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94944" y="2320544"/>
            <a:ext cx="1080180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4944" y="2320544"/>
            <a:ext cx="64810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6392" y="2320544"/>
            <a:ext cx="3277886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2201C"/>
                </a:solidFill>
                <a:latin typeface="Instrument Sans"/>
              </a:rPr>
              <a:t>Bob Martinez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0958" y="2320544"/>
            <a:ext cx="65484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380K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9146" y="2493899"/>
            <a:ext cx="842111" cy="186690"/>
          </a:xfrm>
          <a:prstGeom prst="roundRect">
            <a:avLst>
              <a:gd name="adj" fmla="val 5102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241" y="2320544"/>
            <a:ext cx="1585603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15</a:t>
            </a:r>
          </a:p>
        </p:txBody>
      </p:sp>
      <p:sp>
        <p:nvSpPr>
          <p:cNvPr id="27" name="Isosceles Triangle 26"/>
          <p:cNvSpPr/>
          <p:nvPr/>
        </p:nvSpPr>
        <p:spPr>
          <a:xfrm>
            <a:off x="8887205" y="2516124"/>
            <a:ext cx="142240" cy="142240"/>
          </a:xfrm>
          <a:prstGeom prst="triangle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429628" y="2475484"/>
            <a:ext cx="441960" cy="223520"/>
          </a:xfrm>
          <a:prstGeom prst="roundRect">
            <a:avLst>
              <a:gd name="adj" fmla="val 4261"/>
            </a:avLst>
          </a:pr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9628" y="2475484"/>
            <a:ext cx="441960" cy="22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CFBF8"/>
                </a:solidFill>
                <a:latin typeface="Instrument Sans"/>
              </a:rPr>
              <a:t>Gold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4944" y="2853944"/>
            <a:ext cx="1080180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94944" y="2853944"/>
            <a:ext cx="64810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6392" y="2853944"/>
            <a:ext cx="3277886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01C"/>
                </a:solidFill>
                <a:latin typeface="Instrument Sans"/>
              </a:rPr>
              <a:t>Carlos Diaz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0958" y="2853944"/>
            <a:ext cx="65484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310K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9146" y="3027299"/>
            <a:ext cx="686985" cy="186690"/>
          </a:xfrm>
          <a:prstGeom prst="roundRect">
            <a:avLst>
              <a:gd name="adj" fmla="val 5102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241" y="2853944"/>
            <a:ext cx="1585603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87205" y="3106420"/>
            <a:ext cx="142240" cy="28448"/>
          </a:xfrm>
          <a:prstGeom prst="rect">
            <a:avLst/>
          </a:pr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345808" y="3008884"/>
            <a:ext cx="609600" cy="223520"/>
          </a:xfrm>
          <a:prstGeom prst="roundRect">
            <a:avLst>
              <a:gd name="adj" fmla="val 4261"/>
            </a:avLst>
          </a:pr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45808" y="3008884"/>
            <a:ext cx="609600" cy="22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CFBF8"/>
                </a:solidFill>
                <a:latin typeface="Instrument Sans"/>
              </a:rPr>
              <a:t>Silver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94944" y="3387344"/>
            <a:ext cx="1080180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94944" y="3387344"/>
            <a:ext cx="64810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96392" y="3387344"/>
            <a:ext cx="3277886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01C"/>
                </a:solidFill>
                <a:latin typeface="Instrument Sans"/>
              </a:rPr>
              <a:t>Dana Kim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0958" y="3387344"/>
            <a:ext cx="65484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280K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9146" y="3560699"/>
            <a:ext cx="620503" cy="186690"/>
          </a:xfrm>
          <a:prstGeom prst="roundRect">
            <a:avLst>
              <a:gd name="adj" fmla="val 5102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241" y="3387344"/>
            <a:ext cx="1585603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10</a:t>
            </a:r>
          </a:p>
        </p:txBody>
      </p:sp>
      <p:sp>
        <p:nvSpPr>
          <p:cNvPr id="45" name="Isosceles Triangle 44"/>
          <p:cNvSpPr/>
          <p:nvPr/>
        </p:nvSpPr>
        <p:spPr>
          <a:xfrm rot="10800000">
            <a:off x="8887205" y="3582924"/>
            <a:ext cx="142240" cy="142240"/>
          </a:xfrm>
          <a:prstGeom prst="triangl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345808" y="3542284"/>
            <a:ext cx="609600" cy="223520"/>
          </a:xfrm>
          <a:prstGeom prst="roundRect">
            <a:avLst>
              <a:gd name="adj" fmla="val 4261"/>
            </a:avLst>
          </a:pr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45808" y="3542284"/>
            <a:ext cx="609600" cy="22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CFBF8"/>
                </a:solidFill>
                <a:latin typeface="Instrument Sans"/>
              </a:rPr>
              <a:t>Silver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94944" y="3920744"/>
            <a:ext cx="1080180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94944" y="3920744"/>
            <a:ext cx="64810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96392" y="3920744"/>
            <a:ext cx="3277886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01C"/>
                </a:solidFill>
                <a:latin typeface="Instrument Sans"/>
              </a:rPr>
              <a:t>Eve Okonkwo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80958" y="3920744"/>
            <a:ext cx="65484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250K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9146" y="4094099"/>
            <a:ext cx="554020" cy="186690"/>
          </a:xfrm>
          <a:prstGeom prst="roundRect">
            <a:avLst>
              <a:gd name="adj" fmla="val 5102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3241" y="3920744"/>
            <a:ext cx="1585603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9</a:t>
            </a:r>
          </a:p>
        </p:txBody>
      </p:sp>
      <p:sp>
        <p:nvSpPr>
          <p:cNvPr id="54" name="Isosceles Triangle 53"/>
          <p:cNvSpPr/>
          <p:nvPr/>
        </p:nvSpPr>
        <p:spPr>
          <a:xfrm>
            <a:off x="8887205" y="4116324"/>
            <a:ext cx="142240" cy="142240"/>
          </a:xfrm>
          <a:prstGeom prst="triangle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345808" y="4075684"/>
            <a:ext cx="609600" cy="223520"/>
          </a:xfrm>
          <a:prstGeom prst="roundRect">
            <a:avLst>
              <a:gd name="adj" fmla="val 4261"/>
            </a:avLst>
          </a:pr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45808" y="4075684"/>
            <a:ext cx="609600" cy="22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CFBF8"/>
                </a:solidFill>
                <a:latin typeface="Instrument Sans"/>
              </a:rPr>
              <a:t>Silver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94944" y="4454144"/>
            <a:ext cx="1080180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94944" y="4454144"/>
            <a:ext cx="64810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96392" y="4454144"/>
            <a:ext cx="3277886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01C"/>
                </a:solidFill>
                <a:latin typeface="Instrument Sans"/>
              </a:rPr>
              <a:t>Frank Rossi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80958" y="4454144"/>
            <a:ext cx="65484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210K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9146" y="4627499"/>
            <a:ext cx="465377" cy="186690"/>
          </a:xfrm>
          <a:prstGeom prst="roundRect">
            <a:avLst>
              <a:gd name="adj" fmla="val 5102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73241" y="4454144"/>
            <a:ext cx="1585603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87205" y="4706620"/>
            <a:ext cx="142240" cy="28448"/>
          </a:xfrm>
          <a:prstGeom prst="rect">
            <a:avLst/>
          </a:pr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345808" y="4609084"/>
            <a:ext cx="609600" cy="223520"/>
          </a:xfrm>
          <a:prstGeom prst="roundRect">
            <a:avLst>
              <a:gd name="adj" fmla="val 4261"/>
            </a:avLst>
          </a:pr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45808" y="4609084"/>
            <a:ext cx="609600" cy="22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CFBF8"/>
                </a:solidFill>
                <a:latin typeface="Instrument Sans"/>
              </a:rPr>
              <a:t>Bronze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4944" y="4987544"/>
            <a:ext cx="10801807" cy="533400"/>
          </a:xfrm>
          <a:prstGeom prst="rect">
            <a:avLst/>
          </a:prstGeom>
          <a:solidFill>
            <a:srgbClr val="9A6B3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694944" y="4987544"/>
            <a:ext cx="1080180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94944" y="4987544"/>
            <a:ext cx="64810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96392" y="4987544"/>
            <a:ext cx="3277886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01C"/>
                </a:solidFill>
                <a:latin typeface="Instrument Sans"/>
              </a:rPr>
              <a:t>Grace Tanaka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80958" y="4987544"/>
            <a:ext cx="65484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190K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89146" y="5160899"/>
            <a:ext cx="421055" cy="186690"/>
          </a:xfrm>
          <a:prstGeom prst="roundRect">
            <a:avLst>
              <a:gd name="adj" fmla="val 5102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73241" y="4987544"/>
            <a:ext cx="1585603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7</a:t>
            </a:r>
          </a:p>
        </p:txBody>
      </p:sp>
      <p:sp>
        <p:nvSpPr>
          <p:cNvPr id="73" name="Isosceles Triangle 72"/>
          <p:cNvSpPr/>
          <p:nvPr/>
        </p:nvSpPr>
        <p:spPr>
          <a:xfrm rot="10800000">
            <a:off x="8887205" y="5183124"/>
            <a:ext cx="142240" cy="142240"/>
          </a:xfrm>
          <a:prstGeom prst="triangl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345808" y="5142484"/>
            <a:ext cx="609600" cy="223520"/>
          </a:xfrm>
          <a:prstGeom prst="roundRect">
            <a:avLst>
              <a:gd name="adj" fmla="val 4261"/>
            </a:avLst>
          </a:pr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345808" y="5142484"/>
            <a:ext cx="609600" cy="22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CFBF8"/>
                </a:solidFill>
                <a:latin typeface="Instrument Sans"/>
              </a:rPr>
              <a:t>Bronze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4944" y="5520944"/>
            <a:ext cx="10801807" cy="533400"/>
          </a:xfrm>
          <a:prstGeom prst="rect">
            <a:avLst/>
          </a:prstGeom>
          <a:solidFill>
            <a:srgbClr val="9A6B3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694944" y="5520944"/>
            <a:ext cx="1080180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94944" y="5520944"/>
            <a:ext cx="64810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96392" y="5520944"/>
            <a:ext cx="3277886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01C"/>
                </a:solidFill>
                <a:latin typeface="Instrument Sans"/>
              </a:rPr>
              <a:t>Hiro Patel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80958" y="5520944"/>
            <a:ext cx="65484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140K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89146" y="5694299"/>
            <a:ext cx="310251" cy="186690"/>
          </a:xfrm>
          <a:prstGeom prst="roundRect">
            <a:avLst>
              <a:gd name="adj" fmla="val 5102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73241" y="5520944"/>
            <a:ext cx="1585603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2201C"/>
                </a:solidFill>
                <a:latin typeface="Instrument Sans"/>
              </a:rPr>
              <a:t>5</a:t>
            </a:r>
          </a:p>
        </p:txBody>
      </p:sp>
      <p:sp>
        <p:nvSpPr>
          <p:cNvPr id="83" name="Isosceles Triangle 82"/>
          <p:cNvSpPr/>
          <p:nvPr/>
        </p:nvSpPr>
        <p:spPr>
          <a:xfrm rot="10800000">
            <a:off x="8887205" y="5716524"/>
            <a:ext cx="142240" cy="142240"/>
          </a:xfrm>
          <a:prstGeom prst="triangl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345808" y="5675884"/>
            <a:ext cx="609600" cy="223520"/>
          </a:xfrm>
          <a:prstGeom prst="roundRect">
            <a:avLst>
              <a:gd name="adj" fmla="val 4261"/>
            </a:avLst>
          </a:pr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345808" y="5675884"/>
            <a:ext cx="609600" cy="22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CFBF8"/>
                </a:solidFill>
                <a:latin typeface="Instrument Sans"/>
              </a:rPr>
              <a:t>Bronze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