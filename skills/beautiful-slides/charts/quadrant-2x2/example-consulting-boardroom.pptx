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Growth-share matrix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0147" y="1459153"/>
            <a:ext cx="0" cy="4352621"/>
          </a:xfrm>
          <a:prstGeom prst="line">
            <a:avLst/>
          </a:prstGeom>
          <a:ln w="190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2426" y="3635463"/>
            <a:ext cx="10175443" cy="0"/>
          </a:xfrm>
          <a:prstGeom prst="line">
            <a:avLst/>
          </a:prstGeom>
          <a:ln w="190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2426" y="1459153"/>
            <a:ext cx="10175443" cy="0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97869" y="1459153"/>
            <a:ext cx="0" cy="4352621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22426" y="5811774"/>
            <a:ext cx="10175443" cy="0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22426" y="1459153"/>
            <a:ext cx="0" cy="4352621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6530" y="1633257"/>
            <a:ext cx="4739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Question 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4251" y="1633257"/>
            <a:ext cx="4739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Stars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4251" y="3809567"/>
            <a:ext cx="4739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Cash cows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6530" y="3809567"/>
            <a:ext cx="4739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Dogs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426" y="5887974"/>
            <a:ext cx="10175443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Relative market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6" y="3406863"/>
            <a:ext cx="3947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Market growth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426" y="5830824"/>
            <a:ext cx="508772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5830824"/>
            <a:ext cx="508772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226" y="5633974"/>
            <a:ext cx="394793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226" y="1459153"/>
            <a:ext cx="394793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High</a:t>
            </a:r>
          </a:p>
        </p:txBody>
      </p:sp>
      <p:sp>
        <p:nvSpPr>
          <p:cNvPr id="20" name="Oval 19"/>
          <p:cNvSpPr/>
          <p:nvPr/>
        </p:nvSpPr>
        <p:spPr>
          <a:xfrm>
            <a:off x="2585242" y="2266177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37642" y="2263637"/>
            <a:ext cx="44704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New SaaS</a:t>
            </a:r>
          </a:p>
        </p:txBody>
      </p:sp>
      <p:sp>
        <p:nvSpPr>
          <p:cNvPr id="22" name="Oval 21"/>
          <p:cNvSpPr/>
          <p:nvPr/>
        </p:nvSpPr>
        <p:spPr>
          <a:xfrm>
            <a:off x="4111558" y="2701439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3958" y="2698899"/>
            <a:ext cx="55880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Mobile app</a:t>
            </a:r>
          </a:p>
        </p:txBody>
      </p:sp>
      <p:sp>
        <p:nvSpPr>
          <p:cNvPr id="24" name="Oval 23"/>
          <p:cNvSpPr/>
          <p:nvPr/>
        </p:nvSpPr>
        <p:spPr>
          <a:xfrm>
            <a:off x="9199280" y="2048546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1680" y="2046006"/>
            <a:ext cx="78232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Cloud platform</a:t>
            </a:r>
          </a:p>
        </p:txBody>
      </p:sp>
      <p:sp>
        <p:nvSpPr>
          <p:cNvPr id="26" name="Oval 25"/>
          <p:cNvSpPr/>
          <p:nvPr/>
        </p:nvSpPr>
        <p:spPr>
          <a:xfrm>
            <a:off x="8690508" y="4877749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42908" y="4875209"/>
            <a:ext cx="89408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Enterprise suite</a:t>
            </a:r>
          </a:p>
        </p:txBody>
      </p:sp>
      <p:sp>
        <p:nvSpPr>
          <p:cNvPr id="28" name="Oval 27"/>
          <p:cNvSpPr/>
          <p:nvPr/>
        </p:nvSpPr>
        <p:spPr>
          <a:xfrm>
            <a:off x="9708052" y="5095380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60452" y="5092840"/>
            <a:ext cx="78232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Legacy product</a:t>
            </a:r>
          </a:p>
        </p:txBody>
      </p:sp>
      <p:sp>
        <p:nvSpPr>
          <p:cNvPr id="30" name="Oval 29"/>
          <p:cNvSpPr/>
          <p:nvPr/>
        </p:nvSpPr>
        <p:spPr>
          <a:xfrm>
            <a:off x="3094014" y="4442487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414" y="4439947"/>
            <a:ext cx="67056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Side project</a:t>
            </a:r>
          </a:p>
        </p:txBody>
      </p:sp>
      <p:sp>
        <p:nvSpPr>
          <p:cNvPr id="32" name="Oval 31"/>
          <p:cNvSpPr/>
          <p:nvPr/>
        </p:nvSpPr>
        <p:spPr>
          <a:xfrm>
            <a:off x="7164191" y="3136701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6591" y="3134161"/>
            <a:ext cx="78232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Analytics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