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81514"/>
                </a:solidFill>
                <a:latin typeface="Fraunces"/>
              </a:rPr>
              <a:t>Growth-share matrix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29197" y="1565833"/>
            <a:ext cx="0" cy="4182441"/>
          </a:xfrm>
          <a:prstGeom prst="line">
            <a:avLst/>
          </a:prstGeom>
          <a:ln w="190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98626" y="3657053"/>
            <a:ext cx="10061143" cy="0"/>
          </a:xfrm>
          <a:prstGeom prst="line">
            <a:avLst/>
          </a:prstGeom>
          <a:ln w="190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98626" y="1565833"/>
            <a:ext cx="10061143" cy="0"/>
          </a:xfrm>
          <a:prstGeom prst="line">
            <a:avLst/>
          </a:prstGeom>
          <a:ln w="9525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259769" y="1565833"/>
            <a:ext cx="0" cy="4182441"/>
          </a:xfrm>
          <a:prstGeom prst="line">
            <a:avLst/>
          </a:prstGeom>
          <a:ln w="9525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98626" y="5748274"/>
            <a:ext cx="10061143" cy="0"/>
          </a:xfrm>
          <a:prstGeom prst="line">
            <a:avLst/>
          </a:prstGeom>
          <a:ln w="9525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98626" y="1565833"/>
            <a:ext cx="0" cy="4182441"/>
          </a:xfrm>
          <a:prstGeom prst="line">
            <a:avLst/>
          </a:prstGeom>
          <a:ln w="9525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65923" y="1733130"/>
            <a:ext cx="469597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81514"/>
                </a:solidFill>
                <a:latin typeface="Fraunces"/>
              </a:rPr>
              <a:t>Question 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6494" y="1733130"/>
            <a:ext cx="469597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81514"/>
                </a:solidFill>
                <a:latin typeface="Fraunces"/>
              </a:rPr>
              <a:t>Stars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6494" y="3824350"/>
            <a:ext cx="469597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81514"/>
                </a:solidFill>
                <a:latin typeface="Fraunces"/>
              </a:rPr>
              <a:t>Cash cows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65923" y="3824350"/>
            <a:ext cx="469597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81514"/>
                </a:solidFill>
                <a:latin typeface="Fraunces"/>
              </a:rPr>
              <a:t>Dogs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8626" y="5837174"/>
            <a:ext cx="10061143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81514"/>
                </a:solidFill>
                <a:latin typeface="Newsreader"/>
              </a:rPr>
              <a:t>Relative market share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226" y="3390353"/>
            <a:ext cx="470993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81514"/>
                </a:solidFill>
                <a:latin typeface="Newsreader"/>
              </a:rPr>
              <a:t>Market growth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8626" y="5771134"/>
            <a:ext cx="5030571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Newsreader"/>
              </a:rPr>
              <a:t>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9197" y="5771134"/>
            <a:ext cx="5030571" cy="21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Newsreader"/>
              </a:rP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226" y="5534914"/>
            <a:ext cx="470993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Newsreader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226" y="1565833"/>
            <a:ext cx="470993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Newsreader"/>
              </a:rPr>
              <a:t>High</a:t>
            </a:r>
          </a:p>
        </p:txBody>
      </p:sp>
      <p:sp>
        <p:nvSpPr>
          <p:cNvPr id="20" name="Oval 19"/>
          <p:cNvSpPr/>
          <p:nvPr/>
        </p:nvSpPr>
        <p:spPr>
          <a:xfrm>
            <a:off x="2644297" y="2338821"/>
            <a:ext cx="127000" cy="127000"/>
          </a:xfrm>
          <a:prstGeom prst="ellipse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96697" y="2328026"/>
            <a:ext cx="502920" cy="1485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81514"/>
                </a:solidFill>
                <a:latin typeface="Newsreader"/>
              </a:rPr>
              <a:t>New SaaS</a:t>
            </a:r>
          </a:p>
        </p:txBody>
      </p:sp>
      <p:sp>
        <p:nvSpPr>
          <p:cNvPr id="22" name="Oval 21"/>
          <p:cNvSpPr/>
          <p:nvPr/>
        </p:nvSpPr>
        <p:spPr>
          <a:xfrm>
            <a:off x="4153468" y="2757065"/>
            <a:ext cx="127000" cy="127000"/>
          </a:xfrm>
          <a:prstGeom prst="ellipse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5868" y="2746270"/>
            <a:ext cx="628650" cy="1485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81514"/>
                </a:solidFill>
                <a:latin typeface="Newsreader"/>
              </a:rPr>
              <a:t>Mobile app</a:t>
            </a:r>
          </a:p>
        </p:txBody>
      </p:sp>
      <p:sp>
        <p:nvSpPr>
          <p:cNvPr id="24" name="Oval 23"/>
          <p:cNvSpPr/>
          <p:nvPr/>
        </p:nvSpPr>
        <p:spPr>
          <a:xfrm>
            <a:off x="9184040" y="2129699"/>
            <a:ext cx="127000" cy="127000"/>
          </a:xfrm>
          <a:prstGeom prst="ellipse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36440" y="2118904"/>
            <a:ext cx="880110" cy="1485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81514"/>
                </a:solidFill>
                <a:latin typeface="Newsreader"/>
              </a:rPr>
              <a:t>Cloud platform</a:t>
            </a:r>
          </a:p>
        </p:txBody>
      </p:sp>
      <p:sp>
        <p:nvSpPr>
          <p:cNvPr id="26" name="Oval 25"/>
          <p:cNvSpPr/>
          <p:nvPr/>
        </p:nvSpPr>
        <p:spPr>
          <a:xfrm>
            <a:off x="8680983" y="4848285"/>
            <a:ext cx="127000" cy="127000"/>
          </a:xfrm>
          <a:prstGeom prst="ellipse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33383" y="4837490"/>
            <a:ext cx="1005840" cy="1485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81514"/>
                </a:solidFill>
                <a:latin typeface="Newsreader"/>
              </a:rPr>
              <a:t>Enterprise suite</a:t>
            </a:r>
          </a:p>
        </p:txBody>
      </p:sp>
      <p:sp>
        <p:nvSpPr>
          <p:cNvPr id="28" name="Oval 27"/>
          <p:cNvSpPr/>
          <p:nvPr/>
        </p:nvSpPr>
        <p:spPr>
          <a:xfrm>
            <a:off x="9687097" y="5057407"/>
            <a:ext cx="127000" cy="127000"/>
          </a:xfrm>
          <a:prstGeom prst="ellipse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39497" y="5046612"/>
            <a:ext cx="880110" cy="1485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81514"/>
                </a:solidFill>
                <a:latin typeface="Newsreader"/>
              </a:rPr>
              <a:t>Legacy product</a:t>
            </a:r>
          </a:p>
        </p:txBody>
      </p:sp>
      <p:sp>
        <p:nvSpPr>
          <p:cNvPr id="30" name="Oval 29"/>
          <p:cNvSpPr/>
          <p:nvPr/>
        </p:nvSpPr>
        <p:spPr>
          <a:xfrm>
            <a:off x="3147354" y="4430041"/>
            <a:ext cx="127000" cy="127000"/>
          </a:xfrm>
          <a:prstGeom prst="ellipse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9754" y="4419246"/>
            <a:ext cx="754380" cy="1485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81514"/>
                </a:solidFill>
                <a:latin typeface="Newsreader"/>
              </a:rPr>
              <a:t>Side project</a:t>
            </a:r>
          </a:p>
        </p:txBody>
      </p:sp>
      <p:sp>
        <p:nvSpPr>
          <p:cNvPr id="32" name="Oval 31"/>
          <p:cNvSpPr/>
          <p:nvPr/>
        </p:nvSpPr>
        <p:spPr>
          <a:xfrm>
            <a:off x="7171811" y="3175309"/>
            <a:ext cx="127000" cy="127000"/>
          </a:xfrm>
          <a:prstGeom prst="ellipse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24211" y="3164514"/>
            <a:ext cx="880110" cy="1485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81514"/>
                </a:solidFill>
                <a:latin typeface="Newsreader"/>
              </a:rPr>
              <a:t>Analytics tool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