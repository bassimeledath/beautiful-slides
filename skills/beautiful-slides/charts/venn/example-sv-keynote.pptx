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50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640080"/>
          </a:xfrm>
          <a:prstGeom prst="rect">
            <a:avLst/>
          </a:prstGeom>
          <a:noFill/>
        </p:spPr>
        <p:txBody>
          <a:bodyPr wrap="square" lIns="25400" rIns="25400" tIns="0" bIns="0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Manrope"/>
              </a:rPr>
              <a:t>Cross-functional team capabilities</a:t>
            </a:r>
          </a:p>
        </p:txBody>
      </p:sp>
      <p:sp>
        <p:nvSpPr>
          <p:cNvPr id="4" name="Oval 3"/>
          <p:cNvSpPr/>
          <p:nvPr/>
        </p:nvSpPr>
        <p:spPr>
          <a:xfrm>
            <a:off x="5012446" y="2193765"/>
            <a:ext cx="2166801" cy="2166801"/>
          </a:xfrm>
          <a:prstGeom prst="ellipse">
            <a:avLst/>
          </a:prstGeom>
          <a:solidFill>
            <a:srgbClr val="21D4FD">
              <a:alpha val="35000"/>
            </a:srgbClr>
          </a:solidFill>
          <a:ln w="19050">
            <a:solidFill>
              <a:srgbClr val="21D4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308236" y="3413493"/>
            <a:ext cx="2166801" cy="2166801"/>
          </a:xfrm>
          <a:prstGeom prst="ellipse">
            <a:avLst/>
          </a:prstGeom>
          <a:solidFill>
            <a:srgbClr val="17B26A">
              <a:alpha val="35000"/>
            </a:srgbClr>
          </a:solidFill>
          <a:ln w="19050">
            <a:solidFill>
              <a:srgbClr val="17B2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716657" y="3413493"/>
            <a:ext cx="2166801" cy="2166801"/>
          </a:xfrm>
          <a:prstGeom prst="ellipse">
            <a:avLst/>
          </a:prstGeom>
          <a:solidFill>
            <a:srgbClr val="9AA4B2">
              <a:alpha val="35000"/>
            </a:srgbClr>
          </a:solidFill>
          <a:ln w="19050">
            <a:solidFill>
              <a:srgbClr val="9AA4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29127" y="1740680"/>
            <a:ext cx="1733441" cy="411480"/>
          </a:xfrm>
          <a:prstGeom prst="rect">
            <a:avLst/>
          </a:prstGeom>
          <a:noFill/>
        </p:spPr>
        <p:txBody>
          <a:bodyPr wrap="square" lIns="25400" rIns="25400" tIns="0" bIns="0" anchor="b">
            <a:spAutoFit/>
          </a:bodyPr>
          <a:lstStyle/>
          <a:p>
            <a:pPr algn="ctr"/>
            <a:r>
              <a:rPr sz="1800" b="1">
                <a:solidFill>
                  <a:srgbClr val="21D4FD"/>
                </a:solidFill>
                <a:latin typeface="Manrope"/>
              </a:rPr>
              <a:t>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7393" y="5601097"/>
            <a:ext cx="1733441" cy="411480"/>
          </a:xfrm>
          <a:prstGeom prst="rect">
            <a:avLst/>
          </a:prstGeom>
          <a:noFill/>
        </p:spPr>
        <p:txBody>
          <a:bodyPr wrap="square" lIns="25400" rIns="25400" tIns="0" bIns="0" anchor="t">
            <a:spAutoFit/>
          </a:bodyPr>
          <a:lstStyle/>
          <a:p>
            <a:pPr algn="ctr"/>
            <a:r>
              <a:rPr sz="1800" b="1">
                <a:solidFill>
                  <a:srgbClr val="17B26A"/>
                </a:solidFill>
                <a:latin typeface="Manrope"/>
              </a:rPr>
              <a:t>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0860" y="5601097"/>
            <a:ext cx="1733441" cy="411480"/>
          </a:xfrm>
          <a:prstGeom prst="rect">
            <a:avLst/>
          </a:prstGeom>
          <a:noFill/>
        </p:spPr>
        <p:txBody>
          <a:bodyPr wrap="square" lIns="25400" rIns="25400" tIns="0" bIns="0" anchor="t">
            <a:spAutoFit/>
          </a:bodyPr>
          <a:lstStyle/>
          <a:p>
            <a:pPr algn="ctr"/>
            <a:r>
              <a:rPr sz="1800" b="1">
                <a:solidFill>
                  <a:srgbClr val="9AA4B2"/>
                </a:solidFill>
                <a:latin typeface="Manrope"/>
              </a:rPr>
              <a:t>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7912" y="2518785"/>
            <a:ext cx="595870" cy="34925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Manrope"/>
              </a:rPr>
              <a:t>Figma
UX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3256" y="4551064"/>
            <a:ext cx="595870" cy="34925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Manrope"/>
              </a:rPr>
              <a:t>Code
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2568" y="4551064"/>
            <a:ext cx="595870" cy="34925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Manrope"/>
              </a:rPr>
              <a:t>Roadmap
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4552" y="3712405"/>
            <a:ext cx="758380" cy="34925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Manrope"/>
              </a:rPr>
              <a:t>Design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68762" y="3712405"/>
            <a:ext cx="758380" cy="34925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Manrope"/>
              </a:rPr>
              <a:t>User stories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6657" y="4322269"/>
            <a:ext cx="758380" cy="34925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Manrope"/>
              </a:rPr>
              <a:t>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6657" y="3915693"/>
            <a:ext cx="758380" cy="349250"/>
          </a:xfrm>
          <a:prstGeom prst="rect">
            <a:avLst/>
          </a:prstGeom>
          <a:noFill/>
        </p:spPr>
        <p:txBody>
          <a:bodyPr wrap="square" lIns="25400" rIns="25400" tIns="0" bIns="0" anchor="ctr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Manrope"/>
              </a:rPr>
              <a:t>Ship great products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