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Strategic sweet spot</a:t>
            </a:r>
          </a:p>
        </p:txBody>
      </p:sp>
      <p:sp>
        <p:nvSpPr>
          <p:cNvPr id="4" name="Oval 3"/>
          <p:cNvSpPr/>
          <p:nvPr/>
        </p:nvSpPr>
        <p:spPr>
          <a:xfrm>
            <a:off x="5012446" y="2193765"/>
            <a:ext cx="2166801" cy="2166801"/>
          </a:xfrm>
          <a:prstGeom prst="ellipse">
            <a:avLst/>
          </a:prstGeom>
          <a:solidFill>
            <a:srgbClr val="FF7A00">
              <a:alpha val="40000"/>
            </a:srgbClr>
          </a:solidFill>
          <a:ln w="190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08236" y="3413493"/>
            <a:ext cx="2166801" cy="2166801"/>
          </a:xfrm>
          <a:prstGeom prst="ellipse">
            <a:avLst/>
          </a:prstGeom>
          <a:solidFill>
            <a:srgbClr val="0AB39C">
              <a:alpha val="40000"/>
            </a:srgbClr>
          </a:solidFill>
          <a:ln w="19050">
            <a:solidFill>
              <a:srgbClr val="0AB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6657" y="3413493"/>
            <a:ext cx="2166801" cy="2166801"/>
          </a:xfrm>
          <a:prstGeom prst="ellipse">
            <a:avLst/>
          </a:prstGeom>
          <a:solidFill>
            <a:srgbClr val="6E6A73">
              <a:alpha val="40000"/>
            </a:srgbClr>
          </a:solidFill>
          <a:ln w="190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9127" y="1740680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800" b="1">
                <a:solidFill>
                  <a:srgbClr val="FF7A00"/>
                </a:solidFill>
                <a:latin typeface="Bricolage Grotesque"/>
              </a:rPr>
              <a:t>Desirable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7393" y="5601097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800" b="1">
                <a:solidFill>
                  <a:srgbClr val="0AB39C"/>
                </a:solidFill>
                <a:latin typeface="Bricolage Grotesque"/>
              </a:rPr>
              <a:t>Feasible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0860" y="5601097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800" b="1">
                <a:solidFill>
                  <a:srgbClr val="6E6A73"/>
                </a:solidFill>
                <a:latin typeface="Bricolage Grotesque"/>
              </a:rPr>
              <a:t>Viable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912" y="2518785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1B1B1F"/>
                </a:solidFill>
                <a:latin typeface="Plus Jakarta Sans"/>
              </a:rPr>
              <a:t>User need
Market 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3256" y="4551064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1B1B1F"/>
                </a:solidFill>
                <a:latin typeface="Plus Jakarta Sans"/>
              </a:rPr>
              <a:t>Tech ready
Team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568" y="4551064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1B1B1F"/>
                </a:solidFill>
                <a:latin typeface="Plus Jakarta Sans"/>
              </a:rPr>
              <a:t>Revenue
Unit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552" y="3712405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1B1B1F"/>
                </a:solidFill>
                <a:latin typeface="Plus Jakarta Sans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8762" y="3712405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1B1B1F"/>
                </a:solidFill>
                <a:latin typeface="Plus Jakarta Sans"/>
              </a:rPr>
              <a:t>Pitch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6657" y="4322269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1B1B1F"/>
                </a:solidFill>
                <a:latin typeface="Plus Jakarta Sans"/>
              </a:rPr>
              <a:t>Infra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6657" y="3915693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1B1B1F"/>
                </a:solidFill>
                <a:latin typeface="Plus Jakarta Sans"/>
              </a:rPr>
              <a:t>Build this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