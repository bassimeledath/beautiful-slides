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5226" y="665226"/>
            <a:ext cx="10861243" cy="571500"/>
          </a:xfrm>
          <a:prstGeom prst="rect">
            <a:avLst/>
          </a:prstGeom>
          <a:noFill/>
        </p:spPr>
        <p:txBody>
          <a:bodyPr wrap="square" lIns="25400" rIns="25400" tIns="0" bIns="0" anchor="t">
            <a:spAutoFit/>
          </a:bodyPr>
          <a:lstStyle/>
          <a:p>
            <a:pPr algn="l"/>
            <a:r>
              <a:rPr sz="2500" b="1">
                <a:solidFill>
                  <a:srgbClr val="22201C"/>
                </a:solidFill>
                <a:latin typeface="Instrument Serif"/>
              </a:rPr>
              <a:t>Engineering skill overlap</a:t>
            </a:r>
          </a:p>
        </p:txBody>
      </p:sp>
      <p:sp>
        <p:nvSpPr>
          <p:cNvPr id="4" name="Oval 3"/>
          <p:cNvSpPr/>
          <p:nvPr/>
        </p:nvSpPr>
        <p:spPr>
          <a:xfrm>
            <a:off x="2664181" y="1568283"/>
            <a:ext cx="4159594" cy="4159594"/>
          </a:xfrm>
          <a:prstGeom prst="ellipse">
            <a:avLst/>
          </a:prstGeom>
          <a:solidFill>
            <a:srgbClr val="7C8571">
              <a:alpha val="35000"/>
            </a:srgbClr>
          </a:solidFill>
          <a:ln w="19050">
            <a:solidFill>
              <a:srgbClr val="7C85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67918" y="1568283"/>
            <a:ext cx="4159594" cy="4159594"/>
          </a:xfrm>
          <a:prstGeom prst="ellipse">
            <a:avLst/>
          </a:prstGeom>
          <a:solidFill>
            <a:srgbClr val="9A6B39">
              <a:alpha val="35000"/>
            </a:srgbClr>
          </a:solidFill>
          <a:ln w="19050">
            <a:solidFill>
              <a:srgbClr val="9A6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84131" y="3419480"/>
            <a:ext cx="1871817" cy="45720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React
CSS
A11y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5746" y="3419480"/>
            <a:ext cx="1871817" cy="45720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Go
SQL
K8s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6297" y="3419480"/>
            <a:ext cx="1019100" cy="45720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1200" b="1">
                <a:solidFill>
                  <a:srgbClr val="22201C"/>
                </a:solidFill>
                <a:latin typeface="Instrument Sans"/>
              </a:rPr>
              <a:t>REST APIs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80141" y="1160918"/>
            <a:ext cx="3327675" cy="365760"/>
          </a:xfrm>
          <a:prstGeom prst="rect">
            <a:avLst/>
          </a:prstGeom>
          <a:noFill/>
        </p:spPr>
        <p:txBody>
          <a:bodyPr wrap="square" lIns="25400" rIns="25400" tIns="0" bIns="0" anchor="b">
            <a:spAutoFit/>
          </a:bodyPr>
          <a:lstStyle/>
          <a:p>
            <a:pPr algn="ctr"/>
            <a:r>
              <a:rPr sz="1600" b="1">
                <a:solidFill>
                  <a:srgbClr val="7C8571"/>
                </a:solidFill>
                <a:latin typeface="Instrument Serif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83878" y="1160918"/>
            <a:ext cx="3327675" cy="365760"/>
          </a:xfrm>
          <a:prstGeom prst="rect">
            <a:avLst/>
          </a:prstGeom>
          <a:noFill/>
        </p:spPr>
        <p:txBody>
          <a:bodyPr wrap="square" lIns="25400" rIns="25400" tIns="0" bIns="0" anchor="b">
            <a:spAutoFit/>
          </a:bodyPr>
          <a:lstStyle/>
          <a:p>
            <a:pPr algn="ctr"/>
            <a:r>
              <a:rPr sz="1600" b="1">
                <a:solidFill>
                  <a:srgbClr val="9A6B39"/>
                </a:solidFill>
                <a:latin typeface="Instrument Serif"/>
              </a:rPr>
              <a:t>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