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01" y="1508760"/>
            <a:ext cx="3332397" cy="329184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01" y="1508760"/>
            <a:ext cx="3332397" cy="3291840"/>
          </a:xfrm>
          <a:prstGeom prst="roundRect">
            <a:avLst>
              <a:gd name="adj" fmla="val 578"/>
            </a:avLst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768" y="1805025"/>
            <a:ext cx="286586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2201C"/>
                </a:solidFill>
                <a:latin typeface="Instrument Sans"/>
              </a:rPr>
              <a:t>ARR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768" y="2104745"/>
            <a:ext cx="286586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1">
                <a:solidFill>
                  <a:srgbClr val="22201C"/>
                </a:solidFill>
                <a:latin typeface="Instrument Serif"/>
              </a:rPr>
              <a:t>$47.2M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768" y="3024225"/>
            <a:ext cx="286586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6B39"/>
                </a:solidFill>
                <a:latin typeface="Instrument Sans"/>
              </a:rPr>
              <a:t>▲ +12.4% vs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768" y="4308755"/>
            <a:ext cx="2865863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01C"/>
                </a:solidFill>
                <a:latin typeface="Instrument Sans"/>
              </a:rPr>
              <a:t>Source: NetSuite, Apr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429648" y="1508760"/>
            <a:ext cx="3332397" cy="329184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29648" y="1508760"/>
            <a:ext cx="3332397" cy="3291840"/>
          </a:xfrm>
          <a:prstGeom prst="roundRect">
            <a:avLst>
              <a:gd name="adj" fmla="val 578"/>
            </a:avLst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2915" y="1805025"/>
            <a:ext cx="286586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2201C"/>
                </a:solidFill>
                <a:latin typeface="Instrument Sans"/>
              </a:rPr>
              <a:t>GROSS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2915" y="2104745"/>
            <a:ext cx="286586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1">
                <a:solidFill>
                  <a:srgbClr val="22201C"/>
                </a:solidFill>
                <a:latin typeface="Instrument Serif"/>
              </a:rPr>
              <a:t>72.8%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2915" y="3024225"/>
            <a:ext cx="286586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7C8571"/>
                </a:solidFill>
                <a:latin typeface="Instrument Sans"/>
              </a:rPr>
              <a:t>▼ -1.1 pts QoQ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2915" y="4308755"/>
            <a:ext cx="2865863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01C"/>
                </a:solidFill>
                <a:latin typeface="Instrument Sans"/>
              </a:rPr>
              <a:t>Non-GAAP, ex. one-time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7795" y="1508760"/>
            <a:ext cx="3332397" cy="329184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27795" y="1508760"/>
            <a:ext cx="3332397" cy="3291840"/>
          </a:xfrm>
          <a:prstGeom prst="roundRect">
            <a:avLst>
              <a:gd name="adj" fmla="val 578"/>
            </a:avLst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1062" y="1805025"/>
            <a:ext cx="286586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2201C"/>
                </a:solidFill>
                <a:latin typeface="Instrument Sans"/>
              </a:rPr>
              <a:t>NPS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1062" y="2104745"/>
            <a:ext cx="286586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1">
                <a:solidFill>
                  <a:srgbClr val="22201C"/>
                </a:solidFill>
                <a:latin typeface="Instrument Serif"/>
              </a:rPr>
              <a:t>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1062" y="3024225"/>
            <a:ext cx="286586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6B39"/>
                </a:solidFill>
                <a:latin typeface="Instrument Sans"/>
              </a:rPr>
              <a:t>▲ +6 vs 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1062" y="4308755"/>
            <a:ext cx="2865863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01C"/>
                </a:solidFill>
                <a:latin typeface="Instrument Sans"/>
              </a:rPr>
              <a:t>n=1,842, mixed segment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