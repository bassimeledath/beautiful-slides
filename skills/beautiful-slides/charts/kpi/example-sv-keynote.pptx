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01" y="1508760"/>
            <a:ext cx="3332397" cy="3291840"/>
          </a:xfrm>
          <a:prstGeom prst="rect">
            <a:avLst/>
          </a:prstGeom>
          <a:solidFill>
            <a:srgbClr val="050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01" y="1508760"/>
            <a:ext cx="3332397" cy="3291840"/>
          </a:xfrm>
          <a:prstGeom prst="roundRect">
            <a:avLst>
              <a:gd name="adj" fmla="val 1736"/>
            </a:avLst>
          </a:prstGeom>
          <a:solidFill>
            <a:srgbClr val="05070A"/>
          </a:solidFill>
          <a:ln w="6350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4768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Manrope"/>
              </a:rPr>
              <a:t>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768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F5F7FA"/>
                </a:solidFill>
                <a:latin typeface="Manrope"/>
              </a:rPr>
              <a:t>$47.2M</a:t>
            </a:r>
          </a:p>
        </p:txBody>
      </p:sp>
      <p:sp>
        <p:nvSpPr>
          <p:cNvPr id="7" name="Rectangle 6"/>
          <p:cNvSpPr/>
          <p:nvPr/>
        </p:nvSpPr>
        <p:spPr>
          <a:xfrm>
            <a:off x="964768" y="3054705"/>
            <a:ext cx="515855" cy="38100"/>
          </a:xfrm>
          <a:prstGeom prst="rect">
            <a:avLst/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768" y="319567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7B26A"/>
                </a:solidFill>
                <a:latin typeface="JetBrains Mono"/>
              </a:rPr>
              <a:t>▲ +12.4% vs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68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Manrope"/>
              </a:rPr>
              <a:t>Source: NetSuite, Apr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9648" y="1508760"/>
            <a:ext cx="3332397" cy="3291840"/>
          </a:xfrm>
          <a:prstGeom prst="rect">
            <a:avLst/>
          </a:prstGeom>
          <a:solidFill>
            <a:srgbClr val="050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29648" y="1508760"/>
            <a:ext cx="3332397" cy="3291840"/>
          </a:xfrm>
          <a:prstGeom prst="roundRect">
            <a:avLst>
              <a:gd name="adj" fmla="val 1736"/>
            </a:avLst>
          </a:prstGeom>
          <a:solidFill>
            <a:srgbClr val="05070A"/>
          </a:solidFill>
          <a:ln w="6350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2915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Manrope"/>
              </a:rPr>
              <a:t>GROSS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2915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F5F7FA"/>
                </a:solidFill>
                <a:latin typeface="Manrope"/>
              </a:rPr>
              <a:t>72.8%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2915" y="3054705"/>
            <a:ext cx="515855" cy="38100"/>
          </a:xfrm>
          <a:prstGeom prst="rect">
            <a:avLst/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2915" y="3195675"/>
            <a:ext cx="2865863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5F7FA"/>
                </a:solidFill>
                <a:latin typeface="JetBrains Mono"/>
              </a:rPr>
              <a:t>▼ -1.1 pts QoQ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2915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Manrope"/>
              </a:rPr>
              <a:t>Non-GAAP, ex. one-time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5" y="1508760"/>
            <a:ext cx="3332397" cy="3291840"/>
          </a:xfrm>
          <a:prstGeom prst="rect">
            <a:avLst/>
          </a:prstGeom>
          <a:solidFill>
            <a:srgbClr val="050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7795" y="1508760"/>
            <a:ext cx="3332397" cy="3291840"/>
          </a:xfrm>
          <a:prstGeom prst="roundRect">
            <a:avLst>
              <a:gd name="adj" fmla="val 1736"/>
            </a:avLst>
          </a:prstGeom>
          <a:solidFill>
            <a:srgbClr val="05070A"/>
          </a:solidFill>
          <a:ln w="6350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1062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Manrope"/>
              </a:rPr>
              <a:t>NPS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1062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F5F7FA"/>
                </a:solidFill>
                <a:latin typeface="Manrope"/>
              </a:rPr>
              <a:t>64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1062" y="3054705"/>
            <a:ext cx="515855" cy="38100"/>
          </a:xfrm>
          <a:prstGeom prst="rect">
            <a:avLst/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1062" y="3195675"/>
            <a:ext cx="2865863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7B26A"/>
                </a:solidFill>
                <a:latin typeface="JetBrains Mono"/>
              </a:rPr>
              <a:t>▲ +6 vs 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1062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Manrope"/>
              </a:rPr>
              <a:t>n=1,842, mixed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