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01" y="1508760"/>
            <a:ext cx="3332397" cy="3291840"/>
          </a:xfrm>
          <a:prstGeom prst="roundRect">
            <a:avLst>
              <a:gd name="adj" fmla="val 1736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768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768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F5F7FA"/>
                </a:solidFill>
                <a:latin typeface="Manrope"/>
              </a:rPr>
              <a:t>$47.2M</a:t>
            </a:r>
          </a:p>
        </p:txBody>
      </p:sp>
      <p:sp>
        <p:nvSpPr>
          <p:cNvPr id="6" name="Rectangle 5"/>
          <p:cNvSpPr/>
          <p:nvPr/>
        </p:nvSpPr>
        <p:spPr>
          <a:xfrm>
            <a:off x="964768" y="3054705"/>
            <a:ext cx="515855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768" y="319567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B26A"/>
                </a:solidFill>
                <a:latin typeface="JetBrains Mono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768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Source: NetSuite, Apr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48" y="1508760"/>
            <a:ext cx="3332397" cy="3291840"/>
          </a:xfrm>
          <a:prstGeom prst="roundRect">
            <a:avLst>
              <a:gd name="adj" fmla="val 1736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2915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15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F5F7FA"/>
                </a:solidFill>
                <a:latin typeface="Manrope"/>
              </a:rPr>
              <a:t>72.8%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2915" y="3054705"/>
            <a:ext cx="515855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2915" y="319567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2"/>
                </a:solidFill>
                <a:latin typeface="JetBrains Mono"/>
              </a:rPr>
              <a:t>▼ -1.1 pts QoQ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2915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Non-GAAP, ex. 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5" y="1508760"/>
            <a:ext cx="3332397" cy="3291840"/>
          </a:xfrm>
          <a:prstGeom prst="roundRect">
            <a:avLst>
              <a:gd name="adj" fmla="val 1736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1062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NPS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062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F5F7FA"/>
                </a:solidFill>
                <a:latin typeface="Manrope"/>
              </a:rPr>
              <a:t>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1062" y="3054705"/>
            <a:ext cx="515855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1062" y="319567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B26A"/>
                </a:solidFill>
                <a:latin typeface="JetBrains Mono"/>
              </a:rPr>
              <a:t>▲ +6 vs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1062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