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01" y="1508760"/>
            <a:ext cx="3332397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01" y="1508760"/>
            <a:ext cx="3332397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4768" y="1805025"/>
            <a:ext cx="286586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1828"/>
                </a:solidFill>
                <a:latin typeface="Public Sans"/>
              </a:rPr>
              <a:t>ARR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768" y="2057754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01828"/>
                </a:solidFill>
                <a:latin typeface="Public Sans"/>
              </a:rPr>
              <a:t>$47.2M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768" y="2970884"/>
            <a:ext cx="286586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05603A"/>
                </a:solidFill>
                <a:latin typeface="Public Sans"/>
              </a:rPr>
              <a:t>▲ +12.4% vs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4768" y="4344315"/>
            <a:ext cx="2865863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01828"/>
                </a:solidFill>
                <a:latin typeface="Public Sans"/>
              </a:rPr>
              <a:t>Source: NetSuite, Apr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4429648" y="1508760"/>
            <a:ext cx="3332397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29648" y="1508760"/>
            <a:ext cx="3332397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2915" y="1805025"/>
            <a:ext cx="286586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1828"/>
                </a:solidFill>
                <a:latin typeface="Public Sans"/>
              </a:rPr>
              <a:t>GROSS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2915" y="2057754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01828"/>
                </a:solidFill>
                <a:latin typeface="Public Sans"/>
              </a:rPr>
              <a:t>72.8%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2915" y="2970884"/>
            <a:ext cx="2865863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F4C81"/>
                </a:solidFill>
                <a:latin typeface="Public Sans"/>
              </a:rPr>
              <a:t>▼ -1.1 pts QoQ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2915" y="4344315"/>
            <a:ext cx="2865863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01828"/>
                </a:solidFill>
                <a:latin typeface="Public Sans"/>
              </a:rPr>
              <a:t>Non-GAAP, ex. one-time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7795" y="1508760"/>
            <a:ext cx="3332397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27795" y="1508760"/>
            <a:ext cx="3332397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1062" y="1805025"/>
            <a:ext cx="2865863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01828"/>
                </a:solidFill>
                <a:latin typeface="Public Sans"/>
              </a:rPr>
              <a:t>NPS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1062" y="2057754"/>
            <a:ext cx="2865863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>
                <a:solidFill>
                  <a:srgbClr val="101828"/>
                </a:solidFill>
                <a:latin typeface="Public Sans"/>
              </a:rPr>
              <a:t>64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1062" y="2970884"/>
            <a:ext cx="2865863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05603A"/>
                </a:solidFill>
                <a:latin typeface="Public Sans"/>
              </a:rPr>
              <a:t>▲ +6 vs 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1062" y="4344315"/>
            <a:ext cx="2865863" cy="160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01828"/>
                </a:solidFill>
                <a:latin typeface="Public Sans"/>
              </a:rPr>
              <a:t>n=1,842, mixed segment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