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01" y="1508760"/>
            <a:ext cx="3332397" cy="3291840"/>
          </a:xfrm>
          <a:prstGeom prst="roundRect">
            <a:avLst>
              <a:gd name="adj" fmla="val 3472"/>
            </a:avLst>
          </a:prstGeom>
          <a:solidFill>
            <a:srgbClr val="FFF4EB"/>
          </a:solidFill>
          <a:ln w="6350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4768" y="1805025"/>
            <a:ext cx="286586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E6A73"/>
                </a:solidFill>
                <a:latin typeface="Plus Jakarta Sans"/>
              </a:rPr>
              <a:t>ARR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768" y="2151735"/>
            <a:ext cx="286586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00" b="1">
                <a:solidFill>
                  <a:srgbClr val="1B1B1F"/>
                </a:solidFill>
                <a:latin typeface="Bricolage Grotesque"/>
              </a:rPr>
              <a:t>$47.2M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768" y="3077565"/>
            <a:ext cx="2865863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0AB39C"/>
                </a:solidFill>
                <a:latin typeface="Recursive Mono"/>
              </a:rPr>
              <a:t>▲ +12.4% vs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4768" y="4290975"/>
            <a:ext cx="2865863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E6A73"/>
                </a:solidFill>
                <a:latin typeface="Plus Jakarta Sans"/>
              </a:rPr>
              <a:t>Source: NetSuite, Apr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9648" y="1508760"/>
            <a:ext cx="3332397" cy="3291840"/>
          </a:xfrm>
          <a:prstGeom prst="roundRect">
            <a:avLst>
              <a:gd name="adj" fmla="val 3472"/>
            </a:avLst>
          </a:prstGeom>
          <a:solidFill>
            <a:srgbClr val="FFF4EB"/>
          </a:solidFill>
          <a:ln w="6350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2915" y="1805025"/>
            <a:ext cx="286586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E6A73"/>
                </a:solidFill>
                <a:latin typeface="Plus Jakarta Sans"/>
              </a:rPr>
              <a:t>GROSS MARGIN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2915" y="2151735"/>
            <a:ext cx="286586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00" b="1">
                <a:solidFill>
                  <a:srgbClr val="1B1B1F"/>
                </a:solidFill>
                <a:latin typeface="Bricolage Grotesque"/>
              </a:rPr>
              <a:t>72.8%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2915" y="3077565"/>
            <a:ext cx="2865863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FF7A00"/>
                </a:solidFill>
                <a:latin typeface="Recursive Mono"/>
              </a:rPr>
              <a:t>▼ -1.1 pts QoQ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2915" y="4290975"/>
            <a:ext cx="2865863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E6A73"/>
                </a:solidFill>
                <a:latin typeface="Plus Jakarta Sans"/>
              </a:rPr>
              <a:t>Non-GAAP, ex. one-time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5" y="1508760"/>
            <a:ext cx="3332397" cy="3291840"/>
          </a:xfrm>
          <a:prstGeom prst="roundRect">
            <a:avLst>
              <a:gd name="adj" fmla="val 3472"/>
            </a:avLst>
          </a:prstGeom>
          <a:solidFill>
            <a:srgbClr val="FFF4EB"/>
          </a:solidFill>
          <a:ln w="6350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1062" y="1805025"/>
            <a:ext cx="286586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E6A73"/>
                </a:solidFill>
                <a:latin typeface="Plus Jakarta Sans"/>
              </a:rPr>
              <a:t>NPS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1062" y="2151735"/>
            <a:ext cx="286586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00" b="1">
                <a:solidFill>
                  <a:srgbClr val="1B1B1F"/>
                </a:solidFill>
                <a:latin typeface="Bricolage Grotesque"/>
              </a:rPr>
              <a:t>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1062" y="3077565"/>
            <a:ext cx="2865863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0AB39C"/>
                </a:solidFill>
                <a:latin typeface="Recursive Mono"/>
              </a:rPr>
              <a:t>▲ +6 vs Q4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1062" y="4290975"/>
            <a:ext cx="2865863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E6A73"/>
                </a:solidFill>
                <a:latin typeface="Plus Jakarta Sans"/>
              </a:rPr>
              <a:t>n=1,842, mixed segment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