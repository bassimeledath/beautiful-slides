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583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700" b="1">
                <a:solidFill>
                  <a:srgbClr val="1B1B1F"/>
                </a:solidFill>
                <a:latin typeface="Bricolage Grotesque"/>
              </a:rPr>
              <a:t>Pricing strategy</a:t>
            </a:r>
          </a:p>
        </p:txBody>
      </p:sp>
      <p:sp>
        <p:nvSpPr>
          <p:cNvPr id="3" name="Freeform 2"/>
          <p:cNvSpPr/>
          <p:nvPr/>
        </p:nvSpPr>
        <p:spPr>
          <a:xfrm>
            <a:off x="4974802" y="2880239"/>
            <a:ext cx="145311" cy="90936"/>
          </a:xfrm>
          <a:custGeom>
            <a:avLst/>
            <a:gdLst/>
            <a:ahLst/>
            <a:cxnLst/>
            <a:rect l="l" t="t" r="r" b="b"/>
            <a:pathLst>
              <a:path w="145311" h="90936">
                <a:moveTo>
                  <a:pt x="145311" y="1462"/>
                </a:moveTo>
                <a:lnTo>
                  <a:pt x="30804" y="90936"/>
                </a:lnTo>
                <a:lnTo>
                  <a:pt x="0" y="0"/>
                </a:lnTo>
                <a:close/>
              </a:path>
            </a:pathLst>
          </a:cu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369041" y="2912716"/>
            <a:ext cx="1625564" cy="573653"/>
          </a:xfrm>
          <a:custGeom>
            <a:avLst/>
            <a:gdLst/>
            <a:ahLst/>
            <a:cxnLst/>
            <a:rect l="l" t="t" r="r" b="b"/>
            <a:pathLst>
              <a:path w="1625564" h="573653">
                <a:moveTo>
                  <a:pt x="8802" y="573653"/>
                </a:moveTo>
                <a:lnTo>
                  <a:pt x="0" y="547671"/>
                </a:lnTo>
                <a:lnTo>
                  <a:pt x="1616763" y="0"/>
                </a:lnTo>
                <a:lnTo>
                  <a:pt x="1625564" y="25982"/>
                </a:lnTo>
                <a:close/>
              </a:path>
            </a:pathLst>
          </a:cu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33952" y="3167871"/>
            <a:ext cx="1143000" cy="36576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0">
                <a:solidFill>
                  <a:srgbClr val="1B1B1F"/>
                </a:solidFill>
                <a:latin typeface="Plus Jakarta Sans"/>
              </a:rPr>
              <a:t>Yes</a:t>
            </a:r>
          </a:p>
        </p:txBody>
      </p:sp>
      <p:sp>
        <p:nvSpPr>
          <p:cNvPr id="6" name="Freeform 5"/>
          <p:cNvSpPr/>
          <p:nvPr/>
        </p:nvSpPr>
        <p:spPr>
          <a:xfrm>
            <a:off x="4974802" y="4636632"/>
            <a:ext cx="145311" cy="90936"/>
          </a:xfrm>
          <a:custGeom>
            <a:avLst/>
            <a:gdLst/>
            <a:ahLst/>
            <a:cxnLst/>
            <a:rect l="l" t="t" r="r" b="b"/>
            <a:pathLst>
              <a:path w="145311" h="90936">
                <a:moveTo>
                  <a:pt x="145311" y="89474"/>
                </a:moveTo>
                <a:lnTo>
                  <a:pt x="0" y="90936"/>
                </a:lnTo>
                <a:lnTo>
                  <a:pt x="30804" y="0"/>
                </a:lnTo>
                <a:close/>
              </a:path>
            </a:pathLst>
          </a:cu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3369041" y="4121438"/>
            <a:ext cx="1625564" cy="573653"/>
          </a:xfrm>
          <a:custGeom>
            <a:avLst/>
            <a:gdLst/>
            <a:ahLst/>
            <a:cxnLst/>
            <a:rect l="l" t="t" r="r" b="b"/>
            <a:pathLst>
              <a:path w="1625564" h="573653">
                <a:moveTo>
                  <a:pt x="0" y="25982"/>
                </a:moveTo>
                <a:lnTo>
                  <a:pt x="8802" y="0"/>
                </a:lnTo>
                <a:lnTo>
                  <a:pt x="1625564" y="547671"/>
                </a:lnTo>
                <a:lnTo>
                  <a:pt x="1616763" y="573653"/>
                </a:lnTo>
                <a:close/>
              </a:path>
            </a:pathLst>
          </a:cu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6603" y="4420599"/>
            <a:ext cx="1143000" cy="36576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0">
                <a:solidFill>
                  <a:srgbClr val="1B1B1F"/>
                </a:solidFill>
                <a:latin typeface="Plus Jakarta Sans"/>
              </a:rPr>
              <a:t>No</a:t>
            </a:r>
          </a:p>
        </p:txBody>
      </p:sp>
      <p:sp>
        <p:nvSpPr>
          <p:cNvPr id="9" name="Freeform 8"/>
          <p:cNvSpPr/>
          <p:nvPr/>
        </p:nvSpPr>
        <p:spPr>
          <a:xfrm>
            <a:off x="8635004" y="2072421"/>
            <a:ext cx="143251" cy="94664"/>
          </a:xfrm>
          <a:custGeom>
            <a:avLst/>
            <a:gdLst/>
            <a:ahLst/>
            <a:cxnLst/>
            <a:rect l="l" t="t" r="r" b="b"/>
            <a:pathLst>
              <a:path w="143251" h="94664">
                <a:moveTo>
                  <a:pt x="143251" y="24427"/>
                </a:moveTo>
                <a:lnTo>
                  <a:pt x="16034" y="94664"/>
                </a:lnTo>
                <a:lnTo>
                  <a:pt x="0" y="0"/>
                </a:lnTo>
                <a:close/>
              </a:path>
            </a:pathLst>
          </a:cu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7109285" y="2106230"/>
            <a:ext cx="1536027" cy="286432"/>
          </a:xfrm>
          <a:custGeom>
            <a:avLst/>
            <a:gdLst/>
            <a:ahLst/>
            <a:cxnLst/>
            <a:rect l="l" t="t" r="r" b="b"/>
            <a:pathLst>
              <a:path w="1536027" h="286432">
                <a:moveTo>
                  <a:pt x="4581" y="286432"/>
                </a:moveTo>
                <a:lnTo>
                  <a:pt x="0" y="259385"/>
                </a:lnTo>
                <a:lnTo>
                  <a:pt x="1531446" y="0"/>
                </a:lnTo>
                <a:lnTo>
                  <a:pt x="1536027" y="27047"/>
                </a:lnTo>
                <a:close/>
              </a:path>
            </a:pathLst>
          </a:cu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3955" y="2235425"/>
            <a:ext cx="1143000" cy="36576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0">
                <a:solidFill>
                  <a:srgbClr val="1B1B1F"/>
                </a:solidFill>
                <a:latin typeface="Plus Jakarta Sans"/>
              </a:rPr>
              <a:t>Yes</a:t>
            </a:r>
          </a:p>
        </p:txBody>
      </p:sp>
      <p:sp>
        <p:nvSpPr>
          <p:cNvPr id="12" name="Freeform 11"/>
          <p:cNvSpPr/>
          <p:nvPr/>
        </p:nvSpPr>
        <p:spPr>
          <a:xfrm>
            <a:off x="8635004" y="2935266"/>
            <a:ext cx="143251" cy="94664"/>
          </a:xfrm>
          <a:custGeom>
            <a:avLst/>
            <a:gdLst/>
            <a:ahLst/>
            <a:cxnLst/>
            <a:rect l="l" t="t" r="r" b="b"/>
            <a:pathLst>
              <a:path w="143251" h="94664">
                <a:moveTo>
                  <a:pt x="143251" y="70237"/>
                </a:moveTo>
                <a:lnTo>
                  <a:pt x="0" y="94664"/>
                </a:lnTo>
                <a:lnTo>
                  <a:pt x="16034" y="0"/>
                </a:lnTo>
                <a:close/>
              </a:path>
            </a:pathLst>
          </a:cu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7109285" y="2709689"/>
            <a:ext cx="1536027" cy="286432"/>
          </a:xfrm>
          <a:custGeom>
            <a:avLst/>
            <a:gdLst/>
            <a:ahLst/>
            <a:cxnLst/>
            <a:rect l="l" t="t" r="r" b="b"/>
            <a:pathLst>
              <a:path w="1536027" h="286432">
                <a:moveTo>
                  <a:pt x="0" y="27047"/>
                </a:moveTo>
                <a:lnTo>
                  <a:pt x="4581" y="0"/>
                </a:lnTo>
                <a:lnTo>
                  <a:pt x="1536027" y="259385"/>
                </a:lnTo>
                <a:lnTo>
                  <a:pt x="1531446" y="286432"/>
                </a:lnTo>
                <a:close/>
              </a:path>
            </a:pathLst>
          </a:cu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876" y="2861789"/>
            <a:ext cx="1143000" cy="36576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0">
                <a:solidFill>
                  <a:srgbClr val="1B1B1F"/>
                </a:solidFill>
                <a:latin typeface="Plus Jakarta Sans"/>
              </a:rPr>
              <a:t>No</a:t>
            </a:r>
          </a:p>
        </p:txBody>
      </p:sp>
      <p:sp>
        <p:nvSpPr>
          <p:cNvPr id="15" name="Freeform 14"/>
          <p:cNvSpPr/>
          <p:nvPr/>
        </p:nvSpPr>
        <p:spPr>
          <a:xfrm>
            <a:off x="8635004" y="4577877"/>
            <a:ext cx="143251" cy="94664"/>
          </a:xfrm>
          <a:custGeom>
            <a:avLst/>
            <a:gdLst/>
            <a:ahLst/>
            <a:cxnLst/>
            <a:rect l="l" t="t" r="r" b="b"/>
            <a:pathLst>
              <a:path w="143251" h="94664">
                <a:moveTo>
                  <a:pt x="143251" y="24427"/>
                </a:moveTo>
                <a:lnTo>
                  <a:pt x="16034" y="94664"/>
                </a:lnTo>
                <a:lnTo>
                  <a:pt x="0" y="0"/>
                </a:lnTo>
                <a:close/>
              </a:path>
            </a:pathLst>
          </a:cu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7109285" y="4611686"/>
            <a:ext cx="1536027" cy="286432"/>
          </a:xfrm>
          <a:custGeom>
            <a:avLst/>
            <a:gdLst/>
            <a:ahLst/>
            <a:cxnLst/>
            <a:rect l="l" t="t" r="r" b="b"/>
            <a:pathLst>
              <a:path w="1536027" h="286432">
                <a:moveTo>
                  <a:pt x="4581" y="286432"/>
                </a:moveTo>
                <a:lnTo>
                  <a:pt x="0" y="259385"/>
                </a:lnTo>
                <a:lnTo>
                  <a:pt x="1531446" y="0"/>
                </a:lnTo>
                <a:lnTo>
                  <a:pt x="1536027" y="27047"/>
                </a:lnTo>
                <a:close/>
              </a:path>
            </a:pathLst>
          </a:cu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3955" y="4740881"/>
            <a:ext cx="1143000" cy="36576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0">
                <a:solidFill>
                  <a:srgbClr val="1B1B1F"/>
                </a:solidFill>
                <a:latin typeface="Plus Jakarta Sans"/>
              </a:rPr>
              <a:t>Yes</a:t>
            </a:r>
          </a:p>
        </p:txBody>
      </p:sp>
      <p:sp>
        <p:nvSpPr>
          <p:cNvPr id="18" name="Freeform 17"/>
          <p:cNvSpPr/>
          <p:nvPr/>
        </p:nvSpPr>
        <p:spPr>
          <a:xfrm>
            <a:off x="8635004" y="5440722"/>
            <a:ext cx="143251" cy="94664"/>
          </a:xfrm>
          <a:custGeom>
            <a:avLst/>
            <a:gdLst/>
            <a:ahLst/>
            <a:cxnLst/>
            <a:rect l="l" t="t" r="r" b="b"/>
            <a:pathLst>
              <a:path w="143251" h="94664">
                <a:moveTo>
                  <a:pt x="143251" y="70237"/>
                </a:moveTo>
                <a:lnTo>
                  <a:pt x="0" y="94664"/>
                </a:lnTo>
                <a:lnTo>
                  <a:pt x="16034" y="0"/>
                </a:lnTo>
                <a:close/>
              </a:path>
            </a:pathLst>
          </a:cu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7109285" y="5215145"/>
            <a:ext cx="1536027" cy="286432"/>
          </a:xfrm>
          <a:custGeom>
            <a:avLst/>
            <a:gdLst/>
            <a:ahLst/>
            <a:cxnLst/>
            <a:rect l="l" t="t" r="r" b="b"/>
            <a:pathLst>
              <a:path w="1536027" h="286432">
                <a:moveTo>
                  <a:pt x="0" y="27047"/>
                </a:moveTo>
                <a:lnTo>
                  <a:pt x="4581" y="0"/>
                </a:lnTo>
                <a:lnTo>
                  <a:pt x="1536027" y="259385"/>
                </a:lnTo>
                <a:lnTo>
                  <a:pt x="1531446" y="286432"/>
                </a:lnTo>
                <a:close/>
              </a:path>
            </a:pathLst>
          </a:cu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2876" y="5367245"/>
            <a:ext cx="1143000" cy="36576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0">
                <a:solidFill>
                  <a:srgbClr val="1B1B1F"/>
                </a:solidFill>
                <a:latin typeface="Plus Jakarta Sans"/>
              </a:rPr>
              <a:t>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67514" y="3503250"/>
            <a:ext cx="2060391" cy="601309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67514" y="3503250"/>
            <a:ext cx="2060391" cy="601309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4EB"/>
                </a:solidFill>
                <a:latin typeface="Plus Jakarta Sans"/>
              </a:rPr>
              <a:t>Enterprise cus…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65652" y="2250522"/>
            <a:ext cx="2060391" cy="601309"/>
          </a:xfrm>
          <a:prstGeom prst="rect">
            <a:avLst/>
          </a:prstGeom>
          <a:solidFill>
            <a:srgbClr val="FFEDDD"/>
          </a:solidFill>
          <a:ln w="19050">
            <a:solidFill>
              <a:srgbClr val="C57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5652" y="2250522"/>
            <a:ext cx="2060391" cy="601309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1B1B1F"/>
                </a:solidFill>
                <a:latin typeface="Plus Jakarta Sans"/>
              </a:rPr>
              <a:t>Annual contrac…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63790" y="1624158"/>
            <a:ext cx="2060391" cy="601309"/>
          </a:xfrm>
          <a:prstGeom prst="roundRect">
            <a:avLst/>
          </a:prstGeom>
          <a:solidFill>
            <a:srgbClr val="54A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63790" y="1624158"/>
            <a:ext cx="2060391" cy="601309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FFF4EB"/>
                </a:solidFill>
                <a:latin typeface="Plus Jakarta Sans"/>
              </a:rPr>
              <a:t>Enterprise Ann…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63790" y="2876886"/>
            <a:ext cx="2060391" cy="601309"/>
          </a:xfrm>
          <a:prstGeom prst="roundRect">
            <a:avLst/>
          </a:prstGeom>
          <a:solidFill>
            <a:srgbClr val="54A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3790" y="2876886"/>
            <a:ext cx="2060391" cy="601309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FFF4EB"/>
                </a:solidFill>
                <a:latin typeface="Plus Jakarta Sans"/>
              </a:rPr>
              <a:t>Enterprise Mon…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65652" y="4755978"/>
            <a:ext cx="2060391" cy="601309"/>
          </a:xfrm>
          <a:prstGeom prst="rect">
            <a:avLst/>
          </a:prstGeom>
          <a:solidFill>
            <a:srgbClr val="FFEDDD"/>
          </a:solidFill>
          <a:ln w="19050">
            <a:solidFill>
              <a:srgbClr val="C57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65652" y="4755978"/>
            <a:ext cx="2060391" cy="601309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1B1B1F"/>
                </a:solidFill>
                <a:latin typeface="Plus Jakarta Sans"/>
              </a:rPr>
              <a:t>Team size &gt; 10?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63790" y="4129614"/>
            <a:ext cx="2060391" cy="601309"/>
          </a:xfrm>
          <a:prstGeom prst="roundRect">
            <a:avLst/>
          </a:prstGeom>
          <a:solidFill>
            <a:srgbClr val="54A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63790" y="4129614"/>
            <a:ext cx="2060391" cy="601309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FFF4EB"/>
                </a:solidFill>
                <a:latin typeface="Plus Jakarta Sans"/>
              </a:rPr>
              <a:t>Business plan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63790" y="5382342"/>
            <a:ext cx="2060391" cy="601309"/>
          </a:xfrm>
          <a:prstGeom prst="roundRect">
            <a:avLst/>
          </a:prstGeom>
          <a:solidFill>
            <a:srgbClr val="54A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63790" y="5382342"/>
            <a:ext cx="2060391" cy="601309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FFF4EB"/>
                </a:solidFill>
                <a:latin typeface="Plus Jakarta Sans"/>
              </a:rPr>
              <a:t>Starter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