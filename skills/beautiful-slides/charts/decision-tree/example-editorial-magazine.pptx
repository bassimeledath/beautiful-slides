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Pricing strategy</a:t>
            </a:r>
          </a:p>
        </p:txBody>
      </p:sp>
      <p:sp>
        <p:nvSpPr>
          <p:cNvPr id="3" name="Freeform 2"/>
          <p:cNvSpPr/>
          <p:nvPr/>
        </p:nvSpPr>
        <p:spPr>
          <a:xfrm>
            <a:off x="4992622" y="2823486"/>
            <a:ext cx="129171" cy="80693"/>
          </a:xfrm>
          <a:custGeom>
            <a:avLst/>
            <a:gdLst/>
            <a:ahLst/>
            <a:cxnLst/>
            <a:rect l="l" t="t" r="r" b="b"/>
            <a:pathLst>
              <a:path w="129171" h="80693">
                <a:moveTo>
                  <a:pt x="129171" y="648"/>
                </a:moveTo>
                <a:lnTo>
                  <a:pt x="27789" y="80693"/>
                </a:lnTo>
                <a:lnTo>
                  <a:pt x="0" y="0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367793" y="2852305"/>
            <a:ext cx="1642694" cy="586028"/>
          </a:xfrm>
          <a:custGeom>
            <a:avLst/>
            <a:gdLst/>
            <a:ahLst/>
            <a:cxnLst/>
            <a:rect l="l" t="t" r="r" b="b"/>
            <a:pathLst>
              <a:path w="1642694" h="586028">
                <a:moveTo>
                  <a:pt x="7939" y="586028"/>
                </a:moveTo>
                <a:lnTo>
                  <a:pt x="0" y="562973"/>
                </a:lnTo>
                <a:lnTo>
                  <a:pt x="1634754" y="0"/>
                </a:lnTo>
                <a:lnTo>
                  <a:pt x="1642694" y="23055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91709" y="3116611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Yes</a:t>
            </a:r>
          </a:p>
        </p:txBody>
      </p:sp>
      <p:sp>
        <p:nvSpPr>
          <p:cNvPr id="6" name="Freeform 5"/>
          <p:cNvSpPr/>
          <p:nvPr/>
        </p:nvSpPr>
        <p:spPr>
          <a:xfrm>
            <a:off x="4992622" y="4620316"/>
            <a:ext cx="129171" cy="80693"/>
          </a:xfrm>
          <a:custGeom>
            <a:avLst/>
            <a:gdLst/>
            <a:ahLst/>
            <a:cxnLst/>
            <a:rect l="l" t="t" r="r" b="b"/>
            <a:pathLst>
              <a:path w="129171" h="80693">
                <a:moveTo>
                  <a:pt x="129171" y="80045"/>
                </a:moveTo>
                <a:lnTo>
                  <a:pt x="0" y="80693"/>
                </a:lnTo>
                <a:lnTo>
                  <a:pt x="27789" y="0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367793" y="4086162"/>
            <a:ext cx="1642694" cy="586028"/>
          </a:xfrm>
          <a:custGeom>
            <a:avLst/>
            <a:gdLst/>
            <a:ahLst/>
            <a:cxnLst/>
            <a:rect l="l" t="t" r="r" b="b"/>
            <a:pathLst>
              <a:path w="1642694" h="586028">
                <a:moveTo>
                  <a:pt x="0" y="23055"/>
                </a:moveTo>
                <a:lnTo>
                  <a:pt x="7939" y="0"/>
                </a:lnTo>
                <a:lnTo>
                  <a:pt x="1642694" y="562973"/>
                </a:lnTo>
                <a:lnTo>
                  <a:pt x="1634754" y="586028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846" y="4390167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No</a:t>
            </a:r>
          </a:p>
        </p:txBody>
      </p:sp>
      <p:sp>
        <p:nvSpPr>
          <p:cNvPr id="9" name="Freeform 8"/>
          <p:cNvSpPr/>
          <p:nvPr/>
        </p:nvSpPr>
        <p:spPr>
          <a:xfrm>
            <a:off x="8651337" y="2005365"/>
            <a:ext cx="127393" cy="84106"/>
          </a:xfrm>
          <a:custGeom>
            <a:avLst/>
            <a:gdLst/>
            <a:ahLst/>
            <a:cxnLst/>
            <a:rect l="l" t="t" r="r" b="b"/>
            <a:pathLst>
              <a:path w="127393" h="84106">
                <a:moveTo>
                  <a:pt x="127393" y="21364"/>
                </a:moveTo>
                <a:lnTo>
                  <a:pt x="14482" y="84106"/>
                </a:lnTo>
                <a:lnTo>
                  <a:pt x="0" y="0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7109032" y="2035403"/>
            <a:ext cx="1551615" cy="290488"/>
          </a:xfrm>
          <a:custGeom>
            <a:avLst/>
            <a:gdLst/>
            <a:ahLst/>
            <a:cxnLst/>
            <a:rect l="l" t="t" r="r" b="b"/>
            <a:pathLst>
              <a:path w="1551615" h="290488">
                <a:moveTo>
                  <a:pt x="4138" y="290488"/>
                </a:moveTo>
                <a:lnTo>
                  <a:pt x="0" y="266458"/>
                </a:lnTo>
                <a:lnTo>
                  <a:pt x="1547477" y="0"/>
                </a:lnTo>
                <a:lnTo>
                  <a:pt x="1551615" y="24030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4501" y="2167945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Yes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8651337" y="2887912"/>
            <a:ext cx="127393" cy="84106"/>
          </a:xfrm>
          <a:custGeom>
            <a:avLst/>
            <a:gdLst/>
            <a:ahLst/>
            <a:cxnLst/>
            <a:rect l="l" t="t" r="r" b="b"/>
            <a:pathLst>
              <a:path w="127393" h="84106">
                <a:moveTo>
                  <a:pt x="127393" y="62742"/>
                </a:moveTo>
                <a:lnTo>
                  <a:pt x="0" y="84106"/>
                </a:lnTo>
                <a:lnTo>
                  <a:pt x="14482" y="0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109032" y="2651492"/>
            <a:ext cx="1551615" cy="290488"/>
          </a:xfrm>
          <a:custGeom>
            <a:avLst/>
            <a:gdLst/>
            <a:ahLst/>
            <a:cxnLst/>
            <a:rect l="l" t="t" r="r" b="b"/>
            <a:pathLst>
              <a:path w="1551615" h="290488">
                <a:moveTo>
                  <a:pt x="0" y="24030"/>
                </a:moveTo>
                <a:lnTo>
                  <a:pt x="4138" y="0"/>
                </a:lnTo>
                <a:lnTo>
                  <a:pt x="1551615" y="266458"/>
                </a:lnTo>
                <a:lnTo>
                  <a:pt x="1547477" y="290488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9330" y="2804723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No</a:t>
            </a:r>
          </a:p>
        </p:txBody>
      </p:sp>
      <p:sp>
        <p:nvSpPr>
          <p:cNvPr id="15" name="Freeform 14"/>
          <p:cNvSpPr/>
          <p:nvPr/>
        </p:nvSpPr>
        <p:spPr>
          <a:xfrm>
            <a:off x="8651337" y="4552477"/>
            <a:ext cx="127393" cy="84106"/>
          </a:xfrm>
          <a:custGeom>
            <a:avLst/>
            <a:gdLst/>
            <a:ahLst/>
            <a:cxnLst/>
            <a:rect l="l" t="t" r="r" b="b"/>
            <a:pathLst>
              <a:path w="127393" h="84106">
                <a:moveTo>
                  <a:pt x="127393" y="21364"/>
                </a:moveTo>
                <a:lnTo>
                  <a:pt x="14482" y="84106"/>
                </a:lnTo>
                <a:lnTo>
                  <a:pt x="0" y="0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109032" y="4582515"/>
            <a:ext cx="1551615" cy="290488"/>
          </a:xfrm>
          <a:custGeom>
            <a:avLst/>
            <a:gdLst/>
            <a:ahLst/>
            <a:cxnLst/>
            <a:rect l="l" t="t" r="r" b="b"/>
            <a:pathLst>
              <a:path w="1551615" h="290488">
                <a:moveTo>
                  <a:pt x="4138" y="290488"/>
                </a:moveTo>
                <a:lnTo>
                  <a:pt x="0" y="266458"/>
                </a:lnTo>
                <a:lnTo>
                  <a:pt x="1547477" y="0"/>
                </a:lnTo>
                <a:lnTo>
                  <a:pt x="1551615" y="24030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4501" y="4715057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Yes</a:t>
            </a:r>
          </a:p>
        </p:txBody>
      </p:sp>
      <p:sp>
        <p:nvSpPr>
          <p:cNvPr id="18" name="Freeform 17"/>
          <p:cNvSpPr/>
          <p:nvPr/>
        </p:nvSpPr>
        <p:spPr>
          <a:xfrm>
            <a:off x="8651337" y="5435024"/>
            <a:ext cx="127393" cy="84106"/>
          </a:xfrm>
          <a:custGeom>
            <a:avLst/>
            <a:gdLst/>
            <a:ahLst/>
            <a:cxnLst/>
            <a:rect l="l" t="t" r="r" b="b"/>
            <a:pathLst>
              <a:path w="127393" h="84106">
                <a:moveTo>
                  <a:pt x="127393" y="62742"/>
                </a:moveTo>
                <a:lnTo>
                  <a:pt x="0" y="84106"/>
                </a:lnTo>
                <a:lnTo>
                  <a:pt x="14482" y="0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109032" y="5198604"/>
            <a:ext cx="1551615" cy="290488"/>
          </a:xfrm>
          <a:custGeom>
            <a:avLst/>
            <a:gdLst/>
            <a:ahLst/>
            <a:cxnLst/>
            <a:rect l="l" t="t" r="r" b="b"/>
            <a:pathLst>
              <a:path w="1551615" h="290488">
                <a:moveTo>
                  <a:pt x="0" y="24030"/>
                </a:moveTo>
                <a:lnTo>
                  <a:pt x="4138" y="0"/>
                </a:lnTo>
                <a:lnTo>
                  <a:pt x="1551615" y="266458"/>
                </a:lnTo>
                <a:lnTo>
                  <a:pt x="1547477" y="290488"/>
                </a:lnTo>
                <a:close/>
              </a:path>
            </a:pathLst>
          </a:cu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9330" y="5351835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7514" y="3457448"/>
            <a:ext cx="2060391" cy="609600"/>
          </a:xfrm>
          <a:prstGeom prst="round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7514" y="3457448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6F1E8"/>
                </a:solidFill>
                <a:latin typeface="Newsreader"/>
              </a:rPr>
              <a:t>Enterprise cust…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652" y="2183892"/>
            <a:ext cx="2060391" cy="609600"/>
          </a:xfrm>
          <a:prstGeom prst="rect">
            <a:avLst/>
          </a:prstGeom>
          <a:solidFill>
            <a:srgbClr val="F0E5DE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652" y="2183892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0">
                <a:solidFill>
                  <a:srgbClr val="181514"/>
                </a:solidFill>
                <a:latin typeface="Newsreader"/>
              </a:rPr>
              <a:t>Annual contract?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63790" y="1547114"/>
            <a:ext cx="2060391" cy="609600"/>
          </a:xfrm>
          <a:prstGeom prst="roundRect">
            <a:avLst/>
          </a:prstGeom>
          <a:solidFill>
            <a:srgbClr val="974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3790" y="1547114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Newsreader"/>
              </a:rPr>
              <a:t>Enterprise Annu…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3790" y="2820670"/>
            <a:ext cx="2060391" cy="609600"/>
          </a:xfrm>
          <a:prstGeom prst="roundRect">
            <a:avLst/>
          </a:prstGeom>
          <a:solidFill>
            <a:srgbClr val="974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790" y="2820670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Newsreader"/>
              </a:rPr>
              <a:t>Enterprise Mont…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65652" y="4731004"/>
            <a:ext cx="2060391" cy="609600"/>
          </a:xfrm>
          <a:prstGeom prst="rect">
            <a:avLst/>
          </a:prstGeom>
          <a:solidFill>
            <a:srgbClr val="F0E5DE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5652" y="4731004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0">
                <a:solidFill>
                  <a:srgbClr val="181514"/>
                </a:solidFill>
                <a:latin typeface="Newsreader"/>
              </a:rPr>
              <a:t>Team size &gt; 10?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63790" y="4094226"/>
            <a:ext cx="2060391" cy="609600"/>
          </a:xfrm>
          <a:prstGeom prst="roundRect">
            <a:avLst/>
          </a:prstGeom>
          <a:solidFill>
            <a:srgbClr val="974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3790" y="4094226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Newsreader"/>
              </a:rPr>
              <a:t>Business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63790" y="5367782"/>
            <a:ext cx="2060391" cy="609600"/>
          </a:xfrm>
          <a:prstGeom prst="roundRect">
            <a:avLst/>
          </a:prstGeom>
          <a:solidFill>
            <a:srgbClr val="974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3790" y="5367782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Newsreader"/>
              </a:rPr>
              <a:t>Starter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