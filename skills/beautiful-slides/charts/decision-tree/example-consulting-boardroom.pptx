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12064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Pricing strategy</a:t>
            </a:r>
          </a:p>
        </p:txBody>
      </p:sp>
      <p:sp>
        <p:nvSpPr>
          <p:cNvPr id="3" name="Freeform 2"/>
          <p:cNvSpPr/>
          <p:nvPr/>
        </p:nvSpPr>
        <p:spPr>
          <a:xfrm>
            <a:off x="5010465" y="2766541"/>
            <a:ext cx="113026" cy="70485"/>
          </a:xfrm>
          <a:custGeom>
            <a:avLst/>
            <a:gdLst/>
            <a:ahLst/>
            <a:cxnLst/>
            <a:rect l="l" t="t" r="r" b="b"/>
            <a:pathLst>
              <a:path w="113026" h="70485">
                <a:moveTo>
                  <a:pt x="113026" y="0"/>
                </a:moveTo>
                <a:lnTo>
                  <a:pt x="24670" y="70485"/>
                </a:lnTo>
                <a:lnTo>
                  <a:pt x="0" y="1"/>
                </a:lnTo>
                <a:close/>
              </a:path>
            </a:pathLst>
          </a:cu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366540" y="2791715"/>
            <a:ext cx="1659785" cy="598612"/>
          </a:xfrm>
          <a:custGeom>
            <a:avLst/>
            <a:gdLst/>
            <a:ahLst/>
            <a:cxnLst/>
            <a:rect l="l" t="t" r="r" b="b"/>
            <a:pathLst>
              <a:path w="1659785" h="598612">
                <a:moveTo>
                  <a:pt x="7048" y="598612"/>
                </a:moveTo>
                <a:lnTo>
                  <a:pt x="0" y="578474"/>
                </a:lnTo>
                <a:lnTo>
                  <a:pt x="1652736" y="0"/>
                </a:lnTo>
                <a:lnTo>
                  <a:pt x="1659785" y="20138"/>
                </a:lnTo>
                <a:close/>
              </a:path>
            </a:pathLst>
          </a:cu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9268" y="3065414"/>
            <a:ext cx="889000" cy="2844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Yes</a:t>
            </a:r>
          </a:p>
        </p:txBody>
      </p:sp>
      <p:sp>
        <p:nvSpPr>
          <p:cNvPr id="6" name="Freeform 5"/>
          <p:cNvSpPr/>
          <p:nvPr/>
        </p:nvSpPr>
        <p:spPr>
          <a:xfrm>
            <a:off x="5010465" y="4604157"/>
            <a:ext cx="113026" cy="70485"/>
          </a:xfrm>
          <a:custGeom>
            <a:avLst/>
            <a:gdLst/>
            <a:ahLst/>
            <a:cxnLst/>
            <a:rect l="l" t="t" r="r" b="b"/>
            <a:pathLst>
              <a:path w="113026" h="70485">
                <a:moveTo>
                  <a:pt x="113026" y="70485"/>
                </a:moveTo>
                <a:lnTo>
                  <a:pt x="0" y="70484"/>
                </a:lnTo>
                <a:lnTo>
                  <a:pt x="24670" y="0"/>
                </a:lnTo>
                <a:close/>
              </a:path>
            </a:pathLst>
          </a:cu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366540" y="4050856"/>
            <a:ext cx="1659785" cy="598612"/>
          </a:xfrm>
          <a:custGeom>
            <a:avLst/>
            <a:gdLst/>
            <a:ahLst/>
            <a:cxnLst/>
            <a:rect l="l" t="t" r="r" b="b"/>
            <a:pathLst>
              <a:path w="1659785" h="598612">
                <a:moveTo>
                  <a:pt x="0" y="20138"/>
                </a:moveTo>
                <a:lnTo>
                  <a:pt x="7048" y="0"/>
                </a:lnTo>
                <a:lnTo>
                  <a:pt x="1659785" y="578474"/>
                </a:lnTo>
                <a:lnTo>
                  <a:pt x="1652736" y="598612"/>
                </a:lnTo>
                <a:close/>
              </a:path>
            </a:pathLst>
          </a:cu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55287" y="4359798"/>
            <a:ext cx="889000" cy="2844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No</a:t>
            </a:r>
          </a:p>
        </p:txBody>
      </p:sp>
      <p:sp>
        <p:nvSpPr>
          <p:cNvPr id="9" name="Freeform 8"/>
          <p:cNvSpPr/>
          <p:nvPr/>
        </p:nvSpPr>
        <p:spPr>
          <a:xfrm>
            <a:off x="8667692" y="1938217"/>
            <a:ext cx="111519" cy="73558"/>
          </a:xfrm>
          <a:custGeom>
            <a:avLst/>
            <a:gdLst/>
            <a:ahLst/>
            <a:cxnLst/>
            <a:rect l="l" t="t" r="r" b="b"/>
            <a:pathLst>
              <a:path w="111519" h="73558">
                <a:moveTo>
                  <a:pt x="111519" y="18389"/>
                </a:moveTo>
                <a:lnTo>
                  <a:pt x="12873" y="73558"/>
                </a:lnTo>
                <a:lnTo>
                  <a:pt x="0" y="0"/>
                </a:lnTo>
                <a:close/>
              </a:path>
            </a:pathLst>
          </a:cu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7108781" y="1964487"/>
            <a:ext cx="1567186" cy="294639"/>
          </a:xfrm>
          <a:custGeom>
            <a:avLst/>
            <a:gdLst/>
            <a:ahLst/>
            <a:cxnLst/>
            <a:rect l="l" t="t" r="r" b="b"/>
            <a:pathLst>
              <a:path w="1567186" h="294639">
                <a:moveTo>
                  <a:pt x="3678" y="294639"/>
                </a:moveTo>
                <a:lnTo>
                  <a:pt x="0" y="273622"/>
                </a:lnTo>
                <a:lnTo>
                  <a:pt x="1563508" y="0"/>
                </a:lnTo>
                <a:lnTo>
                  <a:pt x="1567186" y="21017"/>
                </a:lnTo>
                <a:close/>
              </a:path>
            </a:pathLst>
          </a:cu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4936" y="2100482"/>
            <a:ext cx="889000" cy="2844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Yes</a:t>
            </a:r>
          </a:p>
        </p:txBody>
      </p:sp>
      <p:sp>
        <p:nvSpPr>
          <p:cNvPr id="12" name="Freeform 11"/>
          <p:cNvSpPr/>
          <p:nvPr/>
        </p:nvSpPr>
        <p:spPr>
          <a:xfrm>
            <a:off x="8667692" y="2840640"/>
            <a:ext cx="111519" cy="73558"/>
          </a:xfrm>
          <a:custGeom>
            <a:avLst/>
            <a:gdLst/>
            <a:ahLst/>
            <a:cxnLst/>
            <a:rect l="l" t="t" r="r" b="b"/>
            <a:pathLst>
              <a:path w="111519" h="73558">
                <a:moveTo>
                  <a:pt x="111519" y="55169"/>
                </a:moveTo>
                <a:lnTo>
                  <a:pt x="0" y="73558"/>
                </a:lnTo>
                <a:lnTo>
                  <a:pt x="12873" y="0"/>
                </a:lnTo>
                <a:close/>
              </a:path>
            </a:pathLst>
          </a:cu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7108781" y="2593289"/>
            <a:ext cx="1567186" cy="294639"/>
          </a:xfrm>
          <a:custGeom>
            <a:avLst/>
            <a:gdLst/>
            <a:ahLst/>
            <a:cxnLst/>
            <a:rect l="l" t="t" r="r" b="b"/>
            <a:pathLst>
              <a:path w="1567186" h="294639">
                <a:moveTo>
                  <a:pt x="0" y="21017"/>
                </a:moveTo>
                <a:lnTo>
                  <a:pt x="3678" y="0"/>
                </a:lnTo>
                <a:lnTo>
                  <a:pt x="1567186" y="273622"/>
                </a:lnTo>
                <a:lnTo>
                  <a:pt x="1563508" y="294639"/>
                </a:lnTo>
                <a:close/>
              </a:path>
            </a:pathLst>
          </a:cu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5895" y="2747674"/>
            <a:ext cx="889000" cy="2844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No</a:t>
            </a:r>
          </a:p>
        </p:txBody>
      </p:sp>
      <p:sp>
        <p:nvSpPr>
          <p:cNvPr id="15" name="Freeform 14"/>
          <p:cNvSpPr/>
          <p:nvPr/>
        </p:nvSpPr>
        <p:spPr>
          <a:xfrm>
            <a:off x="8667692" y="4526985"/>
            <a:ext cx="111519" cy="73558"/>
          </a:xfrm>
          <a:custGeom>
            <a:avLst/>
            <a:gdLst/>
            <a:ahLst/>
            <a:cxnLst/>
            <a:rect l="l" t="t" r="r" b="b"/>
            <a:pathLst>
              <a:path w="111519" h="73558">
                <a:moveTo>
                  <a:pt x="111519" y="18389"/>
                </a:moveTo>
                <a:lnTo>
                  <a:pt x="12873" y="73558"/>
                </a:lnTo>
                <a:lnTo>
                  <a:pt x="0" y="0"/>
                </a:lnTo>
                <a:close/>
              </a:path>
            </a:pathLst>
          </a:cu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108781" y="4553255"/>
            <a:ext cx="1567186" cy="294639"/>
          </a:xfrm>
          <a:custGeom>
            <a:avLst/>
            <a:gdLst/>
            <a:ahLst/>
            <a:cxnLst/>
            <a:rect l="l" t="t" r="r" b="b"/>
            <a:pathLst>
              <a:path w="1567186" h="294639">
                <a:moveTo>
                  <a:pt x="3678" y="294639"/>
                </a:moveTo>
                <a:lnTo>
                  <a:pt x="0" y="273622"/>
                </a:lnTo>
                <a:lnTo>
                  <a:pt x="1563508" y="0"/>
                </a:lnTo>
                <a:lnTo>
                  <a:pt x="1567186" y="21017"/>
                </a:lnTo>
                <a:close/>
              </a:path>
            </a:pathLst>
          </a:cu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4936" y="4689250"/>
            <a:ext cx="889000" cy="2844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Yes</a:t>
            </a:r>
          </a:p>
        </p:txBody>
      </p:sp>
      <p:sp>
        <p:nvSpPr>
          <p:cNvPr id="18" name="Freeform 17"/>
          <p:cNvSpPr/>
          <p:nvPr/>
        </p:nvSpPr>
        <p:spPr>
          <a:xfrm>
            <a:off x="8667692" y="5429408"/>
            <a:ext cx="111519" cy="73558"/>
          </a:xfrm>
          <a:custGeom>
            <a:avLst/>
            <a:gdLst/>
            <a:ahLst/>
            <a:cxnLst/>
            <a:rect l="l" t="t" r="r" b="b"/>
            <a:pathLst>
              <a:path w="111519" h="73558">
                <a:moveTo>
                  <a:pt x="111519" y="55169"/>
                </a:moveTo>
                <a:lnTo>
                  <a:pt x="0" y="73558"/>
                </a:lnTo>
                <a:lnTo>
                  <a:pt x="12873" y="0"/>
                </a:lnTo>
                <a:close/>
              </a:path>
            </a:pathLst>
          </a:cu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7108781" y="5182057"/>
            <a:ext cx="1567186" cy="294639"/>
          </a:xfrm>
          <a:custGeom>
            <a:avLst/>
            <a:gdLst/>
            <a:ahLst/>
            <a:cxnLst/>
            <a:rect l="l" t="t" r="r" b="b"/>
            <a:pathLst>
              <a:path w="1567186" h="294639">
                <a:moveTo>
                  <a:pt x="0" y="21017"/>
                </a:moveTo>
                <a:lnTo>
                  <a:pt x="3678" y="0"/>
                </a:lnTo>
                <a:lnTo>
                  <a:pt x="1567186" y="273622"/>
                </a:lnTo>
                <a:lnTo>
                  <a:pt x="1563508" y="294639"/>
                </a:lnTo>
                <a:close/>
              </a:path>
            </a:pathLst>
          </a:custGeom>
          <a:solidFill>
            <a:srgbClr val="3652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5895" y="5336442"/>
            <a:ext cx="889000" cy="2844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7514" y="3453892"/>
            <a:ext cx="2060391" cy="53340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7514" y="3453892"/>
            <a:ext cx="2060391" cy="533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ublic Sans"/>
              </a:rPr>
              <a:t>Enterprise custome…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65652" y="2159508"/>
            <a:ext cx="2060391" cy="533400"/>
          </a:xfrm>
          <a:prstGeom prst="rect">
            <a:avLst/>
          </a:prstGeom>
          <a:solidFill>
            <a:srgbClr val="F1F4F7"/>
          </a:solidFill>
          <a:ln w="19050">
            <a:solidFill>
              <a:srgbClr val="254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5652" y="2159508"/>
            <a:ext cx="2060391" cy="533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101828"/>
                </a:solidFill>
                <a:latin typeface="Public Sans"/>
              </a:rPr>
              <a:t>Annual contract?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63790" y="1512316"/>
            <a:ext cx="2060391" cy="533400"/>
          </a:xfrm>
          <a:prstGeom prst="roundRect">
            <a:avLst/>
          </a:prstGeom>
          <a:solidFill>
            <a:srgbClr val="0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63790" y="1512316"/>
            <a:ext cx="2060391" cy="533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ublic Sans"/>
              </a:rPr>
              <a:t>Enterprise Annual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63790" y="2806700"/>
            <a:ext cx="2060391" cy="533400"/>
          </a:xfrm>
          <a:prstGeom prst="roundRect">
            <a:avLst/>
          </a:prstGeom>
          <a:solidFill>
            <a:srgbClr val="0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3790" y="2806700"/>
            <a:ext cx="2060391" cy="533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ublic Sans"/>
              </a:rPr>
              <a:t>Enterprise Monthly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65652" y="4748276"/>
            <a:ext cx="2060391" cy="533400"/>
          </a:xfrm>
          <a:prstGeom prst="rect">
            <a:avLst/>
          </a:prstGeom>
          <a:solidFill>
            <a:srgbClr val="F1F4F7"/>
          </a:solidFill>
          <a:ln w="19050">
            <a:solidFill>
              <a:srgbClr val="254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65652" y="4748276"/>
            <a:ext cx="2060391" cy="533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101828"/>
                </a:solidFill>
                <a:latin typeface="Public Sans"/>
              </a:rPr>
              <a:t>Team size &gt; 10?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63790" y="4101084"/>
            <a:ext cx="2060391" cy="533400"/>
          </a:xfrm>
          <a:prstGeom prst="roundRect">
            <a:avLst/>
          </a:prstGeom>
          <a:solidFill>
            <a:srgbClr val="0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63790" y="4101084"/>
            <a:ext cx="2060391" cy="533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ublic Sans"/>
              </a:rPr>
              <a:t>Business 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63790" y="5395468"/>
            <a:ext cx="2060391" cy="533400"/>
          </a:xfrm>
          <a:prstGeom prst="roundRect">
            <a:avLst/>
          </a:prstGeom>
          <a:solidFill>
            <a:srgbClr val="0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63790" y="5395468"/>
            <a:ext cx="2060391" cy="533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ublic Sans"/>
              </a:rPr>
              <a:t>Starter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