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2201C"/>
                </a:solidFill>
                <a:latin typeface="Instrument Serif"/>
              </a:rPr>
              <a:t>Market opportunity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4125" y="5654294"/>
            <a:ext cx="7820097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4125" y="5151173"/>
            <a:ext cx="7820097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4125" y="4648053"/>
            <a:ext cx="7820097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34125" y="4144933"/>
            <a:ext cx="7820097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34125" y="3641813"/>
            <a:ext cx="7820097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4125" y="3138693"/>
            <a:ext cx="7820097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4125" y="2635573"/>
            <a:ext cx="7820097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34125" y="2132453"/>
            <a:ext cx="7820097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34125" y="1629333"/>
            <a:ext cx="7820097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34125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51281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68438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85595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02751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19908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37065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54222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34125" y="5654294"/>
            <a:ext cx="7820097" cy="0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34125" y="1629333"/>
            <a:ext cx="0" cy="4024961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3535" y="5547614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535" y="5044493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535" y="4541373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535" y="4038253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535" y="3535133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535" y="3032013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535" y="2528893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535" y="2025773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535" y="1522653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115" y="5685497"/>
            <a:ext cx="156401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9272" y="5685497"/>
            <a:ext cx="156401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6428" y="5685497"/>
            <a:ext cx="156401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03585" y="5685497"/>
            <a:ext cx="156401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0742" y="5685497"/>
            <a:ext cx="156401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7899" y="5685497"/>
            <a:ext cx="156401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5055" y="5685497"/>
            <a:ext cx="156401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2212" y="5685497"/>
            <a:ext cx="156401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4125" y="5909259"/>
            <a:ext cx="7820097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Market growth (%)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4125" y="1344371"/>
            <a:ext cx="7820097" cy="26416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Market share (%)</a:t>
            </a:r>
          </a:p>
        </p:txBody>
      </p:sp>
      <p:sp>
        <p:nvSpPr>
          <p:cNvPr id="42" name="Oval 41"/>
          <p:cNvSpPr/>
          <p:nvPr/>
        </p:nvSpPr>
        <p:spPr>
          <a:xfrm>
            <a:off x="7881465" y="2028413"/>
            <a:ext cx="711200" cy="711200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18065" y="2309718"/>
            <a:ext cx="314325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Delta</a:t>
            </a:r>
          </a:p>
        </p:txBody>
      </p:sp>
      <p:sp>
        <p:nvSpPr>
          <p:cNvPr id="44" name="Oval 43"/>
          <p:cNvSpPr/>
          <p:nvPr/>
        </p:nvSpPr>
        <p:spPr>
          <a:xfrm>
            <a:off x="4401090" y="2877620"/>
            <a:ext cx="522146" cy="522146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48636" y="3064398"/>
            <a:ext cx="25146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Beta</a:t>
            </a:r>
          </a:p>
        </p:txBody>
      </p:sp>
      <p:sp>
        <p:nvSpPr>
          <p:cNvPr id="46" name="Oval 45"/>
          <p:cNvSpPr/>
          <p:nvPr/>
        </p:nvSpPr>
        <p:spPr>
          <a:xfrm>
            <a:off x="5581803" y="3444296"/>
            <a:ext cx="395034" cy="395034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02237" y="3567518"/>
            <a:ext cx="440055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Epsilon</a:t>
            </a:r>
          </a:p>
        </p:txBody>
      </p:sp>
      <p:sp>
        <p:nvSpPr>
          <p:cNvPr id="48" name="Oval 47"/>
          <p:cNvSpPr/>
          <p:nvPr/>
        </p:nvSpPr>
        <p:spPr>
          <a:xfrm>
            <a:off x="2743741" y="4265521"/>
            <a:ext cx="261944" cy="261944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31085" y="4322198"/>
            <a:ext cx="314325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Alpha</a:t>
            </a:r>
          </a:p>
        </p:txBody>
      </p:sp>
      <p:sp>
        <p:nvSpPr>
          <p:cNvPr id="50" name="Oval 49"/>
          <p:cNvSpPr/>
          <p:nvPr/>
        </p:nvSpPr>
        <p:spPr>
          <a:xfrm>
            <a:off x="6510530" y="4999749"/>
            <a:ext cx="101600" cy="101600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37530" y="4976254"/>
            <a:ext cx="314325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Gamma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58235" y="2031829"/>
            <a:ext cx="1633785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01C"/>
                </a:solidFill>
                <a:latin typeface="Instrument Sans"/>
              </a:rPr>
              <a:t>Revenue ($M)</a:t>
            </a:r>
          </a:p>
        </p:txBody>
      </p:sp>
      <p:sp>
        <p:nvSpPr>
          <p:cNvPr id="53" name="Oval 52"/>
          <p:cNvSpPr/>
          <p:nvPr/>
        </p:nvSpPr>
        <p:spPr>
          <a:xfrm>
            <a:off x="9479037" y="2379682"/>
            <a:ext cx="101600" cy="1016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31437" y="2323802"/>
            <a:ext cx="146058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30</a:t>
            </a:r>
          </a:p>
        </p:txBody>
      </p:sp>
      <p:sp>
        <p:nvSpPr>
          <p:cNvPr id="55" name="Oval 54"/>
          <p:cNvSpPr/>
          <p:nvPr/>
        </p:nvSpPr>
        <p:spPr>
          <a:xfrm>
            <a:off x="9479037" y="2626900"/>
            <a:ext cx="508000" cy="5080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37837" y="2774220"/>
            <a:ext cx="105418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115</a:t>
            </a:r>
          </a:p>
        </p:txBody>
      </p:sp>
      <p:sp>
        <p:nvSpPr>
          <p:cNvPr id="57" name="Oval 56"/>
          <p:cNvSpPr/>
          <p:nvPr/>
        </p:nvSpPr>
        <p:spPr>
          <a:xfrm>
            <a:off x="9479037" y="3280518"/>
            <a:ext cx="711200" cy="7112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41037" y="3529438"/>
            <a:ext cx="85098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