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Product portfolio 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654294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4849301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044309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239317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2434325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1629333"/>
            <a:ext cx="7820097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98144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62163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26183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90202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54222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534125" y="5654294"/>
            <a:ext cx="7820097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3535" y="5547614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535" y="4742621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535" y="3937629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3132637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2327645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152265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445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5464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9484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3503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7523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542" y="5685497"/>
            <a:ext cx="2085359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4125" y="5909259"/>
            <a:ext cx="7820097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Customer satisfaction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4125" y="1344371"/>
            <a:ext cx="7820097" cy="26416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Revenue contribution (%)</a:t>
            </a:r>
          </a:p>
        </p:txBody>
      </p:sp>
      <p:sp>
        <p:nvSpPr>
          <p:cNvPr id="32" name="Oval 31"/>
          <p:cNvSpPr/>
          <p:nvPr/>
        </p:nvSpPr>
        <p:spPr>
          <a:xfrm>
            <a:off x="6652592" y="2078725"/>
            <a:ext cx="711200" cy="71120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89192" y="2360030"/>
            <a:ext cx="81724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Core Platform</a:t>
            </a:r>
          </a:p>
        </p:txBody>
      </p:sp>
      <p:sp>
        <p:nvSpPr>
          <p:cNvPr id="34" name="Oval 33"/>
          <p:cNvSpPr/>
          <p:nvPr/>
        </p:nvSpPr>
        <p:spPr>
          <a:xfrm>
            <a:off x="5956210" y="2969344"/>
            <a:ext cx="539946" cy="539946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1556" y="3165022"/>
            <a:ext cx="56578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Analytics</a:t>
            </a:r>
          </a:p>
        </p:txBody>
      </p:sp>
      <p:sp>
        <p:nvSpPr>
          <p:cNvPr id="36" name="Oval 35"/>
          <p:cNvSpPr/>
          <p:nvPr/>
        </p:nvSpPr>
        <p:spPr>
          <a:xfrm>
            <a:off x="7731889" y="3427098"/>
            <a:ext cx="429430" cy="42943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6719" y="3567518"/>
            <a:ext cx="62865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Mobile App</a:t>
            </a:r>
          </a:p>
        </p:txBody>
      </p:sp>
      <p:sp>
        <p:nvSpPr>
          <p:cNvPr id="38" name="Oval 37"/>
          <p:cNvSpPr/>
          <p:nvPr/>
        </p:nvSpPr>
        <p:spPr>
          <a:xfrm>
            <a:off x="3249655" y="4285512"/>
            <a:ext cx="322586" cy="322586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7641" y="4372510"/>
            <a:ext cx="628650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Legacy API</a:t>
            </a:r>
          </a:p>
        </p:txBody>
      </p:sp>
      <p:sp>
        <p:nvSpPr>
          <p:cNvPr id="40" name="Oval 39"/>
          <p:cNvSpPr/>
          <p:nvPr/>
        </p:nvSpPr>
        <p:spPr>
          <a:xfrm>
            <a:off x="4549806" y="4736944"/>
            <a:ext cx="224714" cy="224714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99920" y="4775006"/>
            <a:ext cx="69151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Admin Tools</a:t>
            </a:r>
          </a:p>
        </p:txBody>
      </p:sp>
      <p:sp>
        <p:nvSpPr>
          <p:cNvPr id="42" name="Oval 41"/>
          <p:cNvSpPr/>
          <p:nvPr/>
        </p:nvSpPr>
        <p:spPr>
          <a:xfrm>
            <a:off x="2265334" y="5200997"/>
            <a:ext cx="101600" cy="101600"/>
          </a:xfrm>
          <a:prstGeom prst="ellipse">
            <a:avLst/>
          </a:prstGeom>
          <a:solidFill>
            <a:srgbClr val="8C2F39"/>
          </a:solidFill>
          <a:ln w="12700">
            <a:solidFill>
              <a:srgbClr val="F6F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92334" y="5177502"/>
            <a:ext cx="691515" cy="1485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81514"/>
                </a:solidFill>
                <a:latin typeface="Newsreader"/>
              </a:rPr>
              <a:t>Experiments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58235" y="2031829"/>
            <a:ext cx="1633785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81514"/>
                </a:solidFill>
                <a:latin typeface="Newsreader"/>
              </a:rPr>
              <a:t>Headcount</a:t>
            </a:r>
          </a:p>
        </p:txBody>
      </p:sp>
      <p:sp>
        <p:nvSpPr>
          <p:cNvPr id="45" name="Oval 44"/>
          <p:cNvSpPr/>
          <p:nvPr/>
        </p:nvSpPr>
        <p:spPr>
          <a:xfrm>
            <a:off x="9479037" y="2379682"/>
            <a:ext cx="101600" cy="1016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31437" y="2323802"/>
            <a:ext cx="14605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15</a:t>
            </a:r>
          </a:p>
        </p:txBody>
      </p:sp>
      <p:sp>
        <p:nvSpPr>
          <p:cNvPr id="47" name="Oval 46"/>
          <p:cNvSpPr/>
          <p:nvPr/>
        </p:nvSpPr>
        <p:spPr>
          <a:xfrm>
            <a:off x="9479037" y="2626900"/>
            <a:ext cx="508000" cy="5080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37837" y="2774220"/>
            <a:ext cx="10541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107.5</a:t>
            </a:r>
          </a:p>
        </p:txBody>
      </p:sp>
      <p:sp>
        <p:nvSpPr>
          <p:cNvPr id="49" name="Oval 48"/>
          <p:cNvSpPr/>
          <p:nvPr/>
        </p:nvSpPr>
        <p:spPr>
          <a:xfrm>
            <a:off x="9479037" y="3280518"/>
            <a:ext cx="711200" cy="711200"/>
          </a:xfrm>
          <a:prstGeom prst="ellipse">
            <a:avLst/>
          </a:prstGeom>
          <a:solidFill>
            <a:srgbClr val="6F6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41037" y="3529438"/>
            <a:ext cx="850983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81514"/>
                </a:solidFill>
                <a:latin typeface="IBM Plex Mono"/>
              </a:rPr>
              <a:t>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