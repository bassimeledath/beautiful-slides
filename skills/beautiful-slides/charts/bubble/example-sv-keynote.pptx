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anrope"/>
              </a:rPr>
              <a:t>Market opportunity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4125" y="5567934"/>
            <a:ext cx="7820097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4125" y="5090531"/>
            <a:ext cx="7820097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4125" y="4613128"/>
            <a:ext cx="7820097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34125" y="4135726"/>
            <a:ext cx="7820097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34125" y="3658323"/>
            <a:ext cx="7820097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4125" y="3180920"/>
            <a:ext cx="7820097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4125" y="2703518"/>
            <a:ext cx="7820097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34125" y="2226115"/>
            <a:ext cx="7820097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34125" y="1748713"/>
            <a:ext cx="7820097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34125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51281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68438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85595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02751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19908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37065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54222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34125" y="5567934"/>
            <a:ext cx="7820097" cy="0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34125" y="1748713"/>
            <a:ext cx="0" cy="3819221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3535" y="5443474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535" y="4966071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535" y="4488669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535" y="4011266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535" y="3533864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535" y="3056461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535" y="2579058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535" y="2101656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535" y="1624253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115" y="5599137"/>
            <a:ext cx="156401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9272" y="5599137"/>
            <a:ext cx="156401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6428" y="5599137"/>
            <a:ext cx="156401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03585" y="5599137"/>
            <a:ext cx="156401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0742" y="5599137"/>
            <a:ext cx="156401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7899" y="5599137"/>
            <a:ext cx="156401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5055" y="5599137"/>
            <a:ext cx="156401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2212" y="5599137"/>
            <a:ext cx="1564019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4125" y="5858458"/>
            <a:ext cx="782009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Market growth (%)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4125" y="1423111"/>
            <a:ext cx="7820097" cy="3048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Market share (%)</a:t>
            </a:r>
          </a:p>
        </p:txBody>
      </p:sp>
      <p:sp>
        <p:nvSpPr>
          <p:cNvPr id="42" name="Oval 41"/>
          <p:cNvSpPr/>
          <p:nvPr/>
        </p:nvSpPr>
        <p:spPr>
          <a:xfrm>
            <a:off x="7881465" y="2109216"/>
            <a:ext cx="711200" cy="71120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50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18065" y="2374011"/>
            <a:ext cx="384175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Delta</a:t>
            </a:r>
          </a:p>
        </p:txBody>
      </p:sp>
      <p:sp>
        <p:nvSpPr>
          <p:cNvPr id="44" name="Oval 43"/>
          <p:cNvSpPr/>
          <p:nvPr/>
        </p:nvSpPr>
        <p:spPr>
          <a:xfrm>
            <a:off x="4401090" y="2919847"/>
            <a:ext cx="522146" cy="522146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50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48636" y="3090115"/>
            <a:ext cx="307340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Beta</a:t>
            </a:r>
          </a:p>
        </p:txBody>
      </p:sp>
      <p:sp>
        <p:nvSpPr>
          <p:cNvPr id="46" name="Oval 45"/>
          <p:cNvSpPr/>
          <p:nvPr/>
        </p:nvSpPr>
        <p:spPr>
          <a:xfrm>
            <a:off x="5581803" y="3460806"/>
            <a:ext cx="395034" cy="395034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50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02237" y="3567518"/>
            <a:ext cx="537845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Epsilon</a:t>
            </a:r>
          </a:p>
        </p:txBody>
      </p:sp>
      <p:sp>
        <p:nvSpPr>
          <p:cNvPr id="48" name="Oval 47"/>
          <p:cNvSpPr/>
          <p:nvPr/>
        </p:nvSpPr>
        <p:spPr>
          <a:xfrm>
            <a:off x="2743741" y="4243455"/>
            <a:ext cx="261944" cy="261944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50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31085" y="4283622"/>
            <a:ext cx="384175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Alpha</a:t>
            </a:r>
          </a:p>
        </p:txBody>
      </p:sp>
      <p:sp>
        <p:nvSpPr>
          <p:cNvPr id="50" name="Oval 49"/>
          <p:cNvSpPr/>
          <p:nvPr/>
        </p:nvSpPr>
        <p:spPr>
          <a:xfrm>
            <a:off x="6510530" y="4944250"/>
            <a:ext cx="101600" cy="10160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50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37530" y="4904245"/>
            <a:ext cx="384175" cy="181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Gamma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58235" y="2130635"/>
            <a:ext cx="1633785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Manrope"/>
              </a:rPr>
              <a:t>Revenue ($M)</a:t>
            </a:r>
          </a:p>
        </p:txBody>
      </p:sp>
      <p:sp>
        <p:nvSpPr>
          <p:cNvPr id="53" name="Oval 52"/>
          <p:cNvSpPr/>
          <p:nvPr/>
        </p:nvSpPr>
        <p:spPr>
          <a:xfrm>
            <a:off x="9479037" y="2519128"/>
            <a:ext cx="101600" cy="1016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31437" y="2445468"/>
            <a:ext cx="146058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30</a:t>
            </a:r>
          </a:p>
        </p:txBody>
      </p:sp>
      <p:sp>
        <p:nvSpPr>
          <p:cNvPr id="55" name="Oval 54"/>
          <p:cNvSpPr/>
          <p:nvPr/>
        </p:nvSpPr>
        <p:spPr>
          <a:xfrm>
            <a:off x="9479037" y="2766346"/>
            <a:ext cx="508000" cy="5080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37837" y="2895886"/>
            <a:ext cx="105418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115</a:t>
            </a:r>
          </a:p>
        </p:txBody>
      </p:sp>
      <p:sp>
        <p:nvSpPr>
          <p:cNvPr id="57" name="Oval 56"/>
          <p:cNvSpPr/>
          <p:nvPr/>
        </p:nvSpPr>
        <p:spPr>
          <a:xfrm>
            <a:off x="9479037" y="3419964"/>
            <a:ext cx="711200" cy="7112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41037" y="3651104"/>
            <a:ext cx="85098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