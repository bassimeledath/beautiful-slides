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1B1F"/>
                </a:solidFill>
                <a:latin typeface="Bricolage Grotesque"/>
              </a:rPr>
              <a:t>Startup ecosystem snapshot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34125" y="5567934"/>
            <a:ext cx="7820097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4125" y="5022331"/>
            <a:ext cx="7820097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4125" y="4476728"/>
            <a:ext cx="7820097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34125" y="3931125"/>
            <a:ext cx="7820097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34125" y="3385522"/>
            <a:ext cx="7820097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34125" y="2839919"/>
            <a:ext cx="7820097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34125" y="2294316"/>
            <a:ext cx="7820097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34125" y="1748713"/>
            <a:ext cx="7820097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34125" y="1748713"/>
            <a:ext cx="0" cy="3819221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98144" y="1748713"/>
            <a:ext cx="0" cy="3819221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62163" y="1748713"/>
            <a:ext cx="0" cy="3819221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226183" y="1748713"/>
            <a:ext cx="0" cy="3819221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90202" y="1748713"/>
            <a:ext cx="0" cy="3819221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354222" y="1748713"/>
            <a:ext cx="0" cy="3819221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34125" y="5567934"/>
            <a:ext cx="7820097" cy="0"/>
          </a:xfrm>
          <a:prstGeom prst="line">
            <a:avLst/>
          </a:prstGeom>
          <a:ln w="9525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34125" y="1748713"/>
            <a:ext cx="0" cy="3819221"/>
          </a:xfrm>
          <a:prstGeom prst="line">
            <a:avLst/>
          </a:prstGeom>
          <a:ln w="9525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3535" y="5443474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535" y="4897871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535" y="4352268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535" y="3806665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535" y="3261062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535" y="2715459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535" y="2169856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3535" y="1624253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445" y="5599137"/>
            <a:ext cx="2085359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-20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5464" y="5599137"/>
            <a:ext cx="2085359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9484" y="5599137"/>
            <a:ext cx="2085359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3503" y="5599137"/>
            <a:ext cx="2085359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7523" y="5599137"/>
            <a:ext cx="2085359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542" y="5599137"/>
            <a:ext cx="2085359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34125" y="5858458"/>
            <a:ext cx="7820097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Plus Jakarta Sans"/>
              </a:rPr>
              <a:t>Funding round ($M)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4125" y="1423111"/>
            <a:ext cx="7820097" cy="3048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Monthly growth (%)</a:t>
            </a:r>
          </a:p>
        </p:txBody>
      </p:sp>
      <p:sp>
        <p:nvSpPr>
          <p:cNvPr id="36" name="Oval 35"/>
          <p:cNvSpPr/>
          <p:nvPr/>
        </p:nvSpPr>
        <p:spPr>
          <a:xfrm>
            <a:off x="8216612" y="4121128"/>
            <a:ext cx="711200" cy="71120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53212" y="4385923"/>
            <a:ext cx="307340" cy="1816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Late</a:t>
            </a:r>
          </a:p>
        </p:txBody>
      </p:sp>
      <p:sp>
        <p:nvSpPr>
          <p:cNvPr id="38" name="Oval 37"/>
          <p:cNvSpPr/>
          <p:nvPr/>
        </p:nvSpPr>
        <p:spPr>
          <a:xfrm>
            <a:off x="6701283" y="2533010"/>
            <a:ext cx="613818" cy="613818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40501" y="2749114"/>
            <a:ext cx="537845" cy="1816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SeriesC</a:t>
            </a:r>
          </a:p>
        </p:txBody>
      </p:sp>
      <p:sp>
        <p:nvSpPr>
          <p:cNvPr id="40" name="Oval 39"/>
          <p:cNvSpPr/>
          <p:nvPr/>
        </p:nvSpPr>
        <p:spPr>
          <a:xfrm>
            <a:off x="5613746" y="3382331"/>
            <a:ext cx="442864" cy="442864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2010" y="3512958"/>
            <a:ext cx="614680" cy="1816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SeriesB2</a:t>
            </a:r>
          </a:p>
        </p:txBody>
      </p:sp>
      <p:sp>
        <p:nvSpPr>
          <p:cNvPr id="42" name="Oval 41"/>
          <p:cNvSpPr/>
          <p:nvPr/>
        </p:nvSpPr>
        <p:spPr>
          <a:xfrm>
            <a:off x="4863092" y="2104240"/>
            <a:ext cx="380152" cy="380152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68644" y="2203511"/>
            <a:ext cx="614680" cy="1816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SeriesB1</a:t>
            </a:r>
          </a:p>
        </p:txBody>
      </p:sp>
      <p:sp>
        <p:nvSpPr>
          <p:cNvPr id="44" name="Oval 43"/>
          <p:cNvSpPr/>
          <p:nvPr/>
        </p:nvSpPr>
        <p:spPr>
          <a:xfrm>
            <a:off x="4129737" y="4553548"/>
            <a:ext cx="282842" cy="282842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7979" y="4604164"/>
            <a:ext cx="614680" cy="1816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SeriesA2</a:t>
            </a:r>
          </a:p>
        </p:txBody>
      </p:sp>
      <p:sp>
        <p:nvSpPr>
          <p:cNvPr id="46" name="Oval 45"/>
          <p:cNvSpPr/>
          <p:nvPr/>
        </p:nvSpPr>
        <p:spPr>
          <a:xfrm>
            <a:off x="3763757" y="3269125"/>
            <a:ext cx="232794" cy="232794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21951" y="3294717"/>
            <a:ext cx="614680" cy="1816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SeriesA1</a:t>
            </a:r>
          </a:p>
        </p:txBody>
      </p:sp>
      <p:sp>
        <p:nvSpPr>
          <p:cNvPr id="48" name="Oval 47"/>
          <p:cNvSpPr/>
          <p:nvPr/>
        </p:nvSpPr>
        <p:spPr>
          <a:xfrm>
            <a:off x="3417307" y="4186644"/>
            <a:ext cx="143684" cy="143684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86391" y="4167681"/>
            <a:ext cx="384175" cy="1816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Seed2</a:t>
            </a:r>
          </a:p>
        </p:txBody>
      </p:sp>
      <p:sp>
        <p:nvSpPr>
          <p:cNvPr id="50" name="Oval 49"/>
          <p:cNvSpPr/>
          <p:nvPr/>
        </p:nvSpPr>
        <p:spPr>
          <a:xfrm>
            <a:off x="3203746" y="4971531"/>
            <a:ext cx="101600" cy="10160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0746" y="4931526"/>
            <a:ext cx="384175" cy="1816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Seed1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58235" y="2130635"/>
            <a:ext cx="1633785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1B1F"/>
                </a:solidFill>
                <a:latin typeface="Plus Jakarta Sans"/>
              </a:rPr>
              <a:t>Team size</a:t>
            </a:r>
          </a:p>
        </p:txBody>
      </p:sp>
      <p:sp>
        <p:nvSpPr>
          <p:cNvPr id="53" name="Oval 52"/>
          <p:cNvSpPr/>
          <p:nvPr/>
        </p:nvSpPr>
        <p:spPr>
          <a:xfrm>
            <a:off x="9479037" y="2519128"/>
            <a:ext cx="101600" cy="101600"/>
          </a:xfrm>
          <a:prstGeom prst="ellipse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31437" y="2445468"/>
            <a:ext cx="146058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Recursive Mono"/>
              </a:rPr>
              <a:t>8</a:t>
            </a:r>
          </a:p>
        </p:txBody>
      </p:sp>
      <p:sp>
        <p:nvSpPr>
          <p:cNvPr id="55" name="Oval 54"/>
          <p:cNvSpPr/>
          <p:nvPr/>
        </p:nvSpPr>
        <p:spPr>
          <a:xfrm>
            <a:off x="9479037" y="2766346"/>
            <a:ext cx="508000" cy="508000"/>
          </a:xfrm>
          <a:prstGeom prst="ellipse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37837" y="2895886"/>
            <a:ext cx="105418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Recursive Mono"/>
              </a:rPr>
              <a:t>104</a:t>
            </a:r>
          </a:p>
        </p:txBody>
      </p:sp>
      <p:sp>
        <p:nvSpPr>
          <p:cNvPr id="57" name="Oval 56"/>
          <p:cNvSpPr/>
          <p:nvPr/>
        </p:nvSpPr>
        <p:spPr>
          <a:xfrm>
            <a:off x="9479037" y="3419964"/>
            <a:ext cx="711200" cy="711200"/>
          </a:xfrm>
          <a:prstGeom prst="ellipse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41037" y="3651104"/>
            <a:ext cx="85098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Recursive Mono"/>
              </a:rPr>
              <a:t>200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