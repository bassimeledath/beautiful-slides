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Market share shift, 2024 vs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124573"/>
            <a:ext cx="2062831" cy="330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>
                <a:solidFill>
                  <a:srgbClr val="101828"/>
                </a:solidFill>
                <a:latin typeface="Public Sans"/>
              </a:rPr>
              <a:t>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48678" y="1124573"/>
            <a:ext cx="2062831" cy="330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>
                <a:solidFill>
                  <a:srgbClr val="101828"/>
                </a:solidFill>
                <a:latin typeface="Public Sans"/>
              </a:rPr>
              <a:t>2025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43017" y="1847287"/>
            <a:ext cx="6905661" cy="607754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598567" y="1802837"/>
            <a:ext cx="88900" cy="889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4228" y="2410591"/>
            <a:ext cx="88900" cy="889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186" y="1725367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Alpha Corp  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05" y="2333121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Public Sans"/>
              </a:rPr>
              <a:t>28%  Alpha Corp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643017" y="2151164"/>
            <a:ext cx="6905661" cy="759692"/>
          </a:xfrm>
          <a:prstGeom prst="line">
            <a:avLst/>
          </a:prstGeom>
          <a:ln w="2540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98567" y="2866406"/>
            <a:ext cx="88900" cy="889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4228" y="2106714"/>
            <a:ext cx="88900" cy="889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186" y="2788936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01828"/>
                </a:solidFill>
                <a:latin typeface="Public Sans"/>
              </a:rPr>
              <a:t>Beta Inc 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3005" y="2029244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Public Sans"/>
              </a:rPr>
              <a:t>30%  Beta Inc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643017" y="3822487"/>
            <a:ext cx="6905661" cy="151939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598567" y="3929976"/>
            <a:ext cx="88900" cy="889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4228" y="3778037"/>
            <a:ext cx="88900" cy="889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186" y="3852506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Gamma Ltd  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3005" y="3700567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Public Sans"/>
              </a:rPr>
              <a:t>19%  Gamma Ltd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43017" y="4430241"/>
            <a:ext cx="6905661" cy="151939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598567" y="4385791"/>
            <a:ext cx="88900" cy="889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04228" y="4537730"/>
            <a:ext cx="88900" cy="889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186" y="4308321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Delta Co  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3005" y="4460260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Public Sans"/>
              </a:rPr>
              <a:t>14%  Delta Co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43017" y="5189934"/>
            <a:ext cx="6905661" cy="151938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98567" y="5145484"/>
            <a:ext cx="88900" cy="889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4228" y="5297422"/>
            <a:ext cx="88900" cy="889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186" y="5068014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Epsilon AG  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3005" y="5219952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Public Sans"/>
              </a:rPr>
              <a:t>9%  Epsilon AG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643017" y="4886057"/>
            <a:ext cx="6905661" cy="607754"/>
          </a:xfrm>
          <a:prstGeom prst="line">
            <a:avLst/>
          </a:prstGeom>
          <a:ln w="2540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598567" y="5449361"/>
            <a:ext cx="88900" cy="889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04228" y="4841607"/>
            <a:ext cx="88900" cy="88900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186" y="5371891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01828"/>
                </a:solidFill>
                <a:latin typeface="Public Sans"/>
              </a:rPr>
              <a:t>Zeta Group  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3005" y="4764137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Public Sans"/>
              </a:rPr>
              <a:t>12%  Zeta Group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43017" y="5797688"/>
            <a:ext cx="6905661" cy="151938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598567" y="5753238"/>
            <a:ext cx="88900" cy="889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04228" y="5905176"/>
            <a:ext cx="88900" cy="889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186" y="5675768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Eta Partners  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3005" y="5827706"/>
            <a:ext cx="1998504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Public Sans"/>
              </a:rPr>
              <a:t>5%  Eta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