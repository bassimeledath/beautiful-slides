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solidFill>
            <a:srgbClr val="05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0186" y="580186"/>
            <a:ext cx="11031323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Manrope"/>
              </a:rPr>
              <a:t>Market share shift, 2024 vs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0186" y="1261733"/>
            <a:ext cx="2062831" cy="431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700" b="1">
                <a:solidFill>
                  <a:srgbClr val="F5F7FA"/>
                </a:solidFill>
                <a:latin typeface="Manrope"/>
              </a:rPr>
              <a:t>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48678" y="1261733"/>
            <a:ext cx="2062831" cy="431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700" b="1">
                <a:solidFill>
                  <a:srgbClr val="F5F7FA"/>
                </a:solidFill>
                <a:latin typeface="Manrope"/>
              </a:rPr>
              <a:t>2025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43017" y="2069580"/>
            <a:ext cx="6905661" cy="577262"/>
          </a:xfrm>
          <a:prstGeom prst="line">
            <a:avLst/>
          </a:prstGeom>
          <a:ln w="1270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2598567" y="2025130"/>
            <a:ext cx="88900" cy="88900"/>
          </a:xfrm>
          <a:prstGeom prst="ellipse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04228" y="2602392"/>
            <a:ext cx="88900" cy="88900"/>
          </a:xfrm>
          <a:prstGeom prst="ellipse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0186" y="1907020"/>
            <a:ext cx="1998504" cy="325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F5F7FA"/>
                </a:solidFill>
                <a:latin typeface="Manrope"/>
              </a:rPr>
              <a:t>Alpha Corp  32%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13005" y="2553283"/>
            <a:ext cx="1998504" cy="325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Manrope"/>
              </a:rPr>
              <a:t>28%  Alpha Corp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2643017" y="2358211"/>
            <a:ext cx="6905661" cy="721576"/>
          </a:xfrm>
          <a:prstGeom prst="line">
            <a:avLst/>
          </a:prstGeom>
          <a:ln w="2540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598567" y="3035337"/>
            <a:ext cx="88900" cy="88900"/>
          </a:xfrm>
          <a:prstGeom prst="ellipse">
            <a:avLst/>
          </a:prstGeom>
          <a:solidFill>
            <a:srgbClr val="21D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04228" y="2313761"/>
            <a:ext cx="88900" cy="88900"/>
          </a:xfrm>
          <a:prstGeom prst="ellipse">
            <a:avLst/>
          </a:prstGeom>
          <a:solidFill>
            <a:srgbClr val="21D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186" y="2917227"/>
            <a:ext cx="1998504" cy="325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F5F7FA"/>
                </a:solidFill>
                <a:latin typeface="Manrope"/>
              </a:rPr>
              <a:t>Beta Inc  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13005" y="2195651"/>
            <a:ext cx="1998504" cy="325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Manrope"/>
              </a:rPr>
              <a:t>30%  Beta Inc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2643017" y="3945679"/>
            <a:ext cx="6905661" cy="144315"/>
          </a:xfrm>
          <a:prstGeom prst="line">
            <a:avLst/>
          </a:prstGeom>
          <a:ln w="1270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598567" y="4045544"/>
            <a:ext cx="88900" cy="88900"/>
          </a:xfrm>
          <a:prstGeom prst="ellipse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504228" y="3901229"/>
            <a:ext cx="88900" cy="88900"/>
          </a:xfrm>
          <a:prstGeom prst="ellipse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0186" y="3927434"/>
            <a:ext cx="1998504" cy="325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F5F7FA"/>
                </a:solidFill>
                <a:latin typeface="Manrope"/>
              </a:rPr>
              <a:t>Gamma Ltd  18%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13005" y="3783119"/>
            <a:ext cx="1998504" cy="325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Manrope"/>
              </a:rPr>
              <a:t>19%  Gamma Ltd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43017" y="4522940"/>
            <a:ext cx="6905661" cy="144315"/>
          </a:xfrm>
          <a:prstGeom prst="line">
            <a:avLst/>
          </a:prstGeom>
          <a:ln w="1270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2598567" y="4478490"/>
            <a:ext cx="88900" cy="88900"/>
          </a:xfrm>
          <a:prstGeom prst="ellipse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04228" y="4622805"/>
            <a:ext cx="88900" cy="88900"/>
          </a:xfrm>
          <a:prstGeom prst="ellipse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0186" y="4360380"/>
            <a:ext cx="1998504" cy="325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F5F7FA"/>
                </a:solidFill>
                <a:latin typeface="Manrope"/>
              </a:rPr>
              <a:t>Delta Co  15%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13005" y="4504695"/>
            <a:ext cx="1998504" cy="325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Manrope"/>
              </a:rPr>
              <a:t>14%  Delta Co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643017" y="5244516"/>
            <a:ext cx="6905661" cy="144315"/>
          </a:xfrm>
          <a:prstGeom prst="line">
            <a:avLst/>
          </a:prstGeom>
          <a:ln w="1270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598567" y="5200066"/>
            <a:ext cx="88900" cy="88900"/>
          </a:xfrm>
          <a:prstGeom prst="ellipse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04228" y="5344381"/>
            <a:ext cx="88900" cy="88900"/>
          </a:xfrm>
          <a:prstGeom prst="ellipse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0186" y="5081956"/>
            <a:ext cx="1998504" cy="325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F5F7FA"/>
                </a:solidFill>
                <a:latin typeface="Manrope"/>
              </a:rPr>
              <a:t>Epsilon AG  10%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13005" y="5226271"/>
            <a:ext cx="1998504" cy="325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Manrope"/>
              </a:rPr>
              <a:t>9%  Epsilon AG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2643017" y="4955886"/>
            <a:ext cx="6905661" cy="577261"/>
          </a:xfrm>
          <a:prstGeom prst="line">
            <a:avLst/>
          </a:prstGeom>
          <a:ln w="2540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2598567" y="5488697"/>
            <a:ext cx="88900" cy="88900"/>
          </a:xfrm>
          <a:prstGeom prst="ellipse">
            <a:avLst/>
          </a:prstGeom>
          <a:solidFill>
            <a:srgbClr val="21D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504228" y="4911436"/>
            <a:ext cx="88900" cy="88900"/>
          </a:xfrm>
          <a:prstGeom prst="ellipse">
            <a:avLst/>
          </a:prstGeom>
          <a:solidFill>
            <a:srgbClr val="21D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0186" y="5439588"/>
            <a:ext cx="1998504" cy="325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F5F7FA"/>
                </a:solidFill>
                <a:latin typeface="Manrope"/>
              </a:rPr>
              <a:t>Zeta Group  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13005" y="4862327"/>
            <a:ext cx="1998504" cy="325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Manrope"/>
              </a:rPr>
              <a:t>12%  Zeta Group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643017" y="5821777"/>
            <a:ext cx="6905661" cy="144316"/>
          </a:xfrm>
          <a:prstGeom prst="line">
            <a:avLst/>
          </a:prstGeom>
          <a:ln w="1270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2598567" y="5777327"/>
            <a:ext cx="88900" cy="88900"/>
          </a:xfrm>
          <a:prstGeom prst="ellipse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504228" y="5921643"/>
            <a:ext cx="88900" cy="88900"/>
          </a:xfrm>
          <a:prstGeom prst="ellipse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0186" y="5797220"/>
            <a:ext cx="1998504" cy="325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F5F7FA"/>
                </a:solidFill>
                <a:latin typeface="Manrope"/>
              </a:rPr>
              <a:t>Eta Partners  6%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13005" y="5803533"/>
            <a:ext cx="1998504" cy="325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Manrope"/>
              </a:rPr>
              <a:t>5%  Eta Partners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