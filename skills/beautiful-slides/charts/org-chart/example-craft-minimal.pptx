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85216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22201C"/>
                </a:solidFill>
                <a:latin typeface="Instrument Serif"/>
              </a:rPr>
              <a:t>Engineering Organization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974662" y="2139670"/>
            <a:ext cx="20320" cy="38677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18762" y="2516280"/>
            <a:ext cx="3576220" cy="2032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18762" y="2526440"/>
            <a:ext cx="20320" cy="38677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74662" y="2139670"/>
            <a:ext cx="20320" cy="38677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74662" y="2516280"/>
            <a:ext cx="909295" cy="2032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637" y="2526440"/>
            <a:ext cx="20320" cy="38677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74662" y="2139670"/>
            <a:ext cx="20320" cy="38677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74662" y="2516280"/>
            <a:ext cx="3576220" cy="2032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30562" y="2526440"/>
            <a:ext cx="20320" cy="38677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8762" y="3837744"/>
            <a:ext cx="20320" cy="38677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40812" y="4214354"/>
            <a:ext cx="1798270" cy="2032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40812" y="4224514"/>
            <a:ext cx="20320" cy="38677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18762" y="3837744"/>
            <a:ext cx="20320" cy="38677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8762" y="4224514"/>
            <a:ext cx="20320" cy="38677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18762" y="3837744"/>
            <a:ext cx="20320" cy="38677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18762" y="4214354"/>
            <a:ext cx="1798270" cy="2032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96712" y="4224514"/>
            <a:ext cx="20320" cy="38677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637" y="3837744"/>
            <a:ext cx="20320" cy="38677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74662" y="4214354"/>
            <a:ext cx="909295" cy="2032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74662" y="4224514"/>
            <a:ext cx="20320" cy="38677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63637" y="3837744"/>
            <a:ext cx="20320" cy="38677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637" y="4214354"/>
            <a:ext cx="909295" cy="2032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52612" y="4224514"/>
            <a:ext cx="20320" cy="38677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30562" y="3837744"/>
            <a:ext cx="20320" cy="38677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530562" y="4224514"/>
            <a:ext cx="20320" cy="386770"/>
          </a:xfrm>
          <a:prstGeom prst="rect">
            <a:avLst/>
          </a:prstGeom>
          <a:solidFill>
            <a:srgbClr val="7B7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73642" y="1215136"/>
            <a:ext cx="1422360" cy="924534"/>
          </a:xfrm>
          <a:prstGeom prst="round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73642" y="1215136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strument Sans"/>
              </a:rPr>
              <a:t>Alice Chen</a:t>
            </a:r>
          </a:p>
          <a:p>
            <a:pPr algn="ctr"/>
            <a:r>
              <a:rPr sz="800" b="0">
                <a:solidFill>
                  <a:srgbClr val="DEE0DC"/>
                </a:solidFill>
                <a:latin typeface="Instrument Sans"/>
              </a:rPr>
              <a:t>CEO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17742" y="2913210"/>
            <a:ext cx="1422360" cy="924534"/>
          </a:xfrm>
          <a:prstGeom prst="roundRect">
            <a:avLst/>
          </a:prstGeom>
          <a:solidFill>
            <a:srgbClr val="8B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17742" y="2913210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strument Sans"/>
              </a:rPr>
              <a:t>Bob Park</a:t>
            </a:r>
          </a:p>
          <a:p>
            <a:pPr algn="ctr"/>
            <a:r>
              <a:rPr sz="800" b="0">
                <a:solidFill>
                  <a:srgbClr val="E2DDD5"/>
                </a:solidFill>
                <a:latin typeface="Instrument Sans"/>
              </a:rPr>
              <a:t>VP Engineering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9792" y="4611284"/>
            <a:ext cx="1422360" cy="924534"/>
          </a:xfrm>
          <a:prstGeom prst="roundRect">
            <a:avLst/>
          </a:prstGeom>
          <a:solidFill>
            <a:srgbClr val="99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9792" y="4611284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strument Sans"/>
              </a:rPr>
              <a:t>Carol Wu</a:t>
            </a:r>
          </a:p>
          <a:p>
            <a:pPr algn="ctr"/>
            <a:r>
              <a:rPr sz="800" b="0">
                <a:solidFill>
                  <a:srgbClr val="E6DACE"/>
                </a:solidFill>
                <a:latin typeface="Instrument Sans"/>
              </a:rPr>
              <a:t>Backend Lead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17742" y="4611284"/>
            <a:ext cx="1422360" cy="924534"/>
          </a:xfrm>
          <a:prstGeom prst="roundRect">
            <a:avLst/>
          </a:prstGeom>
          <a:solidFill>
            <a:srgbClr val="99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17742" y="4611284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strument Sans"/>
              </a:rPr>
              <a:t>Dan Lee</a:t>
            </a:r>
          </a:p>
          <a:p>
            <a:pPr algn="ctr"/>
            <a:r>
              <a:rPr sz="800" b="0">
                <a:solidFill>
                  <a:srgbClr val="E6DACE"/>
                </a:solidFill>
                <a:latin typeface="Instrument Sans"/>
              </a:rPr>
              <a:t>Frontend Lead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95692" y="4611284"/>
            <a:ext cx="1422360" cy="924534"/>
          </a:xfrm>
          <a:prstGeom prst="roundRect">
            <a:avLst/>
          </a:prstGeom>
          <a:solidFill>
            <a:srgbClr val="99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95692" y="4611284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strument Sans"/>
              </a:rPr>
              <a:t>Grace Kim</a:t>
            </a:r>
          </a:p>
          <a:p>
            <a:pPr algn="ctr"/>
            <a:r>
              <a:rPr sz="800" b="0">
                <a:solidFill>
                  <a:srgbClr val="E6DACE"/>
                </a:solidFill>
                <a:latin typeface="Instrument Sans"/>
              </a:rPr>
              <a:t>Infra Lead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62617" y="2913210"/>
            <a:ext cx="1422360" cy="924534"/>
          </a:xfrm>
          <a:prstGeom prst="roundRect">
            <a:avLst/>
          </a:prstGeom>
          <a:solidFill>
            <a:srgbClr val="8B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62617" y="2913210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strument Sans"/>
              </a:rPr>
              <a:t>Eve Rao</a:t>
            </a:r>
          </a:p>
          <a:p>
            <a:pPr algn="ctr"/>
            <a:r>
              <a:rPr sz="800" b="0">
                <a:solidFill>
                  <a:srgbClr val="E2DDD5"/>
                </a:solidFill>
                <a:latin typeface="Instrument Sans"/>
              </a:rPr>
              <a:t>VP Product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3642" y="4611284"/>
            <a:ext cx="1422360" cy="924534"/>
          </a:xfrm>
          <a:prstGeom prst="roundRect">
            <a:avLst/>
          </a:prstGeom>
          <a:solidFill>
            <a:srgbClr val="99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73642" y="4611284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strument Sans"/>
              </a:rPr>
              <a:t>Frank Li</a:t>
            </a:r>
          </a:p>
          <a:p>
            <a:pPr algn="ctr"/>
            <a:r>
              <a:rPr sz="800" b="0">
                <a:solidFill>
                  <a:srgbClr val="E6DACE"/>
                </a:solidFill>
                <a:latin typeface="Instrument Sans"/>
              </a:rPr>
              <a:t>Sr. PM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51592" y="4611284"/>
            <a:ext cx="1422360" cy="924534"/>
          </a:xfrm>
          <a:prstGeom prst="roundRect">
            <a:avLst/>
          </a:prstGeom>
          <a:solidFill>
            <a:srgbClr val="99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51592" y="4611284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strument Sans"/>
              </a:rPr>
              <a:t>Hana Sato</a:t>
            </a:r>
          </a:p>
          <a:p>
            <a:pPr algn="ctr"/>
            <a:r>
              <a:rPr sz="800" b="0">
                <a:solidFill>
                  <a:srgbClr val="E6DACE"/>
                </a:solidFill>
                <a:latin typeface="Instrument Sans"/>
              </a:rPr>
              <a:t>PM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29542" y="2913210"/>
            <a:ext cx="1422360" cy="924534"/>
          </a:xfrm>
          <a:prstGeom prst="roundRect">
            <a:avLst/>
          </a:prstGeom>
          <a:solidFill>
            <a:srgbClr val="8B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29542" y="2913210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strument Sans"/>
              </a:rPr>
              <a:t>Ivan Petrov</a:t>
            </a:r>
          </a:p>
          <a:p>
            <a:pPr algn="ctr"/>
            <a:r>
              <a:rPr sz="800" b="0">
                <a:solidFill>
                  <a:srgbClr val="E2DDD5"/>
                </a:solidFill>
                <a:latin typeface="Instrument Sans"/>
              </a:rPr>
              <a:t>VP Design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829542" y="4611284"/>
            <a:ext cx="1422360" cy="924534"/>
          </a:xfrm>
          <a:prstGeom prst="roundRect">
            <a:avLst/>
          </a:prstGeom>
          <a:solidFill>
            <a:srgbClr val="99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29542" y="4611284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strument Sans"/>
              </a:rPr>
              <a:t>Jade Obi</a:t>
            </a:r>
          </a:p>
          <a:p>
            <a:pPr algn="ctr"/>
            <a:r>
              <a:rPr sz="800" b="0">
                <a:solidFill>
                  <a:srgbClr val="E6DACE"/>
                </a:solidFill>
                <a:latin typeface="Instrument Sans"/>
              </a:rPr>
              <a:t>UX Lead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