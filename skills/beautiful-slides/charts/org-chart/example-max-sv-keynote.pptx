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48640"/>
            <a:ext cx="11094415" cy="5760720"/>
          </a:xfrm>
          <a:prstGeom prst="rect">
            <a:avLst/>
          </a:prstGeom>
          <a:solidFill>
            <a:srgbClr val="0507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94415" cy="658368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/>
            <a:r>
              <a:rPr sz="2700" b="1">
                <a:solidFill>
                  <a:srgbClr val="F5F7FA"/>
                </a:solidFill>
                <a:latin typeface="Manrope"/>
              </a:rPr>
              <a:t>Global Enterprise Organization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916498" y="1875357"/>
            <a:ext cx="22860" cy="546697"/>
          </a:xfrm>
          <a:prstGeom prst="rect">
            <a:avLst/>
          </a:prstGeom>
          <a:solidFill>
            <a:srgbClr val="76B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56094" y="2410624"/>
            <a:ext cx="4183264" cy="22860"/>
          </a:xfrm>
          <a:prstGeom prst="rect">
            <a:avLst/>
          </a:prstGeom>
          <a:solidFill>
            <a:srgbClr val="76B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56094" y="2422054"/>
            <a:ext cx="22860" cy="546698"/>
          </a:xfrm>
          <a:prstGeom prst="rect">
            <a:avLst/>
          </a:prstGeom>
          <a:solidFill>
            <a:srgbClr val="76B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916498" y="1875357"/>
            <a:ext cx="22860" cy="546697"/>
          </a:xfrm>
          <a:prstGeom prst="rect">
            <a:avLst/>
          </a:prstGeom>
          <a:solidFill>
            <a:srgbClr val="76B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639138" y="2410624"/>
            <a:ext cx="300220" cy="22860"/>
          </a:xfrm>
          <a:prstGeom prst="rect">
            <a:avLst/>
          </a:prstGeom>
          <a:solidFill>
            <a:srgbClr val="76B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39138" y="2422054"/>
            <a:ext cx="22860" cy="546698"/>
          </a:xfrm>
          <a:prstGeom prst="rect">
            <a:avLst/>
          </a:prstGeom>
          <a:solidFill>
            <a:srgbClr val="76B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916498" y="1875357"/>
            <a:ext cx="22860" cy="546697"/>
          </a:xfrm>
          <a:prstGeom prst="rect">
            <a:avLst/>
          </a:prstGeom>
          <a:solidFill>
            <a:srgbClr val="76B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16498" y="2410624"/>
            <a:ext cx="2519102" cy="22860"/>
          </a:xfrm>
          <a:prstGeom prst="rect">
            <a:avLst/>
          </a:prstGeom>
          <a:solidFill>
            <a:srgbClr val="76B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412740" y="2422054"/>
            <a:ext cx="22860" cy="546698"/>
          </a:xfrm>
          <a:prstGeom prst="rect">
            <a:avLst/>
          </a:prstGeom>
          <a:solidFill>
            <a:srgbClr val="76B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916498" y="1875357"/>
            <a:ext cx="22860" cy="546697"/>
          </a:xfrm>
          <a:prstGeom prst="rect">
            <a:avLst/>
          </a:prstGeom>
          <a:solidFill>
            <a:srgbClr val="76B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916498" y="2410624"/>
            <a:ext cx="4183264" cy="22860"/>
          </a:xfrm>
          <a:prstGeom prst="rect">
            <a:avLst/>
          </a:prstGeom>
          <a:solidFill>
            <a:srgbClr val="76B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076902" y="2422054"/>
            <a:ext cx="22860" cy="546698"/>
          </a:xfrm>
          <a:prstGeom prst="rect">
            <a:avLst/>
          </a:prstGeom>
          <a:solidFill>
            <a:srgbClr val="76B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56094" y="3545661"/>
            <a:ext cx="22860" cy="546697"/>
          </a:xfrm>
          <a:prstGeom prst="rect">
            <a:avLst/>
          </a:prstGeom>
          <a:solidFill>
            <a:srgbClr val="76B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91933" y="4080928"/>
            <a:ext cx="1687021" cy="22860"/>
          </a:xfrm>
          <a:prstGeom prst="rect">
            <a:avLst/>
          </a:prstGeom>
          <a:solidFill>
            <a:srgbClr val="76B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91933" y="4092358"/>
            <a:ext cx="22860" cy="546698"/>
          </a:xfrm>
          <a:prstGeom prst="rect">
            <a:avLst/>
          </a:prstGeom>
          <a:solidFill>
            <a:srgbClr val="76B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56094" y="3545661"/>
            <a:ext cx="22860" cy="546697"/>
          </a:xfrm>
          <a:prstGeom prst="rect">
            <a:avLst/>
          </a:prstGeom>
          <a:solidFill>
            <a:srgbClr val="76B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201374" y="4080928"/>
            <a:ext cx="577580" cy="22860"/>
          </a:xfrm>
          <a:prstGeom prst="rect">
            <a:avLst/>
          </a:prstGeom>
          <a:solidFill>
            <a:srgbClr val="76B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201374" y="4092358"/>
            <a:ext cx="22860" cy="546698"/>
          </a:xfrm>
          <a:prstGeom prst="rect">
            <a:avLst/>
          </a:prstGeom>
          <a:solidFill>
            <a:srgbClr val="76B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56094" y="3545661"/>
            <a:ext cx="22860" cy="546697"/>
          </a:xfrm>
          <a:prstGeom prst="rect">
            <a:avLst/>
          </a:prstGeom>
          <a:solidFill>
            <a:srgbClr val="76B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756094" y="4080928"/>
            <a:ext cx="577581" cy="22860"/>
          </a:xfrm>
          <a:prstGeom prst="rect">
            <a:avLst/>
          </a:prstGeom>
          <a:solidFill>
            <a:srgbClr val="76B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310815" y="4092358"/>
            <a:ext cx="22860" cy="546698"/>
          </a:xfrm>
          <a:prstGeom prst="rect">
            <a:avLst/>
          </a:prstGeom>
          <a:solidFill>
            <a:srgbClr val="76B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756094" y="3545661"/>
            <a:ext cx="22860" cy="546697"/>
          </a:xfrm>
          <a:prstGeom prst="rect">
            <a:avLst/>
          </a:prstGeom>
          <a:solidFill>
            <a:srgbClr val="76B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756094" y="4080928"/>
            <a:ext cx="1687022" cy="22860"/>
          </a:xfrm>
          <a:prstGeom prst="rect">
            <a:avLst/>
          </a:prstGeom>
          <a:solidFill>
            <a:srgbClr val="76B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420256" y="4092358"/>
            <a:ext cx="22860" cy="546698"/>
          </a:xfrm>
          <a:prstGeom prst="rect">
            <a:avLst/>
          </a:prstGeom>
          <a:solidFill>
            <a:srgbClr val="76B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639138" y="3545661"/>
            <a:ext cx="22860" cy="546697"/>
          </a:xfrm>
          <a:prstGeom prst="rect">
            <a:avLst/>
          </a:prstGeom>
          <a:solidFill>
            <a:srgbClr val="76B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529697" y="4080928"/>
            <a:ext cx="1132301" cy="22860"/>
          </a:xfrm>
          <a:prstGeom prst="rect">
            <a:avLst/>
          </a:prstGeom>
          <a:solidFill>
            <a:srgbClr val="76B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529697" y="4092358"/>
            <a:ext cx="22860" cy="546698"/>
          </a:xfrm>
          <a:prstGeom prst="rect">
            <a:avLst/>
          </a:prstGeom>
          <a:solidFill>
            <a:srgbClr val="76B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639138" y="3545661"/>
            <a:ext cx="22860" cy="546697"/>
          </a:xfrm>
          <a:prstGeom prst="rect">
            <a:avLst/>
          </a:prstGeom>
          <a:solidFill>
            <a:srgbClr val="76B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639138" y="4092358"/>
            <a:ext cx="22860" cy="546698"/>
          </a:xfrm>
          <a:prstGeom prst="rect">
            <a:avLst/>
          </a:prstGeom>
          <a:solidFill>
            <a:srgbClr val="76B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639138" y="3545661"/>
            <a:ext cx="22860" cy="546697"/>
          </a:xfrm>
          <a:prstGeom prst="rect">
            <a:avLst/>
          </a:prstGeom>
          <a:solidFill>
            <a:srgbClr val="76B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639138" y="4080928"/>
            <a:ext cx="1132301" cy="22860"/>
          </a:xfrm>
          <a:prstGeom prst="rect">
            <a:avLst/>
          </a:prstGeom>
          <a:solidFill>
            <a:srgbClr val="76B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48579" y="4092358"/>
            <a:ext cx="22860" cy="546698"/>
          </a:xfrm>
          <a:prstGeom prst="rect">
            <a:avLst/>
          </a:prstGeom>
          <a:solidFill>
            <a:srgbClr val="76B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412740" y="3545661"/>
            <a:ext cx="22860" cy="546697"/>
          </a:xfrm>
          <a:prstGeom prst="rect">
            <a:avLst/>
          </a:prstGeom>
          <a:solidFill>
            <a:srgbClr val="76B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858020" y="4080928"/>
            <a:ext cx="577580" cy="22860"/>
          </a:xfrm>
          <a:prstGeom prst="rect">
            <a:avLst/>
          </a:prstGeom>
          <a:solidFill>
            <a:srgbClr val="76B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858020" y="4092358"/>
            <a:ext cx="22860" cy="546698"/>
          </a:xfrm>
          <a:prstGeom prst="rect">
            <a:avLst/>
          </a:prstGeom>
          <a:solidFill>
            <a:srgbClr val="76B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412740" y="3545661"/>
            <a:ext cx="22860" cy="546697"/>
          </a:xfrm>
          <a:prstGeom prst="rect">
            <a:avLst/>
          </a:prstGeom>
          <a:solidFill>
            <a:srgbClr val="76B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412740" y="4080928"/>
            <a:ext cx="577581" cy="22860"/>
          </a:xfrm>
          <a:prstGeom prst="rect">
            <a:avLst/>
          </a:prstGeom>
          <a:solidFill>
            <a:srgbClr val="76B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967461" y="4092358"/>
            <a:ext cx="22860" cy="546698"/>
          </a:xfrm>
          <a:prstGeom prst="rect">
            <a:avLst/>
          </a:prstGeom>
          <a:solidFill>
            <a:srgbClr val="76B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1076902" y="3545661"/>
            <a:ext cx="22860" cy="546697"/>
          </a:xfrm>
          <a:prstGeom prst="rect">
            <a:avLst/>
          </a:prstGeom>
          <a:solidFill>
            <a:srgbClr val="76B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1076902" y="4092358"/>
            <a:ext cx="22860" cy="546698"/>
          </a:xfrm>
          <a:prstGeom prst="rect">
            <a:avLst/>
          </a:prstGeom>
          <a:solidFill>
            <a:srgbClr val="76B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6484152" y="1298448"/>
            <a:ext cx="887553" cy="576909"/>
          </a:xfrm>
          <a:prstGeom prst="roundRect">
            <a:avLst/>
          </a:prstGeom>
          <a:solidFill>
            <a:srgbClr val="21D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84152" y="1298448"/>
            <a:ext cx="887553" cy="576909"/>
          </a:xfrm>
          <a:prstGeom prst="rect">
            <a:avLst/>
          </a:prstGeom>
          <a:noFill/>
        </p:spPr>
        <p:txBody>
          <a:bodyPr wrap="square" lIns="50800" rIns="50800" tIns="38100" bIns="38100" anchor="ctr">
            <a:spAutoFit/>
          </a:bodyPr>
          <a:lstStyle/>
          <a:p>
            <a:pPr algn="ctr"/>
            <a:r>
              <a:rPr sz="1000" b="1">
                <a:solidFill>
                  <a:srgbClr val="1A1A1A"/>
                </a:solidFill>
                <a:latin typeface="Manrope"/>
              </a:rPr>
              <a:t>Dr. Alexand…</a:t>
            </a:r>
          </a:p>
          <a:p>
            <a:pPr algn="ctr"/>
            <a:r>
              <a:rPr sz="700" b="0">
                <a:solidFill>
                  <a:srgbClr val="1C4853"/>
                </a:solidFill>
                <a:latin typeface="Manrope"/>
              </a:rPr>
              <a:t>Chief Executive Off…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323748" y="2968752"/>
            <a:ext cx="887553" cy="576909"/>
          </a:xfrm>
          <a:prstGeom prst="roundRect">
            <a:avLst/>
          </a:prstGeom>
          <a:solidFill>
            <a:srgbClr val="1CC5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323748" y="2968752"/>
            <a:ext cx="887553" cy="576909"/>
          </a:xfrm>
          <a:prstGeom prst="rect">
            <a:avLst/>
          </a:prstGeom>
          <a:noFill/>
        </p:spPr>
        <p:txBody>
          <a:bodyPr wrap="square" lIns="50800" rIns="50800" tIns="38100" bIns="38100" anchor="ctr">
            <a:spAutoFit/>
          </a:bodyPr>
          <a:lstStyle/>
          <a:p>
            <a:pPr algn="ctr"/>
            <a:r>
              <a:rPr sz="1000" b="1">
                <a:solidFill>
                  <a:srgbClr val="1A1A1A"/>
                </a:solidFill>
                <a:latin typeface="Manrope"/>
              </a:rPr>
              <a:t>Michael Chr…</a:t>
            </a:r>
          </a:p>
          <a:p>
            <a:pPr algn="ctr"/>
            <a:r>
              <a:rPr sz="700" b="0">
                <a:solidFill>
                  <a:srgbClr val="1A4542"/>
                </a:solidFill>
                <a:latin typeface="Manrope"/>
              </a:rPr>
              <a:t>VP Engineering &amp; Te…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59587" y="4639056"/>
            <a:ext cx="887553" cy="576909"/>
          </a:xfrm>
          <a:prstGeom prst="roundRect">
            <a:avLst/>
          </a:prstGeom>
          <a:solidFill>
            <a:srgbClr val="18B5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59587" y="4639056"/>
            <a:ext cx="887553" cy="576909"/>
          </a:xfrm>
          <a:prstGeom prst="rect">
            <a:avLst/>
          </a:prstGeom>
          <a:noFill/>
        </p:spPr>
        <p:txBody>
          <a:bodyPr wrap="square" lIns="50800" rIns="50800" tIns="38100" bIns="3810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anrope"/>
              </a:rPr>
              <a:t>Sarah Eliza…</a:t>
            </a:r>
          </a:p>
          <a:p>
            <a:pPr algn="ctr"/>
            <a:r>
              <a:rPr sz="700" b="0">
                <a:solidFill>
                  <a:srgbClr val="C5ECDD"/>
                </a:solidFill>
                <a:latin typeface="Manrope"/>
              </a:rPr>
              <a:t>Director of Backend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769028" y="4639056"/>
            <a:ext cx="887553" cy="576909"/>
          </a:xfrm>
          <a:prstGeom prst="roundRect">
            <a:avLst/>
          </a:prstGeom>
          <a:solidFill>
            <a:srgbClr val="18B5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769028" y="4639056"/>
            <a:ext cx="887553" cy="576909"/>
          </a:xfrm>
          <a:prstGeom prst="rect">
            <a:avLst/>
          </a:prstGeom>
          <a:noFill/>
        </p:spPr>
        <p:txBody>
          <a:bodyPr wrap="square" lIns="50800" rIns="50800" tIns="38100" bIns="3810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anrope"/>
              </a:rPr>
              <a:t>James Rober…</a:t>
            </a:r>
          </a:p>
          <a:p>
            <a:pPr algn="ctr"/>
            <a:r>
              <a:rPr sz="700" b="0">
                <a:solidFill>
                  <a:srgbClr val="C5ECDD"/>
                </a:solidFill>
                <a:latin typeface="Manrope"/>
              </a:rPr>
              <a:t>Director of Frontend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878469" y="4639056"/>
            <a:ext cx="887553" cy="576909"/>
          </a:xfrm>
          <a:prstGeom prst="roundRect">
            <a:avLst/>
          </a:prstGeom>
          <a:solidFill>
            <a:srgbClr val="18B5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878469" y="4639056"/>
            <a:ext cx="887553" cy="576909"/>
          </a:xfrm>
          <a:prstGeom prst="rect">
            <a:avLst/>
          </a:prstGeom>
          <a:noFill/>
        </p:spPr>
        <p:txBody>
          <a:bodyPr wrap="square" lIns="50800" rIns="50800" tIns="38100" bIns="3810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anrope"/>
              </a:rPr>
              <a:t>Patricia An…</a:t>
            </a:r>
          </a:p>
          <a:p>
            <a:pPr algn="ctr"/>
            <a:r>
              <a:rPr sz="700" b="0">
                <a:solidFill>
                  <a:srgbClr val="C5ECDD"/>
                </a:solidFill>
                <a:latin typeface="Manrope"/>
              </a:rPr>
              <a:t>Director of Infrast…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987910" y="4639056"/>
            <a:ext cx="887553" cy="576909"/>
          </a:xfrm>
          <a:prstGeom prst="roundRect">
            <a:avLst/>
          </a:prstGeom>
          <a:solidFill>
            <a:srgbClr val="18B5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987910" y="4639056"/>
            <a:ext cx="887553" cy="576909"/>
          </a:xfrm>
          <a:prstGeom prst="rect">
            <a:avLst/>
          </a:prstGeom>
          <a:noFill/>
        </p:spPr>
        <p:txBody>
          <a:bodyPr wrap="square" lIns="50800" rIns="50800" tIns="38100" bIns="3810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anrope"/>
              </a:rPr>
              <a:t>William Tho…</a:t>
            </a:r>
          </a:p>
          <a:p>
            <a:pPr algn="ctr"/>
            <a:r>
              <a:rPr sz="700" b="0">
                <a:solidFill>
                  <a:srgbClr val="C5ECDD"/>
                </a:solidFill>
                <a:latin typeface="Manrope"/>
              </a:rPr>
              <a:t>Director of Security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206792" y="2968752"/>
            <a:ext cx="887553" cy="576909"/>
          </a:xfrm>
          <a:prstGeom prst="roundRect">
            <a:avLst/>
          </a:prstGeom>
          <a:solidFill>
            <a:srgbClr val="1CC5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206792" y="2968752"/>
            <a:ext cx="887553" cy="576909"/>
          </a:xfrm>
          <a:prstGeom prst="rect">
            <a:avLst/>
          </a:prstGeom>
          <a:noFill/>
        </p:spPr>
        <p:txBody>
          <a:bodyPr wrap="square" lIns="50800" rIns="50800" tIns="38100" bIns="38100" anchor="ctr">
            <a:spAutoFit/>
          </a:bodyPr>
          <a:lstStyle/>
          <a:p>
            <a:pPr algn="ctr"/>
            <a:r>
              <a:rPr sz="1000" b="1">
                <a:solidFill>
                  <a:srgbClr val="1A1A1A"/>
                </a:solidFill>
                <a:latin typeface="Manrope"/>
              </a:rPr>
              <a:t>Jennifer Ma…</a:t>
            </a:r>
          </a:p>
          <a:p>
            <a:pPr algn="ctr"/>
            <a:r>
              <a:rPr sz="700" b="0">
                <a:solidFill>
                  <a:srgbClr val="1A4542"/>
                </a:solidFill>
                <a:latin typeface="Manrope"/>
              </a:rPr>
              <a:t>VP Product Manageme…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097351" y="4639056"/>
            <a:ext cx="887553" cy="576909"/>
          </a:xfrm>
          <a:prstGeom prst="roundRect">
            <a:avLst/>
          </a:prstGeom>
          <a:solidFill>
            <a:srgbClr val="18B5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097351" y="4639056"/>
            <a:ext cx="887553" cy="576909"/>
          </a:xfrm>
          <a:prstGeom prst="rect">
            <a:avLst/>
          </a:prstGeom>
          <a:noFill/>
        </p:spPr>
        <p:txBody>
          <a:bodyPr wrap="square" lIns="50800" rIns="50800" tIns="38100" bIns="3810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anrope"/>
              </a:rPr>
              <a:t>Christopher…</a:t>
            </a:r>
          </a:p>
          <a:p>
            <a:pPr algn="ctr"/>
            <a:r>
              <a:rPr sz="700" b="0">
                <a:solidFill>
                  <a:srgbClr val="C5ECDD"/>
                </a:solidFill>
                <a:latin typeface="Manrope"/>
              </a:rPr>
              <a:t>Senior Product Mana…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206792" y="4639056"/>
            <a:ext cx="887553" cy="576909"/>
          </a:xfrm>
          <a:prstGeom prst="roundRect">
            <a:avLst/>
          </a:prstGeom>
          <a:solidFill>
            <a:srgbClr val="18B5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206792" y="4639056"/>
            <a:ext cx="887553" cy="576909"/>
          </a:xfrm>
          <a:prstGeom prst="rect">
            <a:avLst/>
          </a:prstGeom>
          <a:noFill/>
        </p:spPr>
        <p:txBody>
          <a:bodyPr wrap="square" lIns="50800" rIns="50800" tIns="38100" bIns="3810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anrope"/>
              </a:rPr>
              <a:t>Jessica Lyn…</a:t>
            </a:r>
          </a:p>
          <a:p>
            <a:pPr algn="ctr"/>
            <a:r>
              <a:rPr sz="700" b="0">
                <a:solidFill>
                  <a:srgbClr val="C5ECDD"/>
                </a:solidFill>
                <a:latin typeface="Manrope"/>
              </a:rPr>
              <a:t>Product Manager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7316233" y="4639056"/>
            <a:ext cx="887553" cy="576909"/>
          </a:xfrm>
          <a:prstGeom prst="roundRect">
            <a:avLst/>
          </a:prstGeom>
          <a:solidFill>
            <a:srgbClr val="18B5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316233" y="4639056"/>
            <a:ext cx="887553" cy="576909"/>
          </a:xfrm>
          <a:prstGeom prst="rect">
            <a:avLst/>
          </a:prstGeom>
          <a:noFill/>
        </p:spPr>
        <p:txBody>
          <a:bodyPr wrap="square" lIns="50800" rIns="50800" tIns="38100" bIns="3810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anrope"/>
              </a:rPr>
              <a:t>Daniel Jame…</a:t>
            </a:r>
          </a:p>
          <a:p>
            <a:pPr algn="ctr"/>
            <a:r>
              <a:rPr sz="700" b="0">
                <a:solidFill>
                  <a:srgbClr val="C5ECDD"/>
                </a:solidFill>
                <a:latin typeface="Manrope"/>
              </a:rPr>
              <a:t>Product Analyst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8980394" y="2968752"/>
            <a:ext cx="887553" cy="576909"/>
          </a:xfrm>
          <a:prstGeom prst="roundRect">
            <a:avLst/>
          </a:prstGeom>
          <a:solidFill>
            <a:srgbClr val="1CC5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980394" y="2968752"/>
            <a:ext cx="887553" cy="576909"/>
          </a:xfrm>
          <a:prstGeom prst="rect">
            <a:avLst/>
          </a:prstGeom>
          <a:noFill/>
        </p:spPr>
        <p:txBody>
          <a:bodyPr wrap="square" lIns="50800" rIns="50800" tIns="38100" bIns="38100" anchor="ctr">
            <a:spAutoFit/>
          </a:bodyPr>
          <a:lstStyle/>
          <a:p>
            <a:pPr algn="ctr"/>
            <a:r>
              <a:rPr sz="1000" b="1">
                <a:solidFill>
                  <a:srgbClr val="1A1A1A"/>
                </a:solidFill>
                <a:latin typeface="Manrope"/>
              </a:rPr>
              <a:t>Robert Andr…</a:t>
            </a:r>
          </a:p>
          <a:p>
            <a:pPr algn="ctr"/>
            <a:r>
              <a:rPr sz="700" b="0">
                <a:solidFill>
                  <a:srgbClr val="1A4542"/>
                </a:solidFill>
                <a:latin typeface="Manrope"/>
              </a:rPr>
              <a:t>VP Design &amp; UX Rese…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8425674" y="4639056"/>
            <a:ext cx="887553" cy="576909"/>
          </a:xfrm>
          <a:prstGeom prst="roundRect">
            <a:avLst/>
          </a:prstGeom>
          <a:solidFill>
            <a:srgbClr val="18B5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425674" y="4639056"/>
            <a:ext cx="887553" cy="576909"/>
          </a:xfrm>
          <a:prstGeom prst="rect">
            <a:avLst/>
          </a:prstGeom>
          <a:noFill/>
        </p:spPr>
        <p:txBody>
          <a:bodyPr wrap="square" lIns="50800" rIns="50800" tIns="38100" bIns="3810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anrope"/>
              </a:rPr>
              <a:t>Amanda Nico…</a:t>
            </a:r>
          </a:p>
          <a:p>
            <a:pPr algn="ctr"/>
            <a:r>
              <a:rPr sz="700" b="0">
                <a:solidFill>
                  <a:srgbClr val="C5ECDD"/>
                </a:solidFill>
                <a:latin typeface="Manrope"/>
              </a:rPr>
              <a:t>UX Design Lead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9535115" y="4639056"/>
            <a:ext cx="887553" cy="576909"/>
          </a:xfrm>
          <a:prstGeom prst="roundRect">
            <a:avLst/>
          </a:prstGeom>
          <a:solidFill>
            <a:srgbClr val="18B5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535115" y="4639056"/>
            <a:ext cx="887553" cy="576909"/>
          </a:xfrm>
          <a:prstGeom prst="rect">
            <a:avLst/>
          </a:prstGeom>
          <a:noFill/>
        </p:spPr>
        <p:txBody>
          <a:bodyPr wrap="square" lIns="50800" rIns="50800" tIns="38100" bIns="3810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anrope"/>
              </a:rPr>
              <a:t>Matthew Rya…</a:t>
            </a:r>
          </a:p>
          <a:p>
            <a:pPr algn="ctr"/>
            <a:r>
              <a:rPr sz="700" b="0">
                <a:solidFill>
                  <a:srgbClr val="C5ECDD"/>
                </a:solidFill>
                <a:latin typeface="Manrope"/>
              </a:rPr>
              <a:t>Visual Design Lead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10644556" y="2968752"/>
            <a:ext cx="887553" cy="576909"/>
          </a:xfrm>
          <a:prstGeom prst="roundRect">
            <a:avLst/>
          </a:prstGeom>
          <a:solidFill>
            <a:srgbClr val="1CC5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0644556" y="2968752"/>
            <a:ext cx="887553" cy="576909"/>
          </a:xfrm>
          <a:prstGeom prst="rect">
            <a:avLst/>
          </a:prstGeom>
          <a:noFill/>
        </p:spPr>
        <p:txBody>
          <a:bodyPr wrap="square" lIns="50800" rIns="50800" tIns="38100" bIns="38100" anchor="ctr">
            <a:spAutoFit/>
          </a:bodyPr>
          <a:lstStyle/>
          <a:p>
            <a:pPr algn="ctr"/>
            <a:r>
              <a:rPr sz="1000" b="1">
                <a:solidFill>
                  <a:srgbClr val="1A1A1A"/>
                </a:solidFill>
                <a:latin typeface="Manrope"/>
              </a:rPr>
              <a:t>Katharine E…</a:t>
            </a:r>
          </a:p>
          <a:p>
            <a:pPr algn="ctr"/>
            <a:r>
              <a:rPr sz="700" b="0">
                <a:solidFill>
                  <a:srgbClr val="1A4542"/>
                </a:solidFill>
                <a:latin typeface="Manrope"/>
              </a:rPr>
              <a:t>Chief Financial Off…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10644556" y="4639056"/>
            <a:ext cx="887553" cy="576909"/>
          </a:xfrm>
          <a:prstGeom prst="roundRect">
            <a:avLst/>
          </a:prstGeom>
          <a:solidFill>
            <a:srgbClr val="18B5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0644556" y="4639056"/>
            <a:ext cx="887553" cy="576909"/>
          </a:xfrm>
          <a:prstGeom prst="rect">
            <a:avLst/>
          </a:prstGeom>
          <a:noFill/>
        </p:spPr>
        <p:txBody>
          <a:bodyPr wrap="square" lIns="50800" rIns="50800" tIns="38100" bIns="3810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anrope"/>
              </a:rPr>
              <a:t>Steven Patr…</a:t>
            </a:r>
          </a:p>
          <a:p>
            <a:pPr algn="ctr"/>
            <a:r>
              <a:rPr sz="700" b="0">
                <a:solidFill>
                  <a:srgbClr val="C5ECDD"/>
                </a:solidFill>
                <a:latin typeface="Manrope"/>
              </a:rPr>
              <a:t>Finance Director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