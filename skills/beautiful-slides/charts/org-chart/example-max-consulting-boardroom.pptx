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512064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2100" b="1">
                <a:solidFill>
                  <a:srgbClr val="101828"/>
                </a:solidFill>
                <a:latin typeface="Public Sans"/>
              </a:rPr>
              <a:t>Global Enterprise Organization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919038" y="1708733"/>
            <a:ext cx="17780" cy="574468"/>
          </a:xfrm>
          <a:prstGeom prst="rect">
            <a:avLst/>
          </a:prstGeom>
          <a:solidFill>
            <a:srgbClr val="36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58634" y="2274311"/>
            <a:ext cx="4178184" cy="17780"/>
          </a:xfrm>
          <a:prstGeom prst="rect">
            <a:avLst/>
          </a:prstGeom>
          <a:solidFill>
            <a:srgbClr val="36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58634" y="2283201"/>
            <a:ext cx="17780" cy="574468"/>
          </a:xfrm>
          <a:prstGeom prst="rect">
            <a:avLst/>
          </a:prstGeom>
          <a:solidFill>
            <a:srgbClr val="36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19038" y="1708733"/>
            <a:ext cx="17780" cy="574468"/>
          </a:xfrm>
          <a:prstGeom prst="rect">
            <a:avLst/>
          </a:prstGeom>
          <a:solidFill>
            <a:srgbClr val="36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41678" y="2274311"/>
            <a:ext cx="295140" cy="17780"/>
          </a:xfrm>
          <a:prstGeom prst="rect">
            <a:avLst/>
          </a:prstGeom>
          <a:solidFill>
            <a:srgbClr val="36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41678" y="2283201"/>
            <a:ext cx="17780" cy="574468"/>
          </a:xfrm>
          <a:prstGeom prst="rect">
            <a:avLst/>
          </a:prstGeom>
          <a:solidFill>
            <a:srgbClr val="36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19038" y="1708733"/>
            <a:ext cx="17780" cy="574468"/>
          </a:xfrm>
          <a:prstGeom prst="rect">
            <a:avLst/>
          </a:prstGeom>
          <a:solidFill>
            <a:srgbClr val="36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19038" y="2274311"/>
            <a:ext cx="2514022" cy="17780"/>
          </a:xfrm>
          <a:prstGeom prst="rect">
            <a:avLst/>
          </a:prstGeom>
          <a:solidFill>
            <a:srgbClr val="36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415280" y="2283201"/>
            <a:ext cx="17780" cy="574468"/>
          </a:xfrm>
          <a:prstGeom prst="rect">
            <a:avLst/>
          </a:prstGeom>
          <a:solidFill>
            <a:srgbClr val="36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919038" y="1708733"/>
            <a:ext cx="17780" cy="574468"/>
          </a:xfrm>
          <a:prstGeom prst="rect">
            <a:avLst/>
          </a:prstGeom>
          <a:solidFill>
            <a:srgbClr val="36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919038" y="2274311"/>
            <a:ext cx="4178184" cy="17780"/>
          </a:xfrm>
          <a:prstGeom prst="rect">
            <a:avLst/>
          </a:prstGeom>
          <a:solidFill>
            <a:srgbClr val="36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079442" y="2283201"/>
            <a:ext cx="17780" cy="574468"/>
          </a:xfrm>
          <a:prstGeom prst="rect">
            <a:avLst/>
          </a:prstGeom>
          <a:solidFill>
            <a:srgbClr val="36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58634" y="3434578"/>
            <a:ext cx="17780" cy="574468"/>
          </a:xfrm>
          <a:prstGeom prst="rect">
            <a:avLst/>
          </a:prstGeom>
          <a:solidFill>
            <a:srgbClr val="36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94473" y="4000156"/>
            <a:ext cx="1681941" cy="17780"/>
          </a:xfrm>
          <a:prstGeom prst="rect">
            <a:avLst/>
          </a:prstGeom>
          <a:solidFill>
            <a:srgbClr val="36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94473" y="4009046"/>
            <a:ext cx="17780" cy="574468"/>
          </a:xfrm>
          <a:prstGeom prst="rect">
            <a:avLst/>
          </a:prstGeom>
          <a:solidFill>
            <a:srgbClr val="36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58634" y="3434578"/>
            <a:ext cx="17780" cy="574468"/>
          </a:xfrm>
          <a:prstGeom prst="rect">
            <a:avLst/>
          </a:prstGeom>
          <a:solidFill>
            <a:srgbClr val="36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03914" y="4000156"/>
            <a:ext cx="572500" cy="17780"/>
          </a:xfrm>
          <a:prstGeom prst="rect">
            <a:avLst/>
          </a:prstGeom>
          <a:solidFill>
            <a:srgbClr val="36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203914" y="4009046"/>
            <a:ext cx="17780" cy="574468"/>
          </a:xfrm>
          <a:prstGeom prst="rect">
            <a:avLst/>
          </a:prstGeom>
          <a:solidFill>
            <a:srgbClr val="36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58634" y="3434578"/>
            <a:ext cx="17780" cy="574468"/>
          </a:xfrm>
          <a:prstGeom prst="rect">
            <a:avLst/>
          </a:prstGeom>
          <a:solidFill>
            <a:srgbClr val="36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58634" y="4000156"/>
            <a:ext cx="572501" cy="17780"/>
          </a:xfrm>
          <a:prstGeom prst="rect">
            <a:avLst/>
          </a:prstGeom>
          <a:solidFill>
            <a:srgbClr val="36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313355" y="4009046"/>
            <a:ext cx="17780" cy="574468"/>
          </a:xfrm>
          <a:prstGeom prst="rect">
            <a:avLst/>
          </a:prstGeom>
          <a:solidFill>
            <a:srgbClr val="36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58634" y="3434578"/>
            <a:ext cx="17780" cy="574468"/>
          </a:xfrm>
          <a:prstGeom prst="rect">
            <a:avLst/>
          </a:prstGeom>
          <a:solidFill>
            <a:srgbClr val="36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58634" y="4000156"/>
            <a:ext cx="1681942" cy="17780"/>
          </a:xfrm>
          <a:prstGeom prst="rect">
            <a:avLst/>
          </a:prstGeom>
          <a:solidFill>
            <a:srgbClr val="36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22796" y="4009046"/>
            <a:ext cx="17780" cy="574468"/>
          </a:xfrm>
          <a:prstGeom prst="rect">
            <a:avLst/>
          </a:prstGeom>
          <a:solidFill>
            <a:srgbClr val="36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641678" y="3434578"/>
            <a:ext cx="17780" cy="574468"/>
          </a:xfrm>
          <a:prstGeom prst="rect">
            <a:avLst/>
          </a:prstGeom>
          <a:solidFill>
            <a:srgbClr val="36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532237" y="4000156"/>
            <a:ext cx="1127221" cy="17780"/>
          </a:xfrm>
          <a:prstGeom prst="rect">
            <a:avLst/>
          </a:prstGeom>
          <a:solidFill>
            <a:srgbClr val="36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32237" y="4009046"/>
            <a:ext cx="17780" cy="574468"/>
          </a:xfrm>
          <a:prstGeom prst="rect">
            <a:avLst/>
          </a:prstGeom>
          <a:solidFill>
            <a:srgbClr val="36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641678" y="3434578"/>
            <a:ext cx="17780" cy="574468"/>
          </a:xfrm>
          <a:prstGeom prst="rect">
            <a:avLst/>
          </a:prstGeom>
          <a:solidFill>
            <a:srgbClr val="36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641678" y="4009046"/>
            <a:ext cx="17780" cy="574468"/>
          </a:xfrm>
          <a:prstGeom prst="rect">
            <a:avLst/>
          </a:prstGeom>
          <a:solidFill>
            <a:srgbClr val="36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641678" y="3434578"/>
            <a:ext cx="17780" cy="574468"/>
          </a:xfrm>
          <a:prstGeom prst="rect">
            <a:avLst/>
          </a:prstGeom>
          <a:solidFill>
            <a:srgbClr val="36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641678" y="4000156"/>
            <a:ext cx="1127221" cy="17780"/>
          </a:xfrm>
          <a:prstGeom prst="rect">
            <a:avLst/>
          </a:prstGeom>
          <a:solidFill>
            <a:srgbClr val="36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51119" y="4009046"/>
            <a:ext cx="17780" cy="574468"/>
          </a:xfrm>
          <a:prstGeom prst="rect">
            <a:avLst/>
          </a:prstGeom>
          <a:solidFill>
            <a:srgbClr val="36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15280" y="3434578"/>
            <a:ext cx="17780" cy="574468"/>
          </a:xfrm>
          <a:prstGeom prst="rect">
            <a:avLst/>
          </a:prstGeom>
          <a:solidFill>
            <a:srgbClr val="36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860560" y="4000156"/>
            <a:ext cx="572500" cy="17780"/>
          </a:xfrm>
          <a:prstGeom prst="rect">
            <a:avLst/>
          </a:prstGeom>
          <a:solidFill>
            <a:srgbClr val="36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860560" y="4009046"/>
            <a:ext cx="17780" cy="574468"/>
          </a:xfrm>
          <a:prstGeom prst="rect">
            <a:avLst/>
          </a:prstGeom>
          <a:solidFill>
            <a:srgbClr val="36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15280" y="3434578"/>
            <a:ext cx="17780" cy="574468"/>
          </a:xfrm>
          <a:prstGeom prst="rect">
            <a:avLst/>
          </a:prstGeom>
          <a:solidFill>
            <a:srgbClr val="36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415280" y="4000156"/>
            <a:ext cx="572501" cy="17780"/>
          </a:xfrm>
          <a:prstGeom prst="rect">
            <a:avLst/>
          </a:prstGeom>
          <a:solidFill>
            <a:srgbClr val="36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970001" y="4009046"/>
            <a:ext cx="17780" cy="574468"/>
          </a:xfrm>
          <a:prstGeom prst="rect">
            <a:avLst/>
          </a:prstGeom>
          <a:solidFill>
            <a:srgbClr val="36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079442" y="3434578"/>
            <a:ext cx="17780" cy="574468"/>
          </a:xfrm>
          <a:prstGeom prst="rect">
            <a:avLst/>
          </a:prstGeom>
          <a:solidFill>
            <a:srgbClr val="36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079442" y="4009046"/>
            <a:ext cx="17780" cy="574468"/>
          </a:xfrm>
          <a:prstGeom prst="rect">
            <a:avLst/>
          </a:prstGeom>
          <a:solidFill>
            <a:srgbClr val="36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84152" y="1131824"/>
            <a:ext cx="887553" cy="576909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84152" y="1131824"/>
            <a:ext cx="887553" cy="576909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Public Sans"/>
              </a:rPr>
              <a:t>Dr. Alexandra…</a:t>
            </a:r>
          </a:p>
          <a:p>
            <a:pPr algn="ctr"/>
            <a:r>
              <a:rPr sz="600" b="0">
                <a:solidFill>
                  <a:srgbClr val="C3D2E0"/>
                </a:solidFill>
                <a:latin typeface="Public Sans"/>
              </a:rPr>
              <a:t>Chief Executive Officer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323748" y="2857669"/>
            <a:ext cx="887553" cy="576909"/>
          </a:xfrm>
          <a:prstGeom prst="rect">
            <a:avLst/>
          </a:prstGeom>
          <a:solidFill>
            <a:srgbClr val="0A55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323748" y="2857669"/>
            <a:ext cx="887553" cy="576909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Public Sans"/>
              </a:rPr>
              <a:t>Michael Christ…</a:t>
            </a:r>
          </a:p>
          <a:p>
            <a:pPr algn="ctr"/>
            <a:r>
              <a:rPr sz="600" b="0">
                <a:solidFill>
                  <a:srgbClr val="C2D4D8"/>
                </a:solidFill>
                <a:latin typeface="Public Sans"/>
              </a:rPr>
              <a:t>VP Engineering &amp; Techno…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9587" y="4583514"/>
            <a:ext cx="887553" cy="576909"/>
          </a:xfrm>
          <a:prstGeom prst="rect">
            <a:avLst/>
          </a:prstGeom>
          <a:solidFill>
            <a:srgbClr val="065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9587" y="4583514"/>
            <a:ext cx="887553" cy="576909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Public Sans"/>
              </a:rPr>
              <a:t>Sarah Elizabet…</a:t>
            </a:r>
          </a:p>
          <a:p>
            <a:pPr algn="ctr"/>
            <a:r>
              <a:rPr sz="600" b="0">
                <a:solidFill>
                  <a:srgbClr val="C1D7D0"/>
                </a:solidFill>
                <a:latin typeface="Public Sans"/>
              </a:rPr>
              <a:t>Director of Backend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769028" y="4583514"/>
            <a:ext cx="887553" cy="576909"/>
          </a:xfrm>
          <a:prstGeom prst="rect">
            <a:avLst/>
          </a:prstGeom>
          <a:solidFill>
            <a:srgbClr val="065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769028" y="4583514"/>
            <a:ext cx="887553" cy="576909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Public Sans"/>
              </a:rPr>
              <a:t>James Robert W…</a:t>
            </a:r>
          </a:p>
          <a:p>
            <a:pPr algn="ctr"/>
            <a:r>
              <a:rPr sz="600" b="0">
                <a:solidFill>
                  <a:srgbClr val="C1D7D0"/>
                </a:solidFill>
                <a:latin typeface="Public Sans"/>
              </a:rPr>
              <a:t>Director of Frontend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878469" y="4583514"/>
            <a:ext cx="887553" cy="576909"/>
          </a:xfrm>
          <a:prstGeom prst="rect">
            <a:avLst/>
          </a:prstGeom>
          <a:solidFill>
            <a:srgbClr val="065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878469" y="4583514"/>
            <a:ext cx="887553" cy="576909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Public Sans"/>
              </a:rPr>
              <a:t>Patricia Anne…</a:t>
            </a:r>
          </a:p>
          <a:p>
            <a:pPr algn="ctr"/>
            <a:r>
              <a:rPr sz="600" b="0">
                <a:solidFill>
                  <a:srgbClr val="C1D7D0"/>
                </a:solidFill>
                <a:latin typeface="Public Sans"/>
              </a:rPr>
              <a:t>Director of Infrastruct…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987910" y="4583514"/>
            <a:ext cx="887553" cy="576909"/>
          </a:xfrm>
          <a:prstGeom prst="rect">
            <a:avLst/>
          </a:prstGeom>
          <a:solidFill>
            <a:srgbClr val="065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987910" y="4583514"/>
            <a:ext cx="887553" cy="576909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Public Sans"/>
              </a:rPr>
              <a:t>William Thomas…</a:t>
            </a:r>
          </a:p>
          <a:p>
            <a:pPr algn="ctr"/>
            <a:r>
              <a:rPr sz="600" b="0">
                <a:solidFill>
                  <a:srgbClr val="C1D7D0"/>
                </a:solidFill>
                <a:latin typeface="Public Sans"/>
              </a:rPr>
              <a:t>Director of Security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06792" y="2857669"/>
            <a:ext cx="887553" cy="576909"/>
          </a:xfrm>
          <a:prstGeom prst="rect">
            <a:avLst/>
          </a:prstGeom>
          <a:solidFill>
            <a:srgbClr val="0A55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06792" y="2857669"/>
            <a:ext cx="887553" cy="576909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Public Sans"/>
              </a:rPr>
              <a:t>Jennifer Marie…</a:t>
            </a:r>
          </a:p>
          <a:p>
            <a:pPr algn="ctr"/>
            <a:r>
              <a:rPr sz="600" b="0">
                <a:solidFill>
                  <a:srgbClr val="C2D4D8"/>
                </a:solidFill>
                <a:latin typeface="Public Sans"/>
              </a:rPr>
              <a:t>VP Product Management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97351" y="4583514"/>
            <a:ext cx="887553" cy="576909"/>
          </a:xfrm>
          <a:prstGeom prst="rect">
            <a:avLst/>
          </a:prstGeom>
          <a:solidFill>
            <a:srgbClr val="065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97351" y="4583514"/>
            <a:ext cx="887553" cy="576909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Public Sans"/>
              </a:rPr>
              <a:t>Christopher Pa…</a:t>
            </a:r>
          </a:p>
          <a:p>
            <a:pPr algn="ctr"/>
            <a:r>
              <a:rPr sz="600" b="0">
                <a:solidFill>
                  <a:srgbClr val="C1D7D0"/>
                </a:solidFill>
                <a:latin typeface="Public Sans"/>
              </a:rPr>
              <a:t>Senior Product Manager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06792" y="4583514"/>
            <a:ext cx="887553" cy="576909"/>
          </a:xfrm>
          <a:prstGeom prst="rect">
            <a:avLst/>
          </a:prstGeom>
          <a:solidFill>
            <a:srgbClr val="065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06792" y="4583514"/>
            <a:ext cx="887553" cy="576909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Public Sans"/>
              </a:rPr>
              <a:t>Jessica Lynn M…</a:t>
            </a:r>
          </a:p>
          <a:p>
            <a:pPr algn="ctr"/>
            <a:r>
              <a:rPr sz="600" b="0">
                <a:solidFill>
                  <a:srgbClr val="C1D7D0"/>
                </a:solidFill>
                <a:latin typeface="Public Sans"/>
              </a:rPr>
              <a:t>Product Manager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316233" y="4583514"/>
            <a:ext cx="887553" cy="576909"/>
          </a:xfrm>
          <a:prstGeom prst="rect">
            <a:avLst/>
          </a:prstGeom>
          <a:solidFill>
            <a:srgbClr val="065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316233" y="4583514"/>
            <a:ext cx="887553" cy="576909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Public Sans"/>
              </a:rPr>
              <a:t>Daniel James T…</a:t>
            </a:r>
          </a:p>
          <a:p>
            <a:pPr algn="ctr"/>
            <a:r>
              <a:rPr sz="600" b="0">
                <a:solidFill>
                  <a:srgbClr val="C1D7D0"/>
                </a:solidFill>
                <a:latin typeface="Public Sans"/>
              </a:rPr>
              <a:t>Product Analyst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980394" y="2857669"/>
            <a:ext cx="887553" cy="576909"/>
          </a:xfrm>
          <a:prstGeom prst="rect">
            <a:avLst/>
          </a:prstGeom>
          <a:solidFill>
            <a:srgbClr val="0A55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980394" y="2857669"/>
            <a:ext cx="887553" cy="576909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Public Sans"/>
              </a:rPr>
              <a:t>Robert Andrew…</a:t>
            </a:r>
          </a:p>
          <a:p>
            <a:pPr algn="ctr"/>
            <a:r>
              <a:rPr sz="600" b="0">
                <a:solidFill>
                  <a:srgbClr val="C2D4D8"/>
                </a:solidFill>
                <a:latin typeface="Public Sans"/>
              </a:rPr>
              <a:t>VP Design &amp; UX Research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425674" y="4583514"/>
            <a:ext cx="887553" cy="576909"/>
          </a:xfrm>
          <a:prstGeom prst="rect">
            <a:avLst/>
          </a:prstGeom>
          <a:solidFill>
            <a:srgbClr val="065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425674" y="4583514"/>
            <a:ext cx="887553" cy="576909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Public Sans"/>
              </a:rPr>
              <a:t>Amanda Nicole…</a:t>
            </a:r>
          </a:p>
          <a:p>
            <a:pPr algn="ctr"/>
            <a:r>
              <a:rPr sz="600" b="0">
                <a:solidFill>
                  <a:srgbClr val="C1D7D0"/>
                </a:solidFill>
                <a:latin typeface="Public Sans"/>
              </a:rPr>
              <a:t>UX Design Lead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35115" y="4583514"/>
            <a:ext cx="887553" cy="576909"/>
          </a:xfrm>
          <a:prstGeom prst="rect">
            <a:avLst/>
          </a:prstGeom>
          <a:solidFill>
            <a:srgbClr val="065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535115" y="4583514"/>
            <a:ext cx="887553" cy="576909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Public Sans"/>
              </a:rPr>
              <a:t>Matthew Ryan H…</a:t>
            </a:r>
          </a:p>
          <a:p>
            <a:pPr algn="ctr"/>
            <a:r>
              <a:rPr sz="600" b="0">
                <a:solidFill>
                  <a:srgbClr val="C1D7D0"/>
                </a:solidFill>
                <a:latin typeface="Public Sans"/>
              </a:rPr>
              <a:t>Visual Design Lead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644556" y="2857669"/>
            <a:ext cx="887553" cy="576909"/>
          </a:xfrm>
          <a:prstGeom prst="rect">
            <a:avLst/>
          </a:prstGeom>
          <a:solidFill>
            <a:srgbClr val="0A55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644556" y="2857669"/>
            <a:ext cx="887553" cy="576909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Public Sans"/>
              </a:rPr>
              <a:t>Katharine Eliz…</a:t>
            </a:r>
          </a:p>
          <a:p>
            <a:pPr algn="ctr"/>
            <a:r>
              <a:rPr sz="600" b="0">
                <a:solidFill>
                  <a:srgbClr val="C2D4D8"/>
                </a:solidFill>
                <a:latin typeface="Public Sans"/>
              </a:rPr>
              <a:t>Chief Financial Officer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644556" y="4583514"/>
            <a:ext cx="887553" cy="576909"/>
          </a:xfrm>
          <a:prstGeom prst="rect">
            <a:avLst/>
          </a:prstGeom>
          <a:solidFill>
            <a:srgbClr val="065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644556" y="4583514"/>
            <a:ext cx="887553" cy="576909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Public Sans"/>
              </a:rPr>
              <a:t>Steven Patrick…</a:t>
            </a:r>
          </a:p>
          <a:p>
            <a:pPr algn="ctr"/>
            <a:r>
              <a:rPr sz="600" b="0">
                <a:solidFill>
                  <a:srgbClr val="C1D7D0"/>
                </a:solidFill>
                <a:latin typeface="Public Sans"/>
              </a:rPr>
              <a:t>Finance Director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