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2658" y="692658"/>
            <a:ext cx="10806379" cy="54864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Real-time analytics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92658" y="1385316"/>
            <a:ext cx="1988374" cy="4780026"/>
          </a:xfrm>
          <a:prstGeom prst="rect">
            <a:avLst/>
          </a:prstGeom>
          <a:solidFill>
            <a:srgbClr val="F1E6E7"/>
          </a:solidFill>
          <a:ln w="9525">
            <a:solidFill>
              <a:srgbClr val="8C2F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2658" y="1385316"/>
            <a:ext cx="1988374" cy="42672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2658" y="1385316"/>
            <a:ext cx="1988374" cy="4267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6F1E8"/>
                </a:solidFill>
                <a:latin typeface="Fraunces"/>
              </a:rPr>
              <a:t>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3458" y="1855241"/>
            <a:ext cx="1886774" cy="3962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3458" y="185524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Clickstream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743458" y="2302281"/>
            <a:ext cx="1886774" cy="3962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58" y="230228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App events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3458" y="2749321"/>
            <a:ext cx="1886774" cy="3962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458" y="274932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Server logs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7159" y="1385316"/>
            <a:ext cx="1988374" cy="4780026"/>
          </a:xfrm>
          <a:prstGeom prst="rect">
            <a:avLst/>
          </a:prstGeom>
          <a:solidFill>
            <a:srgbClr val="F1E7E5"/>
          </a:solidFill>
          <a:ln w="9525">
            <a:solidFill>
              <a:srgbClr val="9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97159" y="1385316"/>
            <a:ext cx="1988374" cy="426720"/>
          </a:xfrm>
          <a:prstGeom prst="rect">
            <a:avLst/>
          </a:prstGeom>
          <a:solidFill>
            <a:srgbClr val="9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7159" y="1385316"/>
            <a:ext cx="1988374" cy="4267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6F1E8"/>
                </a:solidFill>
                <a:latin typeface="Fraunces"/>
              </a:rPr>
              <a:t>Ingestion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47959" y="1855241"/>
            <a:ext cx="1886774" cy="3962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7959" y="185524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Kafka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47959" y="2302281"/>
            <a:ext cx="1886774" cy="3962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7959" y="230228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Kinesis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1660" y="1385316"/>
            <a:ext cx="1988374" cy="4780026"/>
          </a:xfrm>
          <a:prstGeom prst="rect">
            <a:avLst/>
          </a:prstGeom>
          <a:solidFill>
            <a:srgbClr val="F2E8E3"/>
          </a:solidFill>
          <a:ln w="9525">
            <a:solidFill>
              <a:srgbClr val="9445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01660" y="1385316"/>
            <a:ext cx="1988374" cy="426720"/>
          </a:xfrm>
          <a:prstGeom prst="rect">
            <a:avLst/>
          </a:prstGeom>
          <a:solidFill>
            <a:srgbClr val="944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1660" y="1385316"/>
            <a:ext cx="1988374" cy="4267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6F1E8"/>
                </a:solidFill>
                <a:latin typeface="Fraunces"/>
              </a:rPr>
              <a:t>Transform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52460" y="1855241"/>
            <a:ext cx="1886774" cy="3962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2460" y="185524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Flink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52460" y="2302281"/>
            <a:ext cx="1886774" cy="3962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2460" y="230228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dbt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52460" y="2749321"/>
            <a:ext cx="1886774" cy="3962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2460" y="274932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Spark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06161" y="1385316"/>
            <a:ext cx="1988374" cy="4780026"/>
          </a:xfrm>
          <a:prstGeom prst="rect">
            <a:avLst/>
          </a:prstGeom>
          <a:solidFill>
            <a:srgbClr val="F2EAE2"/>
          </a:solidFill>
          <a:ln w="9525">
            <a:solidFill>
              <a:srgbClr val="985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06161" y="1385316"/>
            <a:ext cx="1988374" cy="426720"/>
          </a:xfrm>
          <a:prstGeom prst="rect">
            <a:avLst/>
          </a:prstGeom>
          <a:solidFill>
            <a:srgbClr val="985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06161" y="1385316"/>
            <a:ext cx="1988374" cy="4267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6F1E8"/>
                </a:solidFill>
                <a:latin typeface="Fraunces"/>
              </a:rPr>
              <a:t>Storage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56961" y="1855241"/>
            <a:ext cx="1886774" cy="3962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56961" y="185524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Snowflake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56961" y="2302281"/>
            <a:ext cx="1886774" cy="3962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56961" y="230228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S3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56961" y="2749321"/>
            <a:ext cx="1886774" cy="3962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56961" y="274932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Redis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10662" y="1385316"/>
            <a:ext cx="1988374" cy="4780026"/>
          </a:xfrm>
          <a:prstGeom prst="rect">
            <a:avLst/>
          </a:prstGeom>
          <a:solidFill>
            <a:srgbClr val="F3EBE0"/>
          </a:solidFill>
          <a:ln w="9525">
            <a:solidFill>
              <a:srgbClr val="9C5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10662" y="1385316"/>
            <a:ext cx="1988374" cy="426720"/>
          </a:xfrm>
          <a:prstGeom prst="rect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10662" y="1385316"/>
            <a:ext cx="1988374" cy="42672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6F1E8"/>
                </a:solidFill>
                <a:latin typeface="Fraunces"/>
              </a:rPr>
              <a:t>Serve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61462" y="1855241"/>
            <a:ext cx="1886774" cy="3962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1462" y="185524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61462" y="2302281"/>
            <a:ext cx="1886774" cy="3962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61462" y="230228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Dashboard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61462" y="2749321"/>
            <a:ext cx="1886774" cy="396240"/>
          </a:xfrm>
          <a:prstGeom prst="rect">
            <a:avLst/>
          </a:prstGeom>
          <a:solidFill>
            <a:srgbClr val="F6F1E8"/>
          </a:solidFill>
          <a:ln w="6350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61462" y="2749321"/>
            <a:ext cx="1886774" cy="39624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Alerts</a:t>
            </a:r>
          </a:p>
        </p:txBody>
      </p:sp>
      <p:sp>
        <p:nvSpPr>
          <p:cNvPr id="46" name="Freeform 45"/>
          <p:cNvSpPr/>
          <p:nvPr/>
        </p:nvSpPr>
        <p:spPr>
          <a:xfrm>
            <a:off x="2823676" y="397053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702644" y="3973449"/>
            <a:ext cx="121032" cy="30480"/>
          </a:xfrm>
          <a:custGeom>
            <a:avLst/>
            <a:gdLst/>
            <a:ahLst/>
            <a:cxnLst/>
            <a:rect l="l" t="t" r="r" b="b"/>
            <a:pathLst>
              <a:path w="121032" h="30480">
                <a:moveTo>
                  <a:pt x="0" y="30480"/>
                </a:moveTo>
                <a:lnTo>
                  <a:pt x="0" y="0"/>
                </a:lnTo>
                <a:lnTo>
                  <a:pt x="121032" y="0"/>
                </a:lnTo>
                <a:lnTo>
                  <a:pt x="121032" y="30480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5028177" y="397053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907145" y="3973449"/>
            <a:ext cx="121032" cy="30480"/>
          </a:xfrm>
          <a:custGeom>
            <a:avLst/>
            <a:gdLst/>
            <a:ahLst/>
            <a:cxnLst/>
            <a:rect l="l" t="t" r="r" b="b"/>
            <a:pathLst>
              <a:path w="121032" h="30480">
                <a:moveTo>
                  <a:pt x="0" y="30480"/>
                </a:moveTo>
                <a:lnTo>
                  <a:pt x="0" y="0"/>
                </a:lnTo>
                <a:lnTo>
                  <a:pt x="121032" y="0"/>
                </a:lnTo>
                <a:lnTo>
                  <a:pt x="121032" y="30480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232678" y="397053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111646" y="3973449"/>
            <a:ext cx="121032" cy="30480"/>
          </a:xfrm>
          <a:custGeom>
            <a:avLst/>
            <a:gdLst/>
            <a:ahLst/>
            <a:cxnLst/>
            <a:rect l="l" t="t" r="r" b="b"/>
            <a:pathLst>
              <a:path w="121032" h="30480">
                <a:moveTo>
                  <a:pt x="0" y="30480"/>
                </a:moveTo>
                <a:lnTo>
                  <a:pt x="0" y="0"/>
                </a:lnTo>
                <a:lnTo>
                  <a:pt x="121032" y="0"/>
                </a:lnTo>
                <a:lnTo>
                  <a:pt x="121032" y="30480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437179" y="3970534"/>
            <a:ext cx="51871" cy="36309"/>
          </a:xfrm>
          <a:custGeom>
            <a:avLst/>
            <a:gdLst/>
            <a:ahLst/>
            <a:cxnLst/>
            <a:rect l="l" t="t" r="r" b="b"/>
            <a:pathLst>
              <a:path w="51871" h="36309">
                <a:moveTo>
                  <a:pt x="51871" y="18155"/>
                </a:moveTo>
                <a:lnTo>
                  <a:pt x="0" y="36309"/>
                </a:lnTo>
                <a:lnTo>
                  <a:pt x="0" y="0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316147" y="3973449"/>
            <a:ext cx="121032" cy="30480"/>
          </a:xfrm>
          <a:custGeom>
            <a:avLst/>
            <a:gdLst/>
            <a:ahLst/>
            <a:cxnLst/>
            <a:rect l="l" t="t" r="r" b="b"/>
            <a:pathLst>
              <a:path w="121032" h="30480">
                <a:moveTo>
                  <a:pt x="0" y="30480"/>
                </a:moveTo>
                <a:lnTo>
                  <a:pt x="0" y="0"/>
                </a:lnTo>
                <a:lnTo>
                  <a:pt x="121032" y="0"/>
                </a:lnTo>
                <a:lnTo>
                  <a:pt x="121032" y="30480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