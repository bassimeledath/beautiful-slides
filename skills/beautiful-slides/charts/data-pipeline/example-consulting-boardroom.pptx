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2658" y="692658"/>
            <a:ext cx="10806379" cy="48006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100" b="1">
                <a:solidFill>
                  <a:srgbClr val="101828"/>
                </a:solidFill>
                <a:latin typeface="Public Sans"/>
              </a:rPr>
              <a:t>Real-time analytics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92658" y="1316736"/>
            <a:ext cx="1988374" cy="4848606"/>
          </a:xfrm>
          <a:prstGeom prst="rect">
            <a:avLst/>
          </a:prstGeom>
          <a:solidFill>
            <a:srgbClr val="E2E9EF"/>
          </a:solidFill>
          <a:ln w="9525">
            <a:solidFill>
              <a:srgbClr val="0F4C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2658" y="1316736"/>
            <a:ext cx="1988374" cy="36576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2658" y="1316736"/>
            <a:ext cx="1988374" cy="36576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ublic Sans"/>
              </a:rPr>
              <a:t>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3458" y="1725701"/>
            <a:ext cx="1886774" cy="363220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3458" y="1725701"/>
            <a:ext cx="1886774" cy="3632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Clickstream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743458" y="2139721"/>
            <a:ext cx="1886774" cy="363220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58" y="2139721"/>
            <a:ext cx="1886774" cy="3632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App events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3458" y="2553741"/>
            <a:ext cx="1886774" cy="363220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3458" y="2553741"/>
            <a:ext cx="1886774" cy="3632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Server logs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7159" y="1316736"/>
            <a:ext cx="1988374" cy="4848606"/>
          </a:xfrm>
          <a:prstGeom prst="rect">
            <a:avLst/>
          </a:prstGeom>
          <a:solidFill>
            <a:srgbClr val="E1EAED"/>
          </a:solidFill>
          <a:ln w="9525">
            <a:solidFill>
              <a:srgbClr val="0C5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97159" y="1316736"/>
            <a:ext cx="1988374" cy="365760"/>
          </a:xfrm>
          <a:prstGeom prst="rect">
            <a:avLst/>
          </a:prstGeom>
          <a:solidFill>
            <a:srgbClr val="0C5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7159" y="1316736"/>
            <a:ext cx="1988374" cy="36576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ublic Sans"/>
              </a:rPr>
              <a:t>Ingestion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47959" y="1725701"/>
            <a:ext cx="1886774" cy="363220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47959" y="1725701"/>
            <a:ext cx="1886774" cy="3632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Kafka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47959" y="2139721"/>
            <a:ext cx="1886774" cy="363220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47959" y="2139721"/>
            <a:ext cx="1886774" cy="3632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Kinesis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01660" y="1316736"/>
            <a:ext cx="1988374" cy="4848606"/>
          </a:xfrm>
          <a:prstGeom prst="rect">
            <a:avLst/>
          </a:prstGeom>
          <a:solidFill>
            <a:srgbClr val="E1EAEB"/>
          </a:solidFill>
          <a:ln w="9525">
            <a:solidFill>
              <a:srgbClr val="0A5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01660" y="1316736"/>
            <a:ext cx="1988374" cy="365760"/>
          </a:xfrm>
          <a:prstGeom prst="rect">
            <a:avLst/>
          </a:prstGeom>
          <a:solidFill>
            <a:srgbClr val="0A5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01660" y="1316736"/>
            <a:ext cx="1988374" cy="36576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ublic Sans"/>
              </a:rPr>
              <a:t>Transform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52460" y="1725701"/>
            <a:ext cx="1886774" cy="363220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2460" y="1725701"/>
            <a:ext cx="1886774" cy="3632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Flink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52460" y="2139721"/>
            <a:ext cx="1886774" cy="363220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52460" y="2139721"/>
            <a:ext cx="1886774" cy="3632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dbt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52460" y="2553741"/>
            <a:ext cx="1886774" cy="363220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52460" y="2553741"/>
            <a:ext cx="1886774" cy="3632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Spark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06161" y="1316736"/>
            <a:ext cx="1988374" cy="4848606"/>
          </a:xfrm>
          <a:prstGeom prst="rect">
            <a:avLst/>
          </a:prstGeom>
          <a:solidFill>
            <a:srgbClr val="E1EBE9"/>
          </a:solidFill>
          <a:ln w="9525">
            <a:solidFill>
              <a:srgbClr val="085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06161" y="1316736"/>
            <a:ext cx="1988374" cy="365760"/>
          </a:xfrm>
          <a:prstGeom prst="rect">
            <a:avLst/>
          </a:prstGeom>
          <a:solidFill>
            <a:srgbClr val="08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06161" y="1316736"/>
            <a:ext cx="1988374" cy="36576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ublic Sans"/>
              </a:rPr>
              <a:t>Storage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56961" y="1725701"/>
            <a:ext cx="1886774" cy="363220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56961" y="1725701"/>
            <a:ext cx="1886774" cy="3632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Snowflake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56961" y="2139721"/>
            <a:ext cx="1886774" cy="363220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56961" y="2139721"/>
            <a:ext cx="1886774" cy="3632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S3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56961" y="2553741"/>
            <a:ext cx="1886774" cy="363220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56961" y="2553741"/>
            <a:ext cx="1886774" cy="3632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Redis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10662" y="1316736"/>
            <a:ext cx="1988374" cy="4848606"/>
          </a:xfrm>
          <a:prstGeom prst="rect">
            <a:avLst/>
          </a:prstGeom>
          <a:solidFill>
            <a:srgbClr val="E1EBE7"/>
          </a:solidFill>
          <a:ln w="9525">
            <a:solidFill>
              <a:srgbClr val="05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10662" y="1316736"/>
            <a:ext cx="1988374" cy="365760"/>
          </a:xfrm>
          <a:prstGeom prst="rect">
            <a:avLst/>
          </a:prstGeom>
          <a:solidFill>
            <a:srgbClr val="05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10662" y="1316736"/>
            <a:ext cx="1988374" cy="36576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ublic Sans"/>
              </a:rPr>
              <a:t>Serve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61462" y="1725701"/>
            <a:ext cx="1886774" cy="363220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61462" y="1725701"/>
            <a:ext cx="1886774" cy="3632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API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61462" y="2139721"/>
            <a:ext cx="1886774" cy="363220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61462" y="2139721"/>
            <a:ext cx="1886774" cy="3632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Dashboard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61462" y="2553741"/>
            <a:ext cx="1886774" cy="363220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61462" y="2553741"/>
            <a:ext cx="1886774" cy="3632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Alerts</a:t>
            </a:r>
          </a:p>
        </p:txBody>
      </p:sp>
      <p:sp>
        <p:nvSpPr>
          <p:cNvPr id="46" name="Freeform 45"/>
          <p:cNvSpPr/>
          <p:nvPr/>
        </p:nvSpPr>
        <p:spPr>
          <a:xfrm>
            <a:off x="2823676" y="3905764"/>
            <a:ext cx="51871" cy="36309"/>
          </a:xfrm>
          <a:custGeom>
            <a:avLst/>
            <a:gdLst/>
            <a:ahLst/>
            <a:cxnLst/>
            <a:rect l="l" t="t" r="r" b="b"/>
            <a:pathLst>
              <a:path w="51871" h="36309">
                <a:moveTo>
                  <a:pt x="51871" y="18155"/>
                </a:moveTo>
                <a:lnTo>
                  <a:pt x="0" y="36309"/>
                </a:lnTo>
                <a:lnTo>
                  <a:pt x="0" y="0"/>
                </a:lnTo>
                <a:close/>
              </a:path>
            </a:pathLst>
          </a:custGeom>
          <a:solidFill>
            <a:srgbClr val="315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2702644" y="3910584"/>
            <a:ext cx="121032" cy="26670"/>
          </a:xfrm>
          <a:custGeom>
            <a:avLst/>
            <a:gdLst/>
            <a:ahLst/>
            <a:cxnLst/>
            <a:rect l="l" t="t" r="r" b="b"/>
            <a:pathLst>
              <a:path w="121032" h="26670">
                <a:moveTo>
                  <a:pt x="0" y="26670"/>
                </a:moveTo>
                <a:lnTo>
                  <a:pt x="0" y="0"/>
                </a:lnTo>
                <a:lnTo>
                  <a:pt x="121032" y="0"/>
                </a:lnTo>
                <a:lnTo>
                  <a:pt x="121032" y="26670"/>
                </a:lnTo>
                <a:close/>
              </a:path>
            </a:pathLst>
          </a:custGeom>
          <a:solidFill>
            <a:srgbClr val="315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5028177" y="3905764"/>
            <a:ext cx="51871" cy="36309"/>
          </a:xfrm>
          <a:custGeom>
            <a:avLst/>
            <a:gdLst/>
            <a:ahLst/>
            <a:cxnLst/>
            <a:rect l="l" t="t" r="r" b="b"/>
            <a:pathLst>
              <a:path w="51871" h="36309">
                <a:moveTo>
                  <a:pt x="51871" y="18155"/>
                </a:moveTo>
                <a:lnTo>
                  <a:pt x="0" y="36309"/>
                </a:lnTo>
                <a:lnTo>
                  <a:pt x="0" y="0"/>
                </a:lnTo>
                <a:close/>
              </a:path>
            </a:pathLst>
          </a:custGeom>
          <a:solidFill>
            <a:srgbClr val="315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4907145" y="3910584"/>
            <a:ext cx="121032" cy="26670"/>
          </a:xfrm>
          <a:custGeom>
            <a:avLst/>
            <a:gdLst/>
            <a:ahLst/>
            <a:cxnLst/>
            <a:rect l="l" t="t" r="r" b="b"/>
            <a:pathLst>
              <a:path w="121032" h="26670">
                <a:moveTo>
                  <a:pt x="0" y="26670"/>
                </a:moveTo>
                <a:lnTo>
                  <a:pt x="0" y="0"/>
                </a:lnTo>
                <a:lnTo>
                  <a:pt x="121032" y="0"/>
                </a:lnTo>
                <a:lnTo>
                  <a:pt x="121032" y="26670"/>
                </a:lnTo>
                <a:close/>
              </a:path>
            </a:pathLst>
          </a:custGeom>
          <a:solidFill>
            <a:srgbClr val="315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7232678" y="3905764"/>
            <a:ext cx="51871" cy="36309"/>
          </a:xfrm>
          <a:custGeom>
            <a:avLst/>
            <a:gdLst/>
            <a:ahLst/>
            <a:cxnLst/>
            <a:rect l="l" t="t" r="r" b="b"/>
            <a:pathLst>
              <a:path w="51871" h="36309">
                <a:moveTo>
                  <a:pt x="51871" y="18155"/>
                </a:moveTo>
                <a:lnTo>
                  <a:pt x="0" y="36309"/>
                </a:lnTo>
                <a:lnTo>
                  <a:pt x="0" y="0"/>
                </a:lnTo>
                <a:close/>
              </a:path>
            </a:pathLst>
          </a:custGeom>
          <a:solidFill>
            <a:srgbClr val="315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7111646" y="3910584"/>
            <a:ext cx="121032" cy="26670"/>
          </a:xfrm>
          <a:custGeom>
            <a:avLst/>
            <a:gdLst/>
            <a:ahLst/>
            <a:cxnLst/>
            <a:rect l="l" t="t" r="r" b="b"/>
            <a:pathLst>
              <a:path w="121032" h="26670">
                <a:moveTo>
                  <a:pt x="0" y="26670"/>
                </a:moveTo>
                <a:lnTo>
                  <a:pt x="0" y="0"/>
                </a:lnTo>
                <a:lnTo>
                  <a:pt x="121032" y="0"/>
                </a:lnTo>
                <a:lnTo>
                  <a:pt x="121032" y="26670"/>
                </a:lnTo>
                <a:close/>
              </a:path>
            </a:pathLst>
          </a:custGeom>
          <a:solidFill>
            <a:srgbClr val="315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437179" y="3905764"/>
            <a:ext cx="51871" cy="36309"/>
          </a:xfrm>
          <a:custGeom>
            <a:avLst/>
            <a:gdLst/>
            <a:ahLst/>
            <a:cxnLst/>
            <a:rect l="l" t="t" r="r" b="b"/>
            <a:pathLst>
              <a:path w="51871" h="36309">
                <a:moveTo>
                  <a:pt x="51871" y="18155"/>
                </a:moveTo>
                <a:lnTo>
                  <a:pt x="0" y="36309"/>
                </a:lnTo>
                <a:lnTo>
                  <a:pt x="0" y="0"/>
                </a:lnTo>
                <a:close/>
              </a:path>
            </a:pathLst>
          </a:custGeom>
          <a:solidFill>
            <a:srgbClr val="315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16147" y="3910584"/>
            <a:ext cx="121032" cy="26670"/>
          </a:xfrm>
          <a:custGeom>
            <a:avLst/>
            <a:gdLst/>
            <a:ahLst/>
            <a:cxnLst/>
            <a:rect l="l" t="t" r="r" b="b"/>
            <a:pathLst>
              <a:path w="121032" h="26670">
                <a:moveTo>
                  <a:pt x="0" y="26670"/>
                </a:moveTo>
                <a:lnTo>
                  <a:pt x="0" y="0"/>
                </a:lnTo>
                <a:lnTo>
                  <a:pt x="121032" y="0"/>
                </a:lnTo>
                <a:lnTo>
                  <a:pt x="121032" y="26670"/>
                </a:lnTo>
                <a:close/>
              </a:path>
            </a:pathLst>
          </a:custGeom>
          <a:solidFill>
            <a:srgbClr val="315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