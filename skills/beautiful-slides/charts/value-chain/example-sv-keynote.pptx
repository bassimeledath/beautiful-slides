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0265" y="750265"/>
            <a:ext cx="10691165" cy="6172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Retail Value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0265" y="1458925"/>
            <a:ext cx="9728962" cy="36576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l"/>
            <a:r>
              <a:rPr sz="1200" b="1">
                <a:solidFill>
                  <a:srgbClr val="9AA4B2"/>
                </a:solidFill>
                <a:latin typeface="Manrope"/>
              </a:rPr>
              <a:t>Primary Activities</a:t>
            </a:r>
          </a:p>
        </p:txBody>
      </p:sp>
      <p:sp>
        <p:nvSpPr>
          <p:cNvPr id="5" name="Freeform 4"/>
          <p:cNvSpPr/>
          <p:nvPr/>
        </p:nvSpPr>
        <p:spPr>
          <a:xfrm>
            <a:off x="750265" y="1824685"/>
            <a:ext cx="1751213" cy="1726204"/>
          </a:xfrm>
          <a:custGeom>
            <a:avLst/>
            <a:gdLst/>
            <a:ahLst/>
            <a:cxnLst/>
            <a:rect l="l" t="t" r="r" b="b"/>
            <a:pathLst>
              <a:path w="1751213" h="1726204">
                <a:moveTo>
                  <a:pt x="0" y="0"/>
                </a:moveTo>
                <a:lnTo>
                  <a:pt x="1488532" y="0"/>
                </a:lnTo>
                <a:lnTo>
                  <a:pt x="1751213" y="863102"/>
                </a:lnTo>
                <a:lnTo>
                  <a:pt x="1488532" y="1726204"/>
                </a:lnTo>
                <a:lnTo>
                  <a:pt x="0" y="1726204"/>
                </a:lnTo>
                <a:close/>
              </a:path>
            </a:pathLst>
          </a:custGeom>
          <a:solidFill>
            <a:srgbClr val="1AA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0313" y="1824685"/>
            <a:ext cx="1418484" cy="17262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nrope"/>
              </a:rPr>
              <a:t>Inbound
Logistics</a:t>
            </a:r>
          </a:p>
        </p:txBody>
      </p:sp>
      <p:sp>
        <p:nvSpPr>
          <p:cNvPr id="7" name="Freeform 6"/>
          <p:cNvSpPr/>
          <p:nvPr/>
        </p:nvSpPr>
        <p:spPr>
          <a:xfrm>
            <a:off x="2744702" y="1824685"/>
            <a:ext cx="1751213" cy="1726204"/>
          </a:xfrm>
          <a:custGeom>
            <a:avLst/>
            <a:gdLst/>
            <a:ahLst/>
            <a:cxnLst/>
            <a:rect l="l" t="t" r="r" b="b"/>
            <a:pathLst>
              <a:path w="1751213" h="1726204">
                <a:moveTo>
                  <a:pt x="0" y="0"/>
                </a:moveTo>
                <a:lnTo>
                  <a:pt x="1488532" y="0"/>
                </a:lnTo>
                <a:lnTo>
                  <a:pt x="1751213" y="863102"/>
                </a:lnTo>
                <a:lnTo>
                  <a:pt x="1488532" y="1726204"/>
                </a:lnTo>
                <a:lnTo>
                  <a:pt x="0" y="1726204"/>
                </a:lnTo>
                <a:lnTo>
                  <a:pt x="262681" y="863102"/>
                </a:lnTo>
                <a:close/>
              </a:path>
            </a:pathLst>
          </a:custGeom>
          <a:solidFill>
            <a:srgbClr val="189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77431" y="1824685"/>
            <a:ext cx="1155803" cy="17262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nrope"/>
              </a:rPr>
              <a:t>Operations</a:t>
            </a:r>
          </a:p>
        </p:txBody>
      </p:sp>
      <p:sp>
        <p:nvSpPr>
          <p:cNvPr id="9" name="Freeform 8"/>
          <p:cNvSpPr/>
          <p:nvPr/>
        </p:nvSpPr>
        <p:spPr>
          <a:xfrm>
            <a:off x="4739139" y="1824685"/>
            <a:ext cx="1751213" cy="1726204"/>
          </a:xfrm>
          <a:custGeom>
            <a:avLst/>
            <a:gdLst/>
            <a:ahLst/>
            <a:cxnLst/>
            <a:rect l="l" t="t" r="r" b="b"/>
            <a:pathLst>
              <a:path w="1751213" h="1726204">
                <a:moveTo>
                  <a:pt x="0" y="0"/>
                </a:moveTo>
                <a:lnTo>
                  <a:pt x="1488532" y="0"/>
                </a:lnTo>
                <a:lnTo>
                  <a:pt x="1751213" y="863102"/>
                </a:lnTo>
                <a:lnTo>
                  <a:pt x="1488532" y="1726204"/>
                </a:lnTo>
                <a:lnTo>
                  <a:pt x="0" y="1726204"/>
                </a:lnTo>
                <a:lnTo>
                  <a:pt x="262681" y="863102"/>
                </a:lnTo>
                <a:close/>
              </a:path>
            </a:pathLst>
          </a:custGeom>
          <a:solidFill>
            <a:srgbClr val="169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1868" y="1824685"/>
            <a:ext cx="1155803" cy="17262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nrope"/>
              </a:rPr>
              <a:t>Outbound
Logistics</a:t>
            </a:r>
          </a:p>
        </p:txBody>
      </p:sp>
      <p:sp>
        <p:nvSpPr>
          <p:cNvPr id="11" name="Freeform 10"/>
          <p:cNvSpPr/>
          <p:nvPr/>
        </p:nvSpPr>
        <p:spPr>
          <a:xfrm>
            <a:off x="6733576" y="1824685"/>
            <a:ext cx="1751213" cy="1726204"/>
          </a:xfrm>
          <a:custGeom>
            <a:avLst/>
            <a:gdLst/>
            <a:ahLst/>
            <a:cxnLst/>
            <a:rect l="l" t="t" r="r" b="b"/>
            <a:pathLst>
              <a:path w="1751213" h="1726204">
                <a:moveTo>
                  <a:pt x="0" y="0"/>
                </a:moveTo>
                <a:lnTo>
                  <a:pt x="1488532" y="0"/>
                </a:lnTo>
                <a:lnTo>
                  <a:pt x="1751213" y="863102"/>
                </a:lnTo>
                <a:lnTo>
                  <a:pt x="1488532" y="1726204"/>
                </a:lnTo>
                <a:lnTo>
                  <a:pt x="0" y="1726204"/>
                </a:lnTo>
                <a:lnTo>
                  <a:pt x="262681" y="863102"/>
                </a:lnTo>
                <a:close/>
              </a:path>
            </a:pathLst>
          </a:custGeom>
          <a:solidFill>
            <a:srgbClr val="158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6305" y="1824685"/>
            <a:ext cx="1155803" cy="17262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nrope"/>
              </a:rPr>
              <a:t>Marketing
&amp; Sales</a:t>
            </a:r>
          </a:p>
        </p:txBody>
      </p:sp>
      <p:sp>
        <p:nvSpPr>
          <p:cNvPr id="13" name="Freeform 12"/>
          <p:cNvSpPr/>
          <p:nvPr/>
        </p:nvSpPr>
        <p:spPr>
          <a:xfrm>
            <a:off x="8728013" y="1824685"/>
            <a:ext cx="1751213" cy="1726204"/>
          </a:xfrm>
          <a:custGeom>
            <a:avLst/>
            <a:gdLst/>
            <a:ahLst/>
            <a:cxnLst/>
            <a:rect l="l" t="t" r="r" b="b"/>
            <a:pathLst>
              <a:path w="1751213" h="1726204">
                <a:moveTo>
                  <a:pt x="0" y="0"/>
                </a:moveTo>
                <a:lnTo>
                  <a:pt x="1488532" y="0"/>
                </a:lnTo>
                <a:lnTo>
                  <a:pt x="1751213" y="863102"/>
                </a:lnTo>
                <a:lnTo>
                  <a:pt x="1488532" y="1726204"/>
                </a:lnTo>
                <a:lnTo>
                  <a:pt x="0" y="1726204"/>
                </a:lnTo>
                <a:lnTo>
                  <a:pt x="262681" y="863102"/>
                </a:lnTo>
                <a:close/>
              </a:path>
            </a:pathLst>
          </a:custGeom>
          <a:solidFill>
            <a:srgbClr val="12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0742" y="1824685"/>
            <a:ext cx="1155803" cy="17262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nrope"/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265" y="3690353"/>
            <a:ext cx="9728962" cy="36576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l"/>
            <a:r>
              <a:rPr sz="1200" b="1">
                <a:solidFill>
                  <a:srgbClr val="9AA4B2"/>
                </a:solidFill>
                <a:latin typeface="Manrope"/>
              </a:rPr>
              <a:t>Support Activities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0265" y="4056113"/>
            <a:ext cx="9728962" cy="328628"/>
          </a:xfrm>
          <a:prstGeom prst="rect">
            <a:avLst/>
          </a:prstGeom>
          <a:solidFill>
            <a:srgbClr val="09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7425" y="4056113"/>
            <a:ext cx="9454642" cy="3286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Manrope"/>
              </a:rPr>
              <a:t>Firm Infrastructure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0265" y="4444491"/>
            <a:ext cx="9728962" cy="328628"/>
          </a:xfrm>
          <a:prstGeom prst="rect">
            <a:avLst/>
          </a:prstGeom>
          <a:solidFill>
            <a:srgbClr val="09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7425" y="4444491"/>
            <a:ext cx="9454642" cy="3286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Manrope"/>
              </a:rPr>
              <a:t>Human Resource Management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0265" y="4832869"/>
            <a:ext cx="9728962" cy="328628"/>
          </a:xfrm>
          <a:prstGeom prst="rect">
            <a:avLst/>
          </a:prstGeom>
          <a:solidFill>
            <a:srgbClr val="09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7425" y="4832869"/>
            <a:ext cx="9454642" cy="3286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Manrope"/>
              </a:rPr>
              <a:t>Technology Development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0265" y="5221247"/>
            <a:ext cx="9728962" cy="328628"/>
          </a:xfrm>
          <a:prstGeom prst="rect">
            <a:avLst/>
          </a:prstGeom>
          <a:solidFill>
            <a:srgbClr val="09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7425" y="5221247"/>
            <a:ext cx="9454642" cy="3286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Manrope"/>
              </a:rPr>
              <a:t>Procurement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93050" y="1824685"/>
            <a:ext cx="641469" cy="3725192"/>
          </a:xfrm>
          <a:prstGeom prst="rect">
            <a:avLst/>
          </a:prstGeom>
          <a:solidFill>
            <a:srgbClr val="106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3050" y="1824685"/>
            <a:ext cx="641469" cy="37251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Margin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