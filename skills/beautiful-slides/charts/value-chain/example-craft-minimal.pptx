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0265" y="750265"/>
            <a:ext cx="10691165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Retail Value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0265" y="1380185"/>
            <a:ext cx="9728962" cy="32512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l"/>
            <a:r>
              <a:rPr sz="1100" b="1">
                <a:solidFill>
                  <a:srgbClr val="7B776F"/>
                </a:solidFill>
                <a:latin typeface="Instrument Sans"/>
              </a:rPr>
              <a:t>Primary Activities</a:t>
            </a:r>
          </a:p>
        </p:txBody>
      </p:sp>
      <p:sp>
        <p:nvSpPr>
          <p:cNvPr id="5" name="Freeform 4"/>
          <p:cNvSpPr/>
          <p:nvPr/>
        </p:nvSpPr>
        <p:spPr>
          <a:xfrm>
            <a:off x="750265" y="1705305"/>
            <a:ext cx="1751213" cy="1802277"/>
          </a:xfrm>
          <a:custGeom>
            <a:avLst/>
            <a:gdLst/>
            <a:ahLst/>
            <a:cxnLst/>
            <a:rect l="l" t="t" r="r" b="b"/>
            <a:pathLst>
              <a:path w="1751213" h="1802277">
                <a:moveTo>
                  <a:pt x="0" y="0"/>
                </a:moveTo>
                <a:lnTo>
                  <a:pt x="1488532" y="0"/>
                </a:lnTo>
                <a:lnTo>
                  <a:pt x="1751213" y="901138"/>
                </a:lnTo>
                <a:lnTo>
                  <a:pt x="1488532" y="1802277"/>
                </a:lnTo>
                <a:lnTo>
                  <a:pt x="0" y="1802277"/>
                </a:lnTo>
                <a:close/>
              </a:path>
            </a:pathLst>
          </a:custGeom>
          <a:solidFill>
            <a:srgbClr val="9CA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0313" y="1705305"/>
            <a:ext cx="1418484" cy="1802277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strument Sans"/>
              </a:rPr>
              <a:t>Inbound
Logistics</a:t>
            </a:r>
          </a:p>
        </p:txBody>
      </p:sp>
      <p:sp>
        <p:nvSpPr>
          <p:cNvPr id="7" name="Freeform 6"/>
          <p:cNvSpPr/>
          <p:nvPr/>
        </p:nvSpPr>
        <p:spPr>
          <a:xfrm>
            <a:off x="2744702" y="1705305"/>
            <a:ext cx="1751213" cy="1802277"/>
          </a:xfrm>
          <a:custGeom>
            <a:avLst/>
            <a:gdLst/>
            <a:ahLst/>
            <a:cxnLst/>
            <a:rect l="l" t="t" r="r" b="b"/>
            <a:pathLst>
              <a:path w="1751213" h="1802277">
                <a:moveTo>
                  <a:pt x="0" y="0"/>
                </a:moveTo>
                <a:lnTo>
                  <a:pt x="1488532" y="0"/>
                </a:lnTo>
                <a:lnTo>
                  <a:pt x="1751213" y="901138"/>
                </a:lnTo>
                <a:lnTo>
                  <a:pt x="1488532" y="1802277"/>
                </a:lnTo>
                <a:lnTo>
                  <a:pt x="0" y="1802277"/>
                </a:lnTo>
                <a:lnTo>
                  <a:pt x="262681" y="901138"/>
                </a:lnTo>
                <a:close/>
              </a:path>
            </a:pathLst>
          </a:custGeom>
          <a:solidFill>
            <a:srgbClr val="A29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77431" y="1705305"/>
            <a:ext cx="1155803" cy="1802277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strument Sans"/>
              </a:rPr>
              <a:t>Operations</a:t>
            </a:r>
          </a:p>
        </p:txBody>
      </p:sp>
      <p:sp>
        <p:nvSpPr>
          <p:cNvPr id="9" name="Freeform 8"/>
          <p:cNvSpPr/>
          <p:nvPr/>
        </p:nvSpPr>
        <p:spPr>
          <a:xfrm>
            <a:off x="4739139" y="1705305"/>
            <a:ext cx="1751213" cy="1802277"/>
          </a:xfrm>
          <a:custGeom>
            <a:avLst/>
            <a:gdLst/>
            <a:ahLst/>
            <a:cxnLst/>
            <a:rect l="l" t="t" r="r" b="b"/>
            <a:pathLst>
              <a:path w="1751213" h="1802277">
                <a:moveTo>
                  <a:pt x="0" y="0"/>
                </a:moveTo>
                <a:lnTo>
                  <a:pt x="1488532" y="0"/>
                </a:lnTo>
                <a:lnTo>
                  <a:pt x="1751213" y="901138"/>
                </a:lnTo>
                <a:lnTo>
                  <a:pt x="1488532" y="1802277"/>
                </a:lnTo>
                <a:lnTo>
                  <a:pt x="0" y="1802277"/>
                </a:lnTo>
                <a:lnTo>
                  <a:pt x="262681" y="901138"/>
                </a:lnTo>
                <a:close/>
              </a:path>
            </a:pathLst>
          </a:custGeom>
          <a:solidFill>
            <a:srgbClr val="A79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1868" y="1705305"/>
            <a:ext cx="1155803" cy="1802277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strument Sans"/>
              </a:rPr>
              <a:t>Outbound
Logistics</a:t>
            </a:r>
          </a:p>
        </p:txBody>
      </p:sp>
      <p:sp>
        <p:nvSpPr>
          <p:cNvPr id="11" name="Freeform 10"/>
          <p:cNvSpPr/>
          <p:nvPr/>
        </p:nvSpPr>
        <p:spPr>
          <a:xfrm>
            <a:off x="6733576" y="1705305"/>
            <a:ext cx="1751213" cy="1802277"/>
          </a:xfrm>
          <a:custGeom>
            <a:avLst/>
            <a:gdLst/>
            <a:ahLst/>
            <a:cxnLst/>
            <a:rect l="l" t="t" r="r" b="b"/>
            <a:pathLst>
              <a:path w="1751213" h="1802277">
                <a:moveTo>
                  <a:pt x="0" y="0"/>
                </a:moveTo>
                <a:lnTo>
                  <a:pt x="1488532" y="0"/>
                </a:lnTo>
                <a:lnTo>
                  <a:pt x="1751213" y="901138"/>
                </a:lnTo>
                <a:lnTo>
                  <a:pt x="1488532" y="1802277"/>
                </a:lnTo>
                <a:lnTo>
                  <a:pt x="0" y="1802277"/>
                </a:lnTo>
                <a:lnTo>
                  <a:pt x="262681" y="901138"/>
                </a:lnTo>
                <a:close/>
              </a:path>
            </a:pathLst>
          </a:custGeom>
          <a:solidFill>
            <a:srgbClr val="AC9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6305" y="1705305"/>
            <a:ext cx="1155803" cy="1802277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strument Sans"/>
              </a:rPr>
              <a:t>Marketing
&amp; Sales</a:t>
            </a:r>
          </a:p>
        </p:txBody>
      </p:sp>
      <p:sp>
        <p:nvSpPr>
          <p:cNvPr id="13" name="Freeform 12"/>
          <p:cNvSpPr/>
          <p:nvPr/>
        </p:nvSpPr>
        <p:spPr>
          <a:xfrm>
            <a:off x="8728013" y="1705305"/>
            <a:ext cx="1751213" cy="1802277"/>
          </a:xfrm>
          <a:custGeom>
            <a:avLst/>
            <a:gdLst/>
            <a:ahLst/>
            <a:cxnLst/>
            <a:rect l="l" t="t" r="r" b="b"/>
            <a:pathLst>
              <a:path w="1751213" h="1802277">
                <a:moveTo>
                  <a:pt x="0" y="0"/>
                </a:moveTo>
                <a:lnTo>
                  <a:pt x="1488532" y="0"/>
                </a:lnTo>
                <a:lnTo>
                  <a:pt x="1751213" y="901138"/>
                </a:lnTo>
                <a:lnTo>
                  <a:pt x="1488532" y="1802277"/>
                </a:lnTo>
                <a:lnTo>
                  <a:pt x="0" y="1802277"/>
                </a:lnTo>
                <a:lnTo>
                  <a:pt x="262681" y="901138"/>
                </a:lnTo>
                <a:close/>
              </a:path>
            </a:pathLst>
          </a:custGeom>
          <a:solidFill>
            <a:srgbClr val="B28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0742" y="1705305"/>
            <a:ext cx="1155803" cy="1802277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strument Sans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265" y="3649408"/>
            <a:ext cx="9728962" cy="32512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l"/>
            <a:r>
              <a:rPr sz="1100" b="1">
                <a:solidFill>
                  <a:srgbClr val="7B776F"/>
                </a:solidFill>
                <a:latin typeface="Instrument Sans"/>
              </a:rPr>
              <a:t>Support Activities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0265" y="3974528"/>
            <a:ext cx="9728962" cy="344498"/>
          </a:xfrm>
          <a:prstGeom prst="rect">
            <a:avLst/>
          </a:prstGeom>
          <a:solidFill>
            <a:srgbClr val="E9E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185" y="3974528"/>
            <a:ext cx="9485122" cy="34449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Firm Infrastructure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0265" y="4381662"/>
            <a:ext cx="9728962" cy="344498"/>
          </a:xfrm>
          <a:prstGeom prst="rect">
            <a:avLst/>
          </a:prstGeom>
          <a:solidFill>
            <a:srgbClr val="E9E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185" y="4381662"/>
            <a:ext cx="9485122" cy="34449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Human Resource 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0265" y="4788796"/>
            <a:ext cx="9728962" cy="344498"/>
          </a:xfrm>
          <a:prstGeom prst="rect">
            <a:avLst/>
          </a:prstGeom>
          <a:solidFill>
            <a:srgbClr val="E9E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2185" y="4788796"/>
            <a:ext cx="9485122" cy="34449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Technology Development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0265" y="5195930"/>
            <a:ext cx="9728962" cy="344498"/>
          </a:xfrm>
          <a:prstGeom prst="rect">
            <a:avLst/>
          </a:prstGeom>
          <a:solidFill>
            <a:srgbClr val="E9E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2185" y="5195930"/>
            <a:ext cx="9485122" cy="34449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Procurement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93050" y="1705305"/>
            <a:ext cx="641469" cy="3835123"/>
          </a:xfrm>
          <a:prstGeom prst="rect">
            <a:avLst/>
          </a:prstGeom>
          <a:solidFill>
            <a:srgbClr val="C1A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3050" y="1705305"/>
            <a:ext cx="641469" cy="3835123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strument Sans"/>
              </a:rPr>
              <a:t>Margin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