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6583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700" b="1">
                <a:solidFill>
                  <a:srgbClr val="1B1B1F"/>
                </a:solidFill>
                <a:latin typeface="Bricolage Grotesque"/>
              </a:rPr>
              <a:t>Complex CI/CD pipeline</a:t>
            </a:r>
          </a:p>
        </p:txBody>
      </p:sp>
      <p:sp>
        <p:nvSpPr>
          <p:cNvPr id="4" name="Freeform 3"/>
          <p:cNvSpPr/>
          <p:nvPr/>
        </p:nvSpPr>
        <p:spPr>
          <a:xfrm>
            <a:off x="6065843" y="1959457"/>
            <a:ext cx="60007" cy="85725"/>
          </a:xfrm>
          <a:custGeom>
            <a:avLst/>
            <a:gdLst/>
            <a:ahLst/>
            <a:cxnLst/>
            <a:rect l="l" t="t" r="r" b="b"/>
            <a:pathLst>
              <a:path w="60007" h="85725">
                <a:moveTo>
                  <a:pt x="30004" y="85725"/>
                </a:moveTo>
                <a:lnTo>
                  <a:pt x="0" y="0"/>
                </a:lnTo>
                <a:lnTo>
                  <a:pt x="60007" y="0"/>
                </a:lnTo>
                <a:close/>
              </a:path>
            </a:pathLst>
          </a:custGeom>
          <a:solidFill>
            <a:srgbClr val="A1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078702" y="1702282"/>
            <a:ext cx="34290" cy="257175"/>
          </a:xfrm>
          <a:custGeom>
            <a:avLst/>
            <a:gdLst/>
            <a:ahLst/>
            <a:cxnLst/>
            <a:rect l="l" t="t" r="r" b="b"/>
            <a:pathLst>
              <a:path w="34290" h="257175">
                <a:moveTo>
                  <a:pt x="0" y="0"/>
                </a:moveTo>
                <a:lnTo>
                  <a:pt x="34290" y="0"/>
                </a:lnTo>
                <a:lnTo>
                  <a:pt x="34290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A1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065843" y="2645257"/>
            <a:ext cx="60007" cy="85725"/>
          </a:xfrm>
          <a:custGeom>
            <a:avLst/>
            <a:gdLst/>
            <a:ahLst/>
            <a:cxnLst/>
            <a:rect l="l" t="t" r="r" b="b"/>
            <a:pathLst>
              <a:path w="60007" h="85725">
                <a:moveTo>
                  <a:pt x="30004" y="85725"/>
                </a:moveTo>
                <a:lnTo>
                  <a:pt x="0" y="0"/>
                </a:lnTo>
                <a:lnTo>
                  <a:pt x="60007" y="0"/>
                </a:lnTo>
                <a:close/>
              </a:path>
            </a:pathLst>
          </a:custGeom>
          <a:solidFill>
            <a:srgbClr val="A1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078702" y="2388082"/>
            <a:ext cx="34290" cy="257175"/>
          </a:xfrm>
          <a:custGeom>
            <a:avLst/>
            <a:gdLst/>
            <a:ahLst/>
            <a:cxnLst/>
            <a:rect l="l" t="t" r="r" b="b"/>
            <a:pathLst>
              <a:path w="34290" h="257175">
                <a:moveTo>
                  <a:pt x="0" y="0"/>
                </a:moveTo>
                <a:lnTo>
                  <a:pt x="34290" y="0"/>
                </a:lnTo>
                <a:lnTo>
                  <a:pt x="34290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A1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6065843" y="3331057"/>
            <a:ext cx="60007" cy="85725"/>
          </a:xfrm>
          <a:custGeom>
            <a:avLst/>
            <a:gdLst/>
            <a:ahLst/>
            <a:cxnLst/>
            <a:rect l="l" t="t" r="r" b="b"/>
            <a:pathLst>
              <a:path w="60007" h="85725">
                <a:moveTo>
                  <a:pt x="30004" y="85725"/>
                </a:moveTo>
                <a:lnTo>
                  <a:pt x="0" y="0"/>
                </a:lnTo>
                <a:lnTo>
                  <a:pt x="60007" y="0"/>
                </a:lnTo>
                <a:close/>
              </a:path>
            </a:pathLst>
          </a:custGeom>
          <a:solidFill>
            <a:srgbClr val="A1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6078702" y="3073882"/>
            <a:ext cx="34290" cy="257175"/>
          </a:xfrm>
          <a:custGeom>
            <a:avLst/>
            <a:gdLst/>
            <a:ahLst/>
            <a:cxnLst/>
            <a:rect l="l" t="t" r="r" b="b"/>
            <a:pathLst>
              <a:path w="34290" h="257175">
                <a:moveTo>
                  <a:pt x="0" y="0"/>
                </a:moveTo>
                <a:lnTo>
                  <a:pt x="34290" y="0"/>
                </a:lnTo>
                <a:lnTo>
                  <a:pt x="34290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A1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035839" y="2794777"/>
            <a:ext cx="120015" cy="171450"/>
          </a:xfrm>
          <a:custGeom>
            <a:avLst/>
            <a:gdLst/>
            <a:ahLst/>
            <a:cxnLst/>
            <a:rect l="l" t="t" r="r" b="b"/>
            <a:pathLst>
              <a:path w="120015" h="171450">
                <a:moveTo>
                  <a:pt x="60008" y="0"/>
                </a:moveTo>
                <a:lnTo>
                  <a:pt x="120015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1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6078702" y="2966227"/>
            <a:ext cx="34290" cy="793455"/>
          </a:xfrm>
          <a:custGeom>
            <a:avLst/>
            <a:gdLst/>
            <a:ahLst/>
            <a:cxnLst/>
            <a:rect l="l" t="t" r="r" b="b"/>
            <a:pathLst>
              <a:path w="34290" h="793455">
                <a:moveTo>
                  <a:pt x="34290" y="793455"/>
                </a:moveTo>
                <a:lnTo>
                  <a:pt x="0" y="793455"/>
                </a:lnTo>
                <a:lnTo>
                  <a:pt x="0" y="0"/>
                </a:lnTo>
                <a:lnTo>
                  <a:pt x="34290" y="0"/>
                </a:lnTo>
                <a:close/>
              </a:path>
            </a:pathLst>
          </a:custGeom>
          <a:solidFill>
            <a:srgbClr val="A1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6035839" y="4788382"/>
            <a:ext cx="120015" cy="171450"/>
          </a:xfrm>
          <a:custGeom>
            <a:avLst/>
            <a:gdLst/>
            <a:ahLst/>
            <a:cxnLst/>
            <a:rect l="l" t="t" r="r" b="b"/>
            <a:pathLst>
              <a:path w="120015" h="171450">
                <a:moveTo>
                  <a:pt x="60008" y="0"/>
                </a:moveTo>
                <a:lnTo>
                  <a:pt x="120015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A1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6078702" y="4959832"/>
            <a:ext cx="34290" cy="793455"/>
          </a:xfrm>
          <a:custGeom>
            <a:avLst/>
            <a:gdLst/>
            <a:ahLst/>
            <a:cxnLst/>
            <a:rect l="l" t="t" r="r" b="b"/>
            <a:pathLst>
              <a:path w="34290" h="793455">
                <a:moveTo>
                  <a:pt x="34290" y="793455"/>
                </a:moveTo>
                <a:lnTo>
                  <a:pt x="0" y="793455"/>
                </a:lnTo>
                <a:lnTo>
                  <a:pt x="0" y="0"/>
                </a:lnTo>
                <a:lnTo>
                  <a:pt x="34290" y="0"/>
                </a:lnTo>
                <a:close/>
              </a:path>
            </a:pathLst>
          </a:custGeom>
          <a:solidFill>
            <a:srgbClr val="A1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38647" y="5042234"/>
            <a:ext cx="1143000" cy="457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1B1B1F"/>
                </a:solidFill>
                <a:latin typeface="Plus Jakarta Sans"/>
              </a:rPr>
              <a:t>Yes</a:t>
            </a:r>
          </a:p>
        </p:txBody>
      </p:sp>
      <p:sp>
        <p:nvSpPr>
          <p:cNvPr id="15" name="Freeform 14"/>
          <p:cNvSpPr/>
          <p:nvPr/>
        </p:nvSpPr>
        <p:spPr>
          <a:xfrm>
            <a:off x="6065843" y="5388457"/>
            <a:ext cx="60007" cy="85725"/>
          </a:xfrm>
          <a:custGeom>
            <a:avLst/>
            <a:gdLst/>
            <a:ahLst/>
            <a:cxnLst/>
            <a:rect l="l" t="t" r="r" b="b"/>
            <a:pathLst>
              <a:path w="60007" h="85725">
                <a:moveTo>
                  <a:pt x="30004" y="85725"/>
                </a:moveTo>
                <a:lnTo>
                  <a:pt x="0" y="0"/>
                </a:lnTo>
                <a:lnTo>
                  <a:pt x="60007" y="0"/>
                </a:lnTo>
                <a:close/>
              </a:path>
            </a:pathLst>
          </a:custGeom>
          <a:solidFill>
            <a:srgbClr val="A1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6078702" y="5131282"/>
            <a:ext cx="34290" cy="257175"/>
          </a:xfrm>
          <a:custGeom>
            <a:avLst/>
            <a:gdLst/>
            <a:ahLst/>
            <a:cxnLst/>
            <a:rect l="l" t="t" r="r" b="b"/>
            <a:pathLst>
              <a:path w="34290" h="257175">
                <a:moveTo>
                  <a:pt x="0" y="0"/>
                </a:moveTo>
                <a:lnTo>
                  <a:pt x="34290" y="0"/>
                </a:lnTo>
                <a:lnTo>
                  <a:pt x="34290" y="257175"/>
                </a:lnTo>
                <a:lnTo>
                  <a:pt x="0" y="257175"/>
                </a:lnTo>
                <a:close/>
              </a:path>
            </a:pathLst>
          </a:custGeom>
          <a:solidFill>
            <a:srgbClr val="A1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6077135" y="5603240"/>
            <a:ext cx="37423" cy="53460"/>
          </a:xfrm>
          <a:custGeom>
            <a:avLst/>
            <a:gdLst/>
            <a:ahLst/>
            <a:cxnLst/>
            <a:rect l="l" t="t" r="r" b="b"/>
            <a:pathLst>
              <a:path w="37423" h="53460">
                <a:moveTo>
                  <a:pt x="18712" y="0"/>
                </a:moveTo>
                <a:lnTo>
                  <a:pt x="37423" y="53460"/>
                </a:lnTo>
                <a:lnTo>
                  <a:pt x="0" y="53460"/>
                </a:lnTo>
                <a:close/>
              </a:path>
            </a:pathLst>
          </a:custGeom>
          <a:solidFill>
            <a:srgbClr val="A1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6078702" y="5656700"/>
            <a:ext cx="34290" cy="160382"/>
          </a:xfrm>
          <a:custGeom>
            <a:avLst/>
            <a:gdLst/>
            <a:ahLst/>
            <a:cxnLst/>
            <a:rect l="l" t="t" r="r" b="b"/>
            <a:pathLst>
              <a:path w="34290" h="160382">
                <a:moveTo>
                  <a:pt x="34290" y="160382"/>
                </a:moveTo>
                <a:lnTo>
                  <a:pt x="0" y="160382"/>
                </a:lnTo>
                <a:lnTo>
                  <a:pt x="0" y="0"/>
                </a:lnTo>
                <a:lnTo>
                  <a:pt x="34290" y="0"/>
                </a:lnTo>
                <a:close/>
              </a:path>
            </a:pathLst>
          </a:custGeom>
          <a:solidFill>
            <a:srgbClr val="A1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16592" y="1359382"/>
            <a:ext cx="2958510" cy="342900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6592" y="1359382"/>
            <a:ext cx="2958510" cy="3429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1">
                <a:solidFill>
                  <a:srgbClr val="FFF4EB"/>
                </a:solidFill>
                <a:latin typeface="Plus Jakarta Sans"/>
              </a:rPr>
              <a:t>Push to repo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6592" y="2045182"/>
            <a:ext cx="2958510" cy="342900"/>
          </a:xfrm>
          <a:prstGeom prst="rect">
            <a:avLst/>
          </a:prstGeom>
          <a:solidFill>
            <a:srgbClr val="FFEAD8"/>
          </a:solidFill>
          <a:ln w="19050">
            <a:solidFill>
              <a:srgbClr val="C57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6592" y="2045182"/>
            <a:ext cx="2958510" cy="3429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1B1B1F"/>
                </a:solidFill>
                <a:latin typeface="Plus Jakarta Sans"/>
              </a:rPr>
              <a:t>Lint code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6592" y="2730982"/>
            <a:ext cx="2958510" cy="342900"/>
          </a:xfrm>
          <a:prstGeom prst="rect">
            <a:avLst/>
          </a:prstGeom>
          <a:solidFill>
            <a:srgbClr val="FFEAD8"/>
          </a:solidFill>
          <a:ln w="19050">
            <a:solidFill>
              <a:srgbClr val="C57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6592" y="2730982"/>
            <a:ext cx="2958510" cy="3429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1B1B1F"/>
                </a:solidFill>
                <a:latin typeface="Plus Jakarta Sans"/>
              </a:rPr>
              <a:t>Unit tests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6592" y="3416782"/>
            <a:ext cx="2958510" cy="342900"/>
          </a:xfrm>
          <a:prstGeom prst="rect">
            <a:avLst/>
          </a:prstGeom>
          <a:solidFill>
            <a:srgbClr val="FFEAD8"/>
          </a:solidFill>
          <a:ln w="19050">
            <a:solidFill>
              <a:srgbClr val="C57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6592" y="3416782"/>
            <a:ext cx="2958510" cy="3429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1B1B1F"/>
                </a:solidFill>
                <a:latin typeface="Plus Jakarta Sans"/>
              </a:rPr>
              <a:t>Build container</a:t>
            </a:r>
          </a:p>
        </p:txBody>
      </p:sp>
      <p:sp>
        <p:nvSpPr>
          <p:cNvPr id="27" name="Freeform 26"/>
          <p:cNvSpPr/>
          <p:nvPr/>
        </p:nvSpPr>
        <p:spPr>
          <a:xfrm>
            <a:off x="4468667" y="4051147"/>
            <a:ext cx="3254360" cy="445770"/>
          </a:xfrm>
          <a:custGeom>
            <a:avLst/>
            <a:gdLst/>
            <a:ahLst/>
            <a:cxnLst/>
            <a:rect l="l" t="t" r="r" b="b"/>
            <a:pathLst>
              <a:path w="3254360" h="445770">
                <a:moveTo>
                  <a:pt x="1627180" y="0"/>
                </a:moveTo>
                <a:lnTo>
                  <a:pt x="3254360" y="222885"/>
                </a:lnTo>
                <a:lnTo>
                  <a:pt x="1627180" y="445770"/>
                </a:lnTo>
                <a:lnTo>
                  <a:pt x="0" y="222885"/>
                </a:lnTo>
                <a:close/>
              </a:path>
            </a:pathLst>
          </a:custGeom>
          <a:solidFill>
            <a:srgbClr val="779A57"/>
          </a:solidFill>
          <a:ln w="19050">
            <a:solidFill>
              <a:srgbClr val="849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19539" y="4162590"/>
            <a:ext cx="1952616" cy="222885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700" b="1">
                <a:solidFill>
                  <a:srgbClr val="FFF4EB"/>
                </a:solidFill>
                <a:latin typeface="Plus Jakarta Sans"/>
              </a:rPr>
              <a:t>Passes?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6592" y="4788382"/>
            <a:ext cx="2958510" cy="342900"/>
          </a:xfrm>
          <a:prstGeom prst="rect">
            <a:avLst/>
          </a:prstGeom>
          <a:solidFill>
            <a:srgbClr val="FFEAD8"/>
          </a:solidFill>
          <a:ln w="19050">
            <a:solidFill>
              <a:srgbClr val="C57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6592" y="4788382"/>
            <a:ext cx="2958510" cy="3429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1B1B1F"/>
                </a:solidFill>
                <a:latin typeface="Plus Jakarta Sans"/>
              </a:rPr>
              <a:t>Deploy staging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6592" y="5474182"/>
            <a:ext cx="2958510" cy="342900"/>
          </a:xfrm>
          <a:prstGeom prst="rect">
            <a:avLst/>
          </a:prstGeom>
          <a:solidFill>
            <a:srgbClr val="FFEAD8"/>
          </a:solidFill>
          <a:ln w="19050">
            <a:solidFill>
              <a:srgbClr val="C57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6592" y="5474182"/>
            <a:ext cx="2958510" cy="3429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1B1B1F"/>
                </a:solidFill>
                <a:latin typeface="Plus Jakarta Sans"/>
              </a:rPr>
              <a:t>Integration tests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16592" y="5603240"/>
            <a:ext cx="2958510" cy="342900"/>
          </a:xfrm>
          <a:prstGeom prst="rect">
            <a:avLst/>
          </a:prstGeom>
          <a:solidFill>
            <a:srgbClr val="FFEAD8"/>
          </a:solidFill>
          <a:ln w="19050">
            <a:solidFill>
              <a:srgbClr val="C57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6592" y="5603240"/>
            <a:ext cx="2958510" cy="3429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1B1B1F"/>
                </a:solidFill>
                <a:latin typeface="Plus Jakarta Sans"/>
              </a:rPr>
              <a:t>Manual review</a:t>
            </a:r>
          </a:p>
        </p:txBody>
      </p:sp>
      <p:sp>
        <p:nvSpPr>
          <p:cNvPr id="35" name="Freeform 34"/>
          <p:cNvSpPr/>
          <p:nvPr/>
        </p:nvSpPr>
        <p:spPr>
          <a:xfrm>
            <a:off x="4468667" y="5551805"/>
            <a:ext cx="3254360" cy="445770"/>
          </a:xfrm>
          <a:custGeom>
            <a:avLst/>
            <a:gdLst/>
            <a:ahLst/>
            <a:cxnLst/>
            <a:rect l="l" t="t" r="r" b="b"/>
            <a:pathLst>
              <a:path w="3254360" h="445770">
                <a:moveTo>
                  <a:pt x="1627180" y="0"/>
                </a:moveTo>
                <a:lnTo>
                  <a:pt x="3254360" y="222885"/>
                </a:lnTo>
                <a:lnTo>
                  <a:pt x="1627180" y="445770"/>
                </a:lnTo>
                <a:lnTo>
                  <a:pt x="0" y="222885"/>
                </a:lnTo>
                <a:close/>
              </a:path>
            </a:pathLst>
          </a:custGeom>
          <a:solidFill>
            <a:srgbClr val="E48011"/>
          </a:solidFill>
          <a:ln w="19050">
            <a:solidFill>
              <a:srgbClr val="849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19539" y="5663248"/>
            <a:ext cx="1952616" cy="222885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700" b="1">
                <a:solidFill>
                  <a:srgbClr val="FFF4EB"/>
                </a:solidFill>
                <a:latin typeface="Plus Jakarta Sans"/>
              </a:rPr>
              <a:t>Approved?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16592" y="5603240"/>
            <a:ext cx="2958510" cy="342900"/>
          </a:xfrm>
          <a:prstGeom prst="rect">
            <a:avLst/>
          </a:prstGeom>
          <a:solidFill>
            <a:srgbClr val="FFEAD8"/>
          </a:solidFill>
          <a:ln w="19050">
            <a:solidFill>
              <a:srgbClr val="C57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16592" y="5603240"/>
            <a:ext cx="2958510" cy="3429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900" b="0">
                <a:solidFill>
                  <a:srgbClr val="1B1B1F"/>
                </a:solidFill>
                <a:latin typeface="Plus Jakarta Sans"/>
              </a:rPr>
              <a:t>Deploy prod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946140"/>
            <a:ext cx="11094415" cy="36322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/>
            <a:r>
              <a:rPr sz="1300" b="0">
                <a:solidFill>
                  <a:srgbClr val="6E6A73"/>
                </a:solidFill>
                <a:latin typeface="Plus Jakarta Sans"/>
              </a:rPr>
              <a:t>+3 more nodes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