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694944"/>
            <a:ext cx="10801807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81514"/>
                </a:solidFill>
                <a:latin typeface="Fraunces"/>
              </a:rPr>
              <a:t>Headcount by function</a:t>
            </a:r>
          </a:p>
        </p:txBody>
      </p:sp>
      <p:sp>
        <p:nvSpPr>
          <p:cNvPr id="4" name="Oval 3"/>
          <p:cNvSpPr/>
          <p:nvPr/>
        </p:nvSpPr>
        <p:spPr>
          <a:xfrm>
            <a:off x="9325686" y="1502029"/>
            <a:ext cx="148590" cy="148590"/>
          </a:xfrm>
          <a:prstGeom prst="ellipse">
            <a:avLst/>
          </a:prstGeom>
          <a:solidFill>
            <a:srgbClr val="8C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40316" y="1411224"/>
            <a:ext cx="817245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81514"/>
                </a:solidFill>
                <a:latin typeface="Newsreader"/>
              </a:rPr>
              <a:t>Full-time</a:t>
            </a:r>
          </a:p>
        </p:txBody>
      </p:sp>
      <p:sp>
        <p:nvSpPr>
          <p:cNvPr id="6" name="Oval 5"/>
          <p:cNvSpPr/>
          <p:nvPr/>
        </p:nvSpPr>
        <p:spPr>
          <a:xfrm>
            <a:off x="10555681" y="1502029"/>
            <a:ext cx="148590" cy="148590"/>
          </a:xfrm>
          <a:prstGeom prst="ellipse">
            <a:avLst/>
          </a:prstGeom>
          <a:solidFill>
            <a:srgbClr val="9C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70311" y="1411224"/>
            <a:ext cx="72644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81514"/>
                </a:solidFill>
                <a:latin typeface="Newsreader"/>
              </a:rPr>
              <a:t>Contract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1414" y="5903976"/>
            <a:ext cx="6096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IBM Plex Mono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8559" y="5903976"/>
            <a:ext cx="6096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IBM Plex Mono"/>
              </a:rPr>
              <a:t>50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03359" y="1825244"/>
            <a:ext cx="0" cy="4033012"/>
          </a:xfrm>
          <a:prstGeom prst="line">
            <a:avLst/>
          </a:prstGeom>
          <a:ln w="4762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735705" y="5903976"/>
            <a:ext cx="6096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IBM Plex Mono"/>
              </a:rPr>
              <a:t>100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040505" y="1825244"/>
            <a:ext cx="0" cy="4033012"/>
          </a:xfrm>
          <a:prstGeom prst="line">
            <a:avLst/>
          </a:prstGeom>
          <a:ln w="4762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772851" y="5903976"/>
            <a:ext cx="6096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IBM Plex Mono"/>
              </a:rPr>
              <a:t>150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1077651" y="1825244"/>
            <a:ext cx="0" cy="4033012"/>
          </a:xfrm>
          <a:prstGeom prst="line">
            <a:avLst/>
          </a:prstGeom>
          <a:ln w="4762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966214" y="1825244"/>
            <a:ext cx="0" cy="4033012"/>
          </a:xfrm>
          <a:prstGeom prst="line">
            <a:avLst/>
          </a:prstGeom>
          <a:ln w="9524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94944" y="2104085"/>
            <a:ext cx="1200150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81514"/>
                </a:solidFill>
                <a:latin typeface="Newsreader"/>
              </a:rPr>
              <a:t>Engineering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66214" y="1970432"/>
            <a:ext cx="7289149" cy="516225"/>
          </a:xfrm>
          <a:prstGeom prst="rect">
            <a:avLst/>
          </a:prstGeom>
          <a:solidFill>
            <a:srgbClr val="8C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01238" y="2137739"/>
            <a:ext cx="419100" cy="1816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81514"/>
                </a:solidFill>
                <a:latin typeface="IBM Plex Mono"/>
              </a:rPr>
              <a:t>120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55363" y="1970432"/>
            <a:ext cx="1822287" cy="516225"/>
          </a:xfrm>
          <a:prstGeom prst="rect">
            <a:avLst/>
          </a:prstGeom>
          <a:solidFill>
            <a:srgbClr val="9C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56956" y="2137739"/>
            <a:ext cx="419100" cy="1816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81514"/>
                </a:solidFill>
                <a:latin typeface="IBM Plex Mono"/>
              </a:rPr>
              <a:t>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19560" y="2137740"/>
            <a:ext cx="558800" cy="1816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81514"/>
                </a:solidFill>
                <a:latin typeface="IBM Plex Mono"/>
              </a:rPr>
              <a:t>150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" y="2910688"/>
            <a:ext cx="1200150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81514"/>
                </a:solidFill>
                <a:latin typeface="Newsreader"/>
              </a:rPr>
              <a:t>Sales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66214" y="2777034"/>
            <a:ext cx="5163147" cy="516225"/>
          </a:xfrm>
          <a:prstGeom prst="rect">
            <a:avLst/>
          </a:prstGeom>
          <a:solidFill>
            <a:srgbClr val="8C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38237" y="2944341"/>
            <a:ext cx="419100" cy="1816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81514"/>
                </a:solidFill>
                <a:latin typeface="IBM Plex Mono"/>
              </a:rPr>
              <a:t>85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29361" y="2777034"/>
            <a:ext cx="911143" cy="516225"/>
          </a:xfrm>
          <a:prstGeom prst="rect">
            <a:avLst/>
          </a:prstGeom>
          <a:solidFill>
            <a:srgbClr val="9C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75382" y="2944341"/>
            <a:ext cx="419100" cy="1816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81514"/>
                </a:solidFill>
                <a:latin typeface="IBM Plex Mono"/>
              </a:rPr>
              <a:t>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82414" y="2944342"/>
            <a:ext cx="558800" cy="1816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81514"/>
                </a:solidFill>
                <a:latin typeface="IBM Plex Mono"/>
              </a:rPr>
              <a:t>100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" y="3717290"/>
            <a:ext cx="1200150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81514"/>
                </a:solidFill>
                <a:latin typeface="Newsreader"/>
              </a:rPr>
              <a:t>Marketing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66214" y="3583637"/>
            <a:ext cx="2429716" cy="516225"/>
          </a:xfrm>
          <a:prstGeom prst="rect">
            <a:avLst/>
          </a:prstGeom>
          <a:solidFill>
            <a:srgbClr val="8C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71522" y="3750944"/>
            <a:ext cx="419100" cy="1816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81514"/>
                </a:solidFill>
                <a:latin typeface="IBM Plex Mono"/>
              </a:rPr>
              <a:t>40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95930" y="3583637"/>
            <a:ext cx="607429" cy="516225"/>
          </a:xfrm>
          <a:prstGeom prst="rect">
            <a:avLst/>
          </a:prstGeom>
          <a:solidFill>
            <a:srgbClr val="9C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90094" y="3750944"/>
            <a:ext cx="419100" cy="1816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81514"/>
                </a:solidFill>
                <a:latin typeface="IBM Plex Mono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5269" y="3750945"/>
            <a:ext cx="558800" cy="1816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81514"/>
                </a:solidFill>
                <a:latin typeface="IBM Plex Mono"/>
              </a:rPr>
              <a:t>50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" y="4523892"/>
            <a:ext cx="1200150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81514"/>
                </a:solidFill>
                <a:latin typeface="Newsreader"/>
              </a:rPr>
              <a:t>Support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66214" y="4390239"/>
            <a:ext cx="3340860" cy="516225"/>
          </a:xfrm>
          <a:prstGeom prst="rect">
            <a:avLst/>
          </a:prstGeom>
          <a:solidFill>
            <a:srgbClr val="8C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27094" y="4557546"/>
            <a:ext cx="419100" cy="1816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81514"/>
                </a:solidFill>
                <a:latin typeface="IBM Plex Mono"/>
              </a:rPr>
              <a:t>55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07074" y="4390239"/>
            <a:ext cx="1214858" cy="516225"/>
          </a:xfrm>
          <a:prstGeom prst="rect">
            <a:avLst/>
          </a:prstGeom>
          <a:solidFill>
            <a:srgbClr val="9C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04953" y="4557546"/>
            <a:ext cx="419100" cy="1816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81514"/>
                </a:solidFill>
                <a:latin typeface="IBM Plex Mono"/>
              </a:rPr>
              <a:t>20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63842" y="4557547"/>
            <a:ext cx="558800" cy="1816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81514"/>
                </a:solidFill>
                <a:latin typeface="IBM Plex Mono"/>
              </a:rPr>
              <a:t>75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" y="5330495"/>
            <a:ext cx="1200150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81514"/>
                </a:solidFill>
                <a:latin typeface="Newsreader"/>
              </a:rPr>
              <a:t>G&amp;A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66214" y="5196842"/>
            <a:ext cx="1822287" cy="516225"/>
          </a:xfrm>
          <a:prstGeom prst="rect">
            <a:avLst/>
          </a:prstGeom>
          <a:solidFill>
            <a:srgbClr val="8C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667807" y="5364149"/>
            <a:ext cx="419100" cy="1816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81514"/>
                </a:solidFill>
                <a:latin typeface="IBM Plex Mono"/>
              </a:rPr>
              <a:t>30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788501" y="5196842"/>
            <a:ext cx="303714" cy="516225"/>
          </a:xfrm>
          <a:prstGeom prst="rect">
            <a:avLst/>
          </a:prstGeom>
          <a:solidFill>
            <a:srgbClr val="9C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34125" y="5364149"/>
            <a:ext cx="558800" cy="1816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81514"/>
                </a:solidFill>
                <a:latin typeface="IBM Plex Mono"/>
              </a:rPr>
              <a:t>35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