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05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694944"/>
            <a:ext cx="10801807" cy="662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Manrope"/>
              </a:rPr>
              <a:t>Revenue by product, per region</a:t>
            </a:r>
          </a:p>
        </p:txBody>
      </p:sp>
      <p:sp>
        <p:nvSpPr>
          <p:cNvPr id="4" name="Oval 3"/>
          <p:cNvSpPr/>
          <p:nvPr/>
        </p:nvSpPr>
        <p:spPr>
          <a:xfrm>
            <a:off x="7467676" y="1599819"/>
            <a:ext cx="171450" cy="171450"/>
          </a:xfrm>
          <a:prstGeom prst="ellipse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15326" y="1495044"/>
            <a:ext cx="94297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Manrope"/>
              </a:rPr>
              <a:t>Product A</a:t>
            </a:r>
          </a:p>
        </p:txBody>
      </p:sp>
      <p:sp>
        <p:nvSpPr>
          <p:cNvPr id="6" name="Oval 5"/>
          <p:cNvSpPr/>
          <p:nvPr/>
        </p:nvSpPr>
        <p:spPr>
          <a:xfrm>
            <a:off x="8886901" y="1599819"/>
            <a:ext cx="171450" cy="171450"/>
          </a:xfrm>
          <a:prstGeom prst="ellipse">
            <a:avLst/>
          </a:prstGeom>
          <a:solidFill>
            <a:srgbClr val="17B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34551" y="1495044"/>
            <a:ext cx="94297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Manrope"/>
              </a:rPr>
              <a:t>Product B</a:t>
            </a:r>
          </a:p>
        </p:txBody>
      </p:sp>
      <p:sp>
        <p:nvSpPr>
          <p:cNvPr id="8" name="Oval 7"/>
          <p:cNvSpPr/>
          <p:nvPr/>
        </p:nvSpPr>
        <p:spPr>
          <a:xfrm>
            <a:off x="10306126" y="1599819"/>
            <a:ext cx="171450" cy="171450"/>
          </a:xfrm>
          <a:prstGeom prst="ellipse">
            <a:avLst/>
          </a:prstGeom>
          <a:solidFill>
            <a:srgbClr val="9AA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53776" y="1495044"/>
            <a:ext cx="94297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Manrope"/>
              </a:rPr>
              <a:t>Product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5591557"/>
            <a:ext cx="29337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5142041"/>
            <a:ext cx="29337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41654" y="5266500"/>
            <a:ext cx="10272217" cy="0"/>
          </a:xfrm>
          <a:prstGeom prst="line">
            <a:avLst/>
          </a:prstGeom>
          <a:ln w="4762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94944" y="4692524"/>
            <a:ext cx="29337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41654" y="4816983"/>
            <a:ext cx="10272217" cy="0"/>
          </a:xfrm>
          <a:prstGeom prst="line">
            <a:avLst/>
          </a:prstGeom>
          <a:ln w="4762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94944" y="4243008"/>
            <a:ext cx="29337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6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41654" y="4367467"/>
            <a:ext cx="10272217" cy="0"/>
          </a:xfrm>
          <a:prstGeom prst="line">
            <a:avLst/>
          </a:prstGeom>
          <a:ln w="4762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94944" y="3793491"/>
            <a:ext cx="29337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8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41654" y="3917950"/>
            <a:ext cx="10272217" cy="0"/>
          </a:xfrm>
          <a:prstGeom prst="line">
            <a:avLst/>
          </a:prstGeom>
          <a:ln w="4762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94944" y="3343975"/>
            <a:ext cx="29337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10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41654" y="3468434"/>
            <a:ext cx="10272217" cy="0"/>
          </a:xfrm>
          <a:prstGeom prst="line">
            <a:avLst/>
          </a:prstGeom>
          <a:ln w="4762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94944" y="2894458"/>
            <a:ext cx="29337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12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41654" y="3018917"/>
            <a:ext cx="10272217" cy="0"/>
          </a:xfrm>
          <a:prstGeom prst="line">
            <a:avLst/>
          </a:prstGeom>
          <a:ln w="4762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94944" y="2444942"/>
            <a:ext cx="29337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14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41654" y="2569401"/>
            <a:ext cx="10272217" cy="0"/>
          </a:xfrm>
          <a:prstGeom prst="line">
            <a:avLst/>
          </a:prstGeom>
          <a:ln w="4762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94944" y="1995425"/>
            <a:ext cx="29337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16M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41654" y="2119884"/>
            <a:ext cx="10272217" cy="0"/>
          </a:xfrm>
          <a:prstGeom prst="line">
            <a:avLst/>
          </a:prstGeom>
          <a:ln w="4762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41654" y="5716016"/>
            <a:ext cx="10272217" cy="0"/>
          </a:xfrm>
          <a:prstGeom prst="line">
            <a:avLst/>
          </a:prstGeom>
          <a:ln w="9524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41654" y="5797296"/>
            <a:ext cx="2568054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F5F7FA"/>
                </a:solidFill>
                <a:latin typeface="Manrope"/>
              </a:rPr>
              <a:t>AMER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03903" y="3872999"/>
            <a:ext cx="1643554" cy="1843017"/>
          </a:xfrm>
          <a:prstGeom prst="rect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3903" y="4695447"/>
            <a:ext cx="1643554" cy="198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JetBrains Mono"/>
              </a:rPr>
              <a:t>8.2M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03903" y="2951491"/>
            <a:ext cx="1643554" cy="921508"/>
          </a:xfrm>
          <a:prstGeom prst="rect">
            <a:avLst/>
          </a:prstGeom>
          <a:solidFill>
            <a:srgbClr val="17B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03903" y="3313185"/>
            <a:ext cx="1643554" cy="198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JetBrains Mono"/>
              </a:rPr>
              <a:t>4.1M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503903" y="2501975"/>
            <a:ext cx="1643554" cy="449516"/>
          </a:xfrm>
          <a:prstGeom prst="roundRect">
            <a:avLst>
              <a:gd name="adj" fmla="val 6356"/>
            </a:avLst>
          </a:prstGeom>
          <a:solidFill>
            <a:srgbClr val="9AA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03903" y="2627673"/>
            <a:ext cx="1643554" cy="198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JetBrains Mono"/>
              </a:rPr>
              <a:t>2M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3903" y="2288615"/>
            <a:ext cx="1643554" cy="198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JetBrains Mono"/>
              </a:rPr>
              <a:t>14.3M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09708" y="5797296"/>
            <a:ext cx="2568054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F5F7FA"/>
                </a:solidFill>
                <a:latin typeface="Manrope"/>
              </a:rPr>
              <a:t>EMEA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71958" y="4569749"/>
            <a:ext cx="1643554" cy="1146267"/>
          </a:xfrm>
          <a:prstGeom prst="rect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71958" y="5043822"/>
            <a:ext cx="1643554" cy="198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JetBrains Mono"/>
              </a:rPr>
              <a:t>5.1M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71958" y="3693192"/>
            <a:ext cx="1643554" cy="876557"/>
          </a:xfrm>
          <a:prstGeom prst="rect">
            <a:avLst/>
          </a:prstGeom>
          <a:solidFill>
            <a:srgbClr val="17B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71958" y="4032410"/>
            <a:ext cx="1643554" cy="198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JetBrains Mono"/>
              </a:rPr>
              <a:t>3.9M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071958" y="3356055"/>
            <a:ext cx="1643554" cy="337137"/>
          </a:xfrm>
          <a:prstGeom prst="roundRect">
            <a:avLst>
              <a:gd name="adj" fmla="val 8475"/>
            </a:avLst>
          </a:prstGeom>
          <a:solidFill>
            <a:srgbClr val="9AA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71958" y="3425563"/>
            <a:ext cx="1643554" cy="198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JetBrains Mono"/>
              </a:rPr>
              <a:t>1.5M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71958" y="3142695"/>
            <a:ext cx="1643554" cy="198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JetBrains Mono"/>
              </a:rPr>
              <a:t>10.5M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77762" y="5797296"/>
            <a:ext cx="2568054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F5F7FA"/>
                </a:solidFill>
                <a:latin typeface="Manrope"/>
              </a:rPr>
              <a:t>APAC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40012" y="4951838"/>
            <a:ext cx="1643554" cy="764178"/>
          </a:xfrm>
          <a:prstGeom prst="rect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40012" y="5234867"/>
            <a:ext cx="1643554" cy="198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JetBrains Mono"/>
              </a:rPr>
              <a:t>3.4M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40012" y="4322515"/>
            <a:ext cx="1643554" cy="629323"/>
          </a:xfrm>
          <a:prstGeom prst="rect">
            <a:avLst/>
          </a:prstGeom>
          <a:solidFill>
            <a:srgbClr val="17B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40012" y="4538116"/>
            <a:ext cx="1643554" cy="198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JetBrains Mono"/>
              </a:rPr>
              <a:t>2.8M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640012" y="4075281"/>
            <a:ext cx="1643554" cy="247234"/>
          </a:xfrm>
          <a:prstGeom prst="roundRect">
            <a:avLst>
              <a:gd name="adj" fmla="val 11557"/>
            </a:avLst>
          </a:prstGeom>
          <a:solidFill>
            <a:srgbClr val="9AA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40012" y="4099838"/>
            <a:ext cx="1643554" cy="198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JetBrains Mono"/>
              </a:rPr>
              <a:t>1.1M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40012" y="3861921"/>
            <a:ext cx="1643554" cy="198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JetBrains Mono"/>
              </a:rPr>
              <a:t>7.3M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45816" y="5797296"/>
            <a:ext cx="2568054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F5F7FA"/>
                </a:solidFill>
                <a:latin typeface="Manrope"/>
              </a:rPr>
              <a:t>LATAM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208066" y="5446307"/>
            <a:ext cx="1643554" cy="269709"/>
          </a:xfrm>
          <a:prstGeom prst="rect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08066" y="5482101"/>
            <a:ext cx="1643554" cy="198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JetBrains Mono"/>
              </a:rPr>
              <a:t>1.2M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208066" y="5244025"/>
            <a:ext cx="1643554" cy="202282"/>
          </a:xfrm>
          <a:prstGeom prst="rect">
            <a:avLst/>
          </a:prstGeom>
          <a:solidFill>
            <a:srgbClr val="17B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208066" y="5109171"/>
            <a:ext cx="1643554" cy="134854"/>
          </a:xfrm>
          <a:prstGeom prst="roundRect">
            <a:avLst>
              <a:gd name="adj" fmla="val 21189"/>
            </a:avLst>
          </a:prstGeom>
          <a:solidFill>
            <a:srgbClr val="9AA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08066" y="4895811"/>
            <a:ext cx="1643554" cy="198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JetBrains Mono"/>
              </a:rPr>
              <a:t>2.7M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