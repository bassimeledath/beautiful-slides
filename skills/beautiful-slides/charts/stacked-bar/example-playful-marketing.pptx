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B1B1F"/>
                </a:solidFill>
                <a:latin typeface="Bricolage Grotesque"/>
              </a:rPr>
              <a:t>Channel mix by quarter (% of total)</a:t>
            </a:r>
          </a:p>
        </p:txBody>
      </p:sp>
      <p:sp>
        <p:nvSpPr>
          <p:cNvPr id="4" name="Oval 3"/>
          <p:cNvSpPr/>
          <p:nvPr/>
        </p:nvSpPr>
        <p:spPr>
          <a:xfrm>
            <a:off x="7886776" y="1599819"/>
            <a:ext cx="171450" cy="17145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4426" y="1495044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Direct</a:t>
            </a:r>
          </a:p>
        </p:txBody>
      </p:sp>
      <p:sp>
        <p:nvSpPr>
          <p:cNvPr id="6" name="Oval 5"/>
          <p:cNvSpPr/>
          <p:nvPr/>
        </p:nvSpPr>
        <p:spPr>
          <a:xfrm>
            <a:off x="8991676" y="1599819"/>
            <a:ext cx="171450" cy="171450"/>
          </a:xfrm>
          <a:prstGeom prst="ellipse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9326" y="1495044"/>
            <a:ext cx="73342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Partner</a:t>
            </a:r>
          </a:p>
        </p:txBody>
      </p:sp>
      <p:sp>
        <p:nvSpPr>
          <p:cNvPr id="8" name="Oval 7"/>
          <p:cNvSpPr/>
          <p:nvPr/>
        </p:nvSpPr>
        <p:spPr>
          <a:xfrm>
            <a:off x="10201351" y="1599819"/>
            <a:ext cx="171450" cy="171450"/>
          </a:xfrm>
          <a:prstGeom prst="ellipse">
            <a:avLst/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49001" y="1495044"/>
            <a:ext cx="1047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Self-serve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5591557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4692524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25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57224" y="4816983"/>
            <a:ext cx="1015664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" y="3793491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50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57224" y="3917950"/>
            <a:ext cx="1015664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" y="2894458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75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57224" y="3018917"/>
            <a:ext cx="1015664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4944" y="1995425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100%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57224" y="2119884"/>
            <a:ext cx="1015664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57224" y="5716016"/>
            <a:ext cx="10156647" cy="0"/>
          </a:xfrm>
          <a:prstGeom prst="line">
            <a:avLst/>
          </a:prstGeom>
          <a:ln w="9524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57224" y="5797296"/>
            <a:ext cx="2539161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Plus Jakarta Sans"/>
              </a:rPr>
              <a:t>Q1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14273" y="4097757"/>
            <a:ext cx="1625063" cy="1618259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14273" y="4807826"/>
            <a:ext cx="1625063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45%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14273" y="3018918"/>
            <a:ext cx="1625063" cy="1078839"/>
          </a:xfrm>
          <a:prstGeom prst="rect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14273" y="3459277"/>
            <a:ext cx="1625063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30%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14273" y="2119885"/>
            <a:ext cx="1625063" cy="899033"/>
          </a:xfrm>
          <a:prstGeom prst="roundRect">
            <a:avLst>
              <a:gd name="adj" fmla="val 6356"/>
            </a:avLst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14273" y="2470341"/>
            <a:ext cx="1625063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6385" y="5797296"/>
            <a:ext cx="2539161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Plus Jakarta Sans"/>
              </a:rPr>
              <a:t>Q2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53434" y="4205641"/>
            <a:ext cx="1625063" cy="1510375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53434" y="4861768"/>
            <a:ext cx="1625063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42%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53434" y="3018918"/>
            <a:ext cx="1625063" cy="1186723"/>
          </a:xfrm>
          <a:prstGeom prst="rect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53434" y="3513219"/>
            <a:ext cx="1625063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33%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53434" y="2119885"/>
            <a:ext cx="1625063" cy="899033"/>
          </a:xfrm>
          <a:prstGeom prst="roundRect">
            <a:avLst>
              <a:gd name="adj" fmla="val 6356"/>
            </a:avLst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53434" y="2470341"/>
            <a:ext cx="1625063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25%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5547" y="5797296"/>
            <a:ext cx="2539161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Plus Jakarta Sans"/>
              </a:rPr>
              <a:t>Q3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92596" y="4349486"/>
            <a:ext cx="1625063" cy="136653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92596" y="4933691"/>
            <a:ext cx="1625063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38%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92596" y="3018918"/>
            <a:ext cx="1625063" cy="1330568"/>
          </a:xfrm>
          <a:prstGeom prst="rect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92596" y="3585142"/>
            <a:ext cx="1625063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37%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92596" y="2119885"/>
            <a:ext cx="1625063" cy="899033"/>
          </a:xfrm>
          <a:prstGeom prst="roundRect">
            <a:avLst>
              <a:gd name="adj" fmla="val 6356"/>
            </a:avLst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92596" y="2470341"/>
            <a:ext cx="1625063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25%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4709" y="5797296"/>
            <a:ext cx="2539161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Plus Jakarta Sans"/>
              </a:rPr>
              <a:t>Q4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31758" y="4457370"/>
            <a:ext cx="1625063" cy="125864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1758" y="4987633"/>
            <a:ext cx="1625063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35%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31758" y="3018918"/>
            <a:ext cx="1625063" cy="1438452"/>
          </a:xfrm>
          <a:prstGeom prst="rect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1758" y="3639084"/>
            <a:ext cx="1625063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40%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31758" y="2119885"/>
            <a:ext cx="1625063" cy="899033"/>
          </a:xfrm>
          <a:prstGeom prst="roundRect">
            <a:avLst>
              <a:gd name="adj" fmla="val 6356"/>
            </a:avLst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1758" y="2470341"/>
            <a:ext cx="1625063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25%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